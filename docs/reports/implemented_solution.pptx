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market instant becomes a graph, not a matrix. The final model is a GNN that, before propagating information over the edges, propagates it through time. This section covers the three blocks: representation, architecture, evaluation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choice is putting time inside the graph: lags are nodes, not channels. It costs 3,020 nodes but lets the model relate a price level to a point in time. Since the structure never changes across samples, it is held in memory once - which is what enables static-graph batching.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every level to the adjacent one' would be an arbitrary choice; the TMFG learns the topology from the data, once, offline, and keeps it fixed during training. It is what makes a GNN the right tool here instead of a 2D CNN.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Normalisation is per sample, not global. The lag feature is a small but necessary detail: without it the 3,020 nodes are indistinguishable in temporal order after pooling.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definition as the HLOB paper, which is what makes the comparison in the results section legitimate. If the problem statement already covers this slide, all that is left here is the one-tick threshold, which is our design choice and not part of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axes, two operators. The 1D CNN slides along the lag axis with weights shared across the 20 groups; the message passing over the TMFG then relates levels and sides. Padding preserves length, so every one of the 3,020 nodes survives the temporal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interesting finding of the project and the reason the final solution is spatio-temporal. The full six-model comparison belongs to the results section; here it only justifies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present both because the conclusion is that time is what matters, not how you interleave it: two different architectures with the same ingredient land in the same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is the idea of the project, but they are the four that made training stable and repeatable. Droppable slide if the deck runs over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balanced-train / natural-test pairing is the methodological choice that matters, and it is the same as the benchmark: the model learns the three classes with equal weight but is judged on the market as it is. Multi-seed numbers to be filled in once the runs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post-hoc, free, and methodologically correct for imbalanced classes. Worth +0.05-0.10 macro F1 (except for GAT, which is already well calibrated).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off-diagonal corners: 8 and 4. Out of 6,144 directional samples the model confuses up with down only 12 times. Almost all the errors sit in the flat row and column, i.e. on WHEN the signal is strong enough, not on WHERE the price is going. That also explains the per-class F1: flat 0.93, down and up around 0.47-0.48 - the rare classes are hard to call precisely, not hard to orient.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line that hands over to the results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B"/>
        </a:solidFill>
      </p:bgPr>
    </p:bg>
    <p:spTree>
      <p:nvGrpSpPr>
        <p:cNvPr id="1" name=""/>
        <p:cNvGrpSpPr/>
        <p:nvPr/>
      </p:nvGrpSpPr>
      <p:grpSpPr>
        <a:xfrm>
          <a:off x="0" y="0"/>
          <a:ext cx="0" cy="0"/>
          <a:chOff x="0" y="0"/>
          <a:chExt cx="0" cy="0"/>
        </a:xfrm>
      </p:grpSpPr>
      <p:sp>
        <p:nvSpPr>
          <p:cNvPr id="2" name="Text 0"/>
          <p:cNvSpPr txBox="1"/>
          <p:nvPr/>
        </p:nvSpPr>
        <p:spPr>
          <a:xfrm>
            <a:off x="640080" y="1234440"/>
            <a:ext cx="10881360" cy="274320"/>
          </a:xfrm>
          <a:prstGeom prst="rect">
            <a:avLst/>
          </a:prstGeom>
          <a:noFill/>
          <a:ln/>
        </p:spPr>
        <p:txBody>
          <a:bodyPr wrap="square" lIns="0" tIns="0" rIns="0" bIns="0"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PART 3 — THE IMPLEMENTED SOLUTION</a:t>
            </a:r>
            <a:endParaRPr lang="en-US" sz="1300" dirty="0"/>
          </a:p>
        </p:txBody>
      </p:sp>
      <p:sp>
        <p:nvSpPr>
          <p:cNvPr id="3" name="Text 1"/>
          <p:cNvSpPr txBox="1"/>
          <p:nvPr/>
        </p:nvSpPr>
        <p:spPr>
          <a:xfrm>
            <a:off x="640080" y="1645920"/>
            <a:ext cx="8686800" cy="1737360"/>
          </a:xfrm>
          <a:prstGeom prst="rect">
            <a:avLst/>
          </a:prstGeom>
          <a:noFill/>
          <a:ln/>
        </p:spPr>
        <p:txBody>
          <a:bodyPr wrap="square" lIns="0" tIns="0" rIns="0" bIns="0" rtlCol="0" anchor="ctr"/>
          <a:lstStyle/>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A spatio-temporal GNN</a:t>
            </a:r>
            <a:endParaRPr lang="en-US" sz="4400" dirty="0"/>
          </a:p>
          <a:p>
            <a:pPr indent="0" marL="0">
              <a:lnSpc>
                <a:spcPts val="5000"/>
              </a:lnSpc>
              <a:buNone/>
            </a:pPr>
            <a:r>
              <a:rPr lang="en-US" sz="4400" b="1" dirty="0">
                <a:solidFill>
                  <a:srgbClr val="FFFFFF"/>
                </a:solidFill>
                <a:latin typeface="Cambria" pitchFamily="34" charset="0"/>
                <a:ea typeface="Cambria" pitchFamily="34" charset="-122"/>
                <a:cs typeface="Cambria" pitchFamily="34" charset="-120"/>
              </a:rPr>
              <a:t>on a TMFG graph</a:t>
            </a:r>
            <a:endParaRPr lang="en-US" sz="4400" dirty="0"/>
          </a:p>
        </p:txBody>
      </p:sp>
      <p:sp>
        <p:nvSpPr>
          <p:cNvPr id="4" name="Text 2"/>
          <p:cNvSpPr txBox="1"/>
          <p:nvPr/>
        </p:nvSpPr>
        <p:spPr>
          <a:xfrm>
            <a:off x="640080" y="3474720"/>
            <a:ext cx="9144000" cy="365760"/>
          </a:xfrm>
          <a:prstGeom prst="rect">
            <a:avLst/>
          </a:prstGeom>
          <a:noFill/>
          <a:ln/>
        </p:spPr>
        <p:txBody>
          <a:bodyPr wrap="square" lIns="0" tIns="0" rIns="0" bIns="0" rtlCol="0" anchor="ctr"/>
          <a:lstStyle/>
          <a:p>
            <a:pPr indent="0" marL="0">
              <a:buNone/>
            </a:pPr>
            <a:r>
              <a:rPr lang="en-US" sz="1600" dirty="0">
                <a:solidFill>
                  <a:srgbClr val="C9D6DE"/>
                </a:solidFill>
                <a:latin typeface="Calibri" pitchFamily="34" charset="0"/>
                <a:ea typeface="Calibri" pitchFamily="34" charset="-122"/>
                <a:cs typeface="Calibri" pitchFamily="34" charset="-120"/>
              </a:rPr>
              <a:t>Mid-price direction from the Limit Order Book — CSCO, LOBSTER data</a:t>
            </a:r>
            <a:endParaRPr lang="en-US" sz="1600" dirty="0"/>
          </a:p>
        </p:txBody>
      </p:sp>
      <p:sp>
        <p:nvSpPr>
          <p:cNvPr id="5" name="Shape 3"/>
          <p:cNvSpPr/>
          <p:nvPr/>
        </p:nvSpPr>
        <p:spPr>
          <a:xfrm>
            <a:off x="540868" y="4434840"/>
            <a:ext cx="1965960" cy="1051560"/>
          </a:xfrm>
          <a:prstGeom prst="roundRect">
            <a:avLst>
              <a:gd name="adj" fmla="val 6957"/>
            </a:avLst>
          </a:prstGeom>
          <a:solidFill>
            <a:srgbClr val="1E2E3C"/>
          </a:solidFill>
          <a:ln w="12700">
            <a:solidFill>
              <a:srgbClr val="31465A"/>
            </a:solidFill>
            <a:prstDash val="solid"/>
          </a:ln>
        </p:spPr>
      </p:sp>
      <p:sp>
        <p:nvSpPr>
          <p:cNvPr id="6" name="Text 4"/>
          <p:cNvSpPr txBox="1"/>
          <p:nvPr/>
        </p:nvSpPr>
        <p:spPr>
          <a:xfrm>
            <a:off x="632308" y="4572000"/>
            <a:ext cx="178308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Raw LOB</a:t>
            </a:r>
            <a:endParaRPr lang="en-US" sz="1300" dirty="0"/>
          </a:p>
          <a:p>
            <a:pPr algn="ctr" indent="0" marL="0">
              <a:buNone/>
            </a:pPr>
            <a:r>
              <a:rPr lang="en-US" sz="1000" dirty="0">
                <a:solidFill>
                  <a:srgbClr val="C9D6DE"/>
                </a:solidFill>
                <a:latin typeface="Calibri" pitchFamily="34" charset="0"/>
                <a:ea typeface="Calibri" pitchFamily="34" charset="-122"/>
                <a:cs typeface="Calibri" pitchFamily="34" charset="-120"/>
              </a:rPr>
              <a:t>LOBSTER · 40 columns</a:t>
            </a:r>
            <a:endParaRPr lang="en-US" sz="1300" dirty="0"/>
          </a:p>
        </p:txBody>
      </p:sp>
      <p:sp>
        <p:nvSpPr>
          <p:cNvPr id="7" name="Shape 5"/>
          <p:cNvSpPr/>
          <p:nvPr/>
        </p:nvSpPr>
        <p:spPr>
          <a:xfrm>
            <a:off x="2561692" y="4960620"/>
            <a:ext cx="210312" cy="0"/>
          </a:xfrm>
          <a:prstGeom prst="line">
            <a:avLst/>
          </a:prstGeom>
          <a:noFill/>
          <a:ln w="19050">
            <a:solidFill>
              <a:srgbClr val="02C39A"/>
            </a:solidFill>
            <a:prstDash val="solid"/>
            <a:tailEnd type="triangle"/>
          </a:ln>
        </p:spPr>
      </p:sp>
      <p:sp>
        <p:nvSpPr>
          <p:cNvPr id="8" name="Shape 6"/>
          <p:cNvSpPr/>
          <p:nvPr/>
        </p:nvSpPr>
        <p:spPr>
          <a:xfrm>
            <a:off x="2826868" y="4434840"/>
            <a:ext cx="1965960" cy="1051560"/>
          </a:xfrm>
          <a:prstGeom prst="roundRect">
            <a:avLst>
              <a:gd name="adj" fmla="val 6957"/>
            </a:avLst>
          </a:prstGeom>
          <a:solidFill>
            <a:srgbClr val="1E2E3C"/>
          </a:solidFill>
          <a:ln w="12700">
            <a:solidFill>
              <a:srgbClr val="31465A"/>
            </a:solidFill>
            <a:prstDash val="solid"/>
          </a:ln>
        </p:spPr>
      </p:sp>
      <p:sp>
        <p:nvSpPr>
          <p:cNvPr id="9" name="Text 7"/>
          <p:cNvSpPr txBox="1"/>
          <p:nvPr/>
        </p:nvSpPr>
        <p:spPr>
          <a:xfrm>
            <a:off x="2918308" y="4572000"/>
            <a:ext cx="178308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Graph</a:t>
            </a:r>
            <a:endParaRPr lang="en-US" sz="1300" dirty="0"/>
          </a:p>
          <a:p>
            <a:pPr algn="ctr" indent="0" marL="0">
              <a:buNone/>
            </a:pPr>
            <a:r>
              <a:rPr lang="en-US" sz="1000" dirty="0">
                <a:solidFill>
                  <a:srgbClr val="C9D6DE"/>
                </a:solidFill>
                <a:latin typeface="Calibri" pitchFamily="34" charset="0"/>
                <a:ea typeface="Calibri" pitchFamily="34" charset="-122"/>
                <a:cs typeface="Calibri" pitchFamily="34" charset="-120"/>
              </a:rPr>
              <a:t>3,020 nodes</a:t>
            </a:r>
            <a:endParaRPr lang="en-US" sz="1300" dirty="0"/>
          </a:p>
        </p:txBody>
      </p:sp>
      <p:sp>
        <p:nvSpPr>
          <p:cNvPr id="10" name="Shape 8"/>
          <p:cNvSpPr/>
          <p:nvPr/>
        </p:nvSpPr>
        <p:spPr>
          <a:xfrm>
            <a:off x="4847692" y="4960620"/>
            <a:ext cx="210312" cy="0"/>
          </a:xfrm>
          <a:prstGeom prst="line">
            <a:avLst/>
          </a:prstGeom>
          <a:noFill/>
          <a:ln w="19050">
            <a:solidFill>
              <a:srgbClr val="02C39A"/>
            </a:solidFill>
            <a:prstDash val="solid"/>
            <a:tailEnd type="triangle"/>
          </a:ln>
        </p:spPr>
      </p:sp>
      <p:sp>
        <p:nvSpPr>
          <p:cNvPr id="11" name="Shape 9"/>
          <p:cNvSpPr/>
          <p:nvPr/>
        </p:nvSpPr>
        <p:spPr>
          <a:xfrm>
            <a:off x="5112868" y="4434840"/>
            <a:ext cx="1965960" cy="1051560"/>
          </a:xfrm>
          <a:prstGeom prst="roundRect">
            <a:avLst>
              <a:gd name="adj" fmla="val 6957"/>
            </a:avLst>
          </a:prstGeom>
          <a:solidFill>
            <a:srgbClr val="1E2E3C"/>
          </a:solidFill>
          <a:ln w="12700">
            <a:solidFill>
              <a:srgbClr val="31465A"/>
            </a:solidFill>
            <a:prstDash val="solid"/>
          </a:ln>
        </p:spPr>
      </p:sp>
      <p:sp>
        <p:nvSpPr>
          <p:cNvPr id="12" name="Text 10"/>
          <p:cNvSpPr txBox="1"/>
          <p:nvPr/>
        </p:nvSpPr>
        <p:spPr>
          <a:xfrm>
            <a:off x="5204308" y="4572000"/>
            <a:ext cx="178308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TMFG edges</a:t>
            </a:r>
            <a:endParaRPr lang="en-US" sz="1300" dirty="0"/>
          </a:p>
          <a:p>
            <a:pPr algn="ctr" indent="0" marL="0">
              <a:buNone/>
            </a:pPr>
            <a:r>
              <a:rPr lang="en-US" sz="1000" dirty="0">
                <a:solidFill>
                  <a:srgbClr val="C9D6DE"/>
                </a:solidFill>
                <a:latin typeface="Calibri" pitchFamily="34" charset="0"/>
                <a:ea typeface="Calibri" pitchFamily="34" charset="-122"/>
                <a:cs typeface="Calibri" pitchFamily="34" charset="-120"/>
              </a:rPr>
              <a:t>9,054 undirected</a:t>
            </a:r>
            <a:endParaRPr lang="en-US" sz="1300" dirty="0"/>
          </a:p>
        </p:txBody>
      </p:sp>
      <p:sp>
        <p:nvSpPr>
          <p:cNvPr id="13" name="Shape 11"/>
          <p:cNvSpPr/>
          <p:nvPr/>
        </p:nvSpPr>
        <p:spPr>
          <a:xfrm>
            <a:off x="7133692" y="4960620"/>
            <a:ext cx="210312" cy="0"/>
          </a:xfrm>
          <a:prstGeom prst="line">
            <a:avLst/>
          </a:prstGeom>
          <a:noFill/>
          <a:ln w="19050">
            <a:solidFill>
              <a:srgbClr val="02C39A"/>
            </a:solidFill>
            <a:prstDash val="solid"/>
            <a:tailEnd type="triangle"/>
          </a:ln>
        </p:spPr>
      </p:sp>
      <p:sp>
        <p:nvSpPr>
          <p:cNvPr id="14" name="Shape 12"/>
          <p:cNvSpPr/>
          <p:nvPr/>
        </p:nvSpPr>
        <p:spPr>
          <a:xfrm>
            <a:off x="7398868" y="4434840"/>
            <a:ext cx="1965960" cy="1051560"/>
          </a:xfrm>
          <a:prstGeom prst="roundRect">
            <a:avLst>
              <a:gd name="adj" fmla="val 6957"/>
            </a:avLst>
          </a:prstGeom>
          <a:solidFill>
            <a:srgbClr val="028090"/>
          </a:solidFill>
          <a:ln w="12700">
            <a:solidFill>
              <a:srgbClr val="028090"/>
            </a:solidFill>
            <a:prstDash val="solid"/>
          </a:ln>
        </p:spPr>
      </p:sp>
      <p:sp>
        <p:nvSpPr>
          <p:cNvPr id="15" name="Text 13"/>
          <p:cNvSpPr txBox="1"/>
          <p:nvPr/>
        </p:nvSpPr>
        <p:spPr>
          <a:xfrm>
            <a:off x="7490308" y="4572000"/>
            <a:ext cx="178308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CNN over lags → GNN</a:t>
            </a:r>
            <a:endParaRPr lang="en-US" sz="1300" dirty="0"/>
          </a:p>
          <a:p>
            <a:pPr algn="ctr" indent="0" marL="0">
              <a:buNone/>
            </a:pPr>
            <a:r>
              <a:rPr lang="en-US" sz="1000" dirty="0">
                <a:solidFill>
                  <a:srgbClr val="D8F3EE"/>
                </a:solidFill>
                <a:latin typeface="Calibri" pitchFamily="34" charset="0"/>
                <a:ea typeface="Calibri" pitchFamily="34" charset="-122"/>
                <a:cs typeface="Calibri" pitchFamily="34" charset="-120"/>
              </a:rPr>
              <a:t>mean+max → MLP</a:t>
            </a:r>
            <a:endParaRPr lang="en-US" sz="1300" dirty="0"/>
          </a:p>
        </p:txBody>
      </p:sp>
      <p:sp>
        <p:nvSpPr>
          <p:cNvPr id="16" name="Shape 14"/>
          <p:cNvSpPr/>
          <p:nvPr/>
        </p:nvSpPr>
        <p:spPr>
          <a:xfrm>
            <a:off x="9419692" y="4960620"/>
            <a:ext cx="210312" cy="0"/>
          </a:xfrm>
          <a:prstGeom prst="line">
            <a:avLst/>
          </a:prstGeom>
          <a:noFill/>
          <a:ln w="19050">
            <a:solidFill>
              <a:srgbClr val="02C39A"/>
            </a:solidFill>
            <a:prstDash val="solid"/>
            <a:tailEnd type="triangle"/>
          </a:ln>
        </p:spPr>
      </p:sp>
      <p:sp>
        <p:nvSpPr>
          <p:cNvPr id="17" name="Shape 15"/>
          <p:cNvSpPr/>
          <p:nvPr/>
        </p:nvSpPr>
        <p:spPr>
          <a:xfrm>
            <a:off x="9684868" y="4434840"/>
            <a:ext cx="1965960" cy="1051560"/>
          </a:xfrm>
          <a:prstGeom prst="roundRect">
            <a:avLst>
              <a:gd name="adj" fmla="val 6957"/>
            </a:avLst>
          </a:prstGeom>
          <a:solidFill>
            <a:srgbClr val="1E2E3C"/>
          </a:solidFill>
          <a:ln w="12700">
            <a:solidFill>
              <a:srgbClr val="31465A"/>
            </a:solidFill>
            <a:prstDash val="solid"/>
          </a:ln>
        </p:spPr>
      </p:sp>
      <p:sp>
        <p:nvSpPr>
          <p:cNvPr id="18" name="Text 16"/>
          <p:cNvSpPr txBox="1"/>
          <p:nvPr/>
        </p:nvSpPr>
        <p:spPr>
          <a:xfrm>
            <a:off x="9776308" y="4572000"/>
            <a:ext cx="178308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p>
          <a:p>
            <a:pPr algn="ctr" indent="0" marL="0">
              <a:buNone/>
            </a:pPr>
            <a:r>
              <a:rPr lang="en-US" sz="1000" dirty="0">
                <a:solidFill>
                  <a:srgbClr val="C9D6DE"/>
                </a:solidFill>
                <a:latin typeface="Calibri" pitchFamily="34" charset="0"/>
                <a:ea typeface="Calibri" pitchFamily="34" charset="-122"/>
                <a:cs typeface="Calibri" pitchFamily="34" charset="-120"/>
              </a:rPr>
              <a:t>down · flat · up (k = 50)</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REPRESENTATION · 1/3</a:t>
            </a:r>
            <a:endParaRPr lang="en-US" sz="12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From order book to graph: the nodes</a:t>
            </a:r>
            <a:endParaRPr lang="en-US" sz="3200" dirty="0"/>
          </a:p>
        </p:txBody>
      </p:sp>
      <p:sp>
        <p:nvSpPr>
          <p:cNvPr id="4" name="Text 2"/>
          <p:cNvSpPr txBox="1"/>
          <p:nvPr/>
        </p:nvSpPr>
        <p:spPr>
          <a:xfrm>
            <a:off x="640080" y="1645920"/>
            <a:ext cx="5943600" cy="2359152"/>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400" dirty="0">
                <a:solidFill>
                  <a:srgbClr val="14202B"/>
                </a:solidFill>
                <a:latin typeface="Calibri" pitchFamily="34" charset="0"/>
                <a:ea typeface="Calibri" pitchFamily="34" charset="-122"/>
                <a:cs typeface="Calibri" pitchFamily="34" charset="-120"/>
              </a:rPr>
              <a:t>One sample = the state of the book at time t plus the 150 preceding events</a:t>
            </a:r>
            <a:endParaRPr lang="en-US" sz="1400" dirty="0"/>
          </a:p>
          <a:p>
            <a:pPr marL="342900" indent="-342900">
              <a:lnSpc>
                <a:spcPts val="2000"/>
              </a:lnSpc>
              <a:spcAft>
                <a:spcPts val="1000"/>
              </a:spcAft>
              <a:buSzPct val="100000"/>
              <a:buChar char="●"/>
            </a:pPr>
            <a:r>
              <a:rPr lang="en-US" sz="1400" dirty="0">
                <a:solidFill>
                  <a:srgbClr val="14202B"/>
                </a:solidFill>
                <a:latin typeface="Calibri" pitchFamily="34" charset="0"/>
                <a:ea typeface="Calibri" pitchFamily="34" charset="-122"/>
                <a:cs typeface="Calibri" pitchFamily="34" charset="-120"/>
              </a:rPr>
              <a:t>3,020 nodes = 2 sides (bid/ask) × 10 price levels × 151 lags</a:t>
            </a:r>
            <a:endParaRPr lang="en-US" sz="1400" dirty="0"/>
          </a:p>
          <a:p>
            <a:pPr marL="342900" indent="-342900">
              <a:lnSpc>
                <a:spcPts val="2000"/>
              </a:lnSpc>
              <a:spcAft>
                <a:spcPts val="1000"/>
              </a:spcAft>
              <a:buSzPct val="100000"/>
              <a:buChar char="●"/>
            </a:pPr>
            <a:r>
              <a:rPr lang="en-US" sz="1400" dirty="0">
                <a:solidFill>
                  <a:srgbClr val="14202B"/>
                </a:solidFill>
                <a:latin typeface="Calibri" pitchFamily="34" charset="0"/>
                <a:ea typeface="Calibri" pitchFamily="34" charset="-122"/>
                <a:cs typeface="Calibri" pitchFamily="34" charset="-120"/>
              </a:rPr>
              <a:t>Fixed, deterministic indexing:  ask_i_lag_k → i·151 + k</a:t>
            </a:r>
            <a:endParaRPr lang="en-US" sz="1400" dirty="0"/>
          </a:p>
          <a:p>
            <a:pPr marL="342900" indent="-342900">
              <a:lnSpc>
                <a:spcPts val="2000"/>
              </a:lnSpc>
              <a:spcAft>
                <a:spcPts val="1000"/>
              </a:spcAft>
              <a:buSzPct val="100000"/>
              <a:buChar char="●"/>
            </a:pPr>
            <a:r>
              <a:rPr lang="en-US" sz="1400" dirty="0">
                <a:solidFill>
                  <a:srgbClr val="14202B"/>
                </a:solidFill>
                <a:latin typeface="Calibri" pitchFamily="34" charset="0"/>
                <a:ea typeface="Calibri" pitchFamily="34" charset="-122"/>
                <a:cs typeface="Calibri" pitchFamily="34" charset="-120"/>
              </a:rPr>
              <a:t>The graph is the same for every sample: only the node features change</a:t>
            </a:r>
            <a:endParaRPr lang="en-US" sz="1400" dirty="0"/>
          </a:p>
        </p:txBody>
      </p:sp>
      <p:sp>
        <p:nvSpPr>
          <p:cNvPr id="5" name="Shape 3"/>
          <p:cNvSpPr/>
          <p:nvPr/>
        </p:nvSpPr>
        <p:spPr>
          <a:xfrm>
            <a:off x="640080" y="4480560"/>
            <a:ext cx="5943600" cy="1371600"/>
          </a:xfrm>
          <a:prstGeom prst="roundRect">
            <a:avLst>
              <a:gd name="adj" fmla="val 4000"/>
            </a:avLst>
          </a:prstGeom>
          <a:solidFill>
            <a:srgbClr val="EEF3F5"/>
          </a:solidFill>
          <a:ln w="12700">
            <a:solidFill>
              <a:srgbClr val="EEF3F5"/>
            </a:solidFill>
            <a:prstDash val="solid"/>
          </a:ln>
        </p:spPr>
      </p:sp>
      <p:sp>
        <p:nvSpPr>
          <p:cNvPr id="6" name="Text 4"/>
          <p:cNvSpPr txBox="1"/>
          <p:nvPr/>
        </p:nvSpPr>
        <p:spPr>
          <a:xfrm>
            <a:off x="914400" y="4617720"/>
            <a:ext cx="5394960" cy="1097280"/>
          </a:xfrm>
          <a:prstGeom prst="rect">
            <a:avLst/>
          </a:prstGeom>
          <a:noFill/>
          <a:ln/>
        </p:spPr>
        <p:txBody>
          <a:bodyPr wrap="square" lIns="0" tIns="0" rIns="0" bIns="0" rtlCol="0" anchor="ctr"/>
          <a:lstStyle/>
          <a:p>
            <a:pPr indent="0" marL="0">
              <a:buNone/>
            </a:pPr>
            <a:r>
              <a:rPr lang="en-US" sz="4400" b="1" dirty="0">
                <a:solidFill>
                  <a:srgbClr val="028090"/>
                </a:solidFill>
                <a:latin typeface="Cambria" pitchFamily="34" charset="0"/>
                <a:ea typeface="Cambria" pitchFamily="34" charset="-122"/>
                <a:cs typeface="Cambria" pitchFamily="34" charset="-120"/>
              </a:rPr>
              <a:t>3,020</a:t>
            </a:r>
            <a:endParaRPr lang="en-US" sz="4400" dirty="0"/>
          </a:p>
          <a:p>
            <a:pPr indent="0" marL="0">
              <a:buNone/>
            </a:pPr>
            <a:r>
              <a:rPr lang="en-US" sz="1200" dirty="0">
                <a:solidFill>
                  <a:srgbClr val="5F6B76"/>
                </a:solidFill>
                <a:latin typeface="Calibri" pitchFamily="34" charset="0"/>
                <a:ea typeface="Calibri" pitchFamily="34" charset="-122"/>
                <a:cs typeface="Calibri" pitchFamily="34" charset="-120"/>
              </a:rPr>
              <a:t>nodes per sample — time lives INSIDE the graph: lags are nodes, not channels</a:t>
            </a:r>
            <a:endParaRPr lang="en-US" sz="4400" dirty="0"/>
          </a:p>
        </p:txBody>
      </p:sp>
      <p:sp>
        <p:nvSpPr>
          <p:cNvPr id="7" name="Text 5"/>
          <p:cNvSpPr txBox="1"/>
          <p:nvPr/>
        </p:nvSpPr>
        <p:spPr>
          <a:xfrm>
            <a:off x="7223760" y="1737360"/>
            <a:ext cx="4297680" cy="274320"/>
          </a:xfrm>
          <a:prstGeom prst="rect">
            <a:avLst/>
          </a:prstGeom>
          <a:noFill/>
          <a:ln/>
        </p:spPr>
        <p:txBody>
          <a:bodyPr wrap="square" lIns="0" tIns="0" rIns="0" bIns="0" rtlCol="0" anchor="ctr"/>
          <a:lstStyle/>
          <a:p>
            <a:pPr indent="0" marL="0">
              <a:buNone/>
            </a:pPr>
            <a:r>
              <a:rPr lang="en-US" sz="1200" b="1" dirty="0">
                <a:solidFill>
                  <a:srgbClr val="14202B"/>
                </a:solidFill>
                <a:latin typeface="Calibri" pitchFamily="34" charset="0"/>
                <a:ea typeface="Calibri" pitchFamily="34" charset="-122"/>
                <a:cs typeface="Calibri" pitchFamily="34" charset="-120"/>
              </a:rPr>
              <a:t>20 groups (side × level) × 151 lags</a:t>
            </a:r>
            <a:endParaRPr lang="en-US" sz="1200" dirty="0"/>
          </a:p>
        </p:txBody>
      </p:sp>
      <p:sp>
        <p:nvSpPr>
          <p:cNvPr id="8" name="Shape 6"/>
          <p:cNvSpPr/>
          <p:nvPr/>
        </p:nvSpPr>
        <p:spPr>
          <a:xfrm>
            <a:off x="7589520" y="2240280"/>
            <a:ext cx="169164" cy="169164"/>
          </a:xfrm>
          <a:prstGeom prst="rect">
            <a:avLst/>
          </a:prstGeom>
          <a:solidFill>
            <a:srgbClr val="028090">
              <a:alpha val="85000"/>
            </a:srgbClr>
          </a:solidFill>
          <a:ln w="12700">
            <a:solidFill>
              <a:srgbClr val="333333"/>
            </a:solidFill>
            <a:prstDash val="solid"/>
          </a:ln>
        </p:spPr>
      </p:sp>
      <p:sp>
        <p:nvSpPr>
          <p:cNvPr id="9" name="Shape 7"/>
          <p:cNvSpPr/>
          <p:nvPr/>
        </p:nvSpPr>
        <p:spPr>
          <a:xfrm>
            <a:off x="7804404" y="2240280"/>
            <a:ext cx="169164" cy="169164"/>
          </a:xfrm>
          <a:prstGeom prst="rect">
            <a:avLst/>
          </a:prstGeom>
          <a:solidFill>
            <a:srgbClr val="028090">
              <a:alpha val="81000"/>
            </a:srgbClr>
          </a:solidFill>
          <a:ln w="12700">
            <a:solidFill>
              <a:srgbClr val="333333"/>
            </a:solidFill>
            <a:prstDash val="solid"/>
          </a:ln>
        </p:spPr>
      </p:sp>
      <p:sp>
        <p:nvSpPr>
          <p:cNvPr id="10" name="Shape 8"/>
          <p:cNvSpPr/>
          <p:nvPr/>
        </p:nvSpPr>
        <p:spPr>
          <a:xfrm>
            <a:off x="8019288" y="2240280"/>
            <a:ext cx="169164" cy="169164"/>
          </a:xfrm>
          <a:prstGeom prst="rect">
            <a:avLst/>
          </a:prstGeom>
          <a:solidFill>
            <a:srgbClr val="028090">
              <a:alpha val="78000"/>
            </a:srgbClr>
          </a:solidFill>
          <a:ln w="12700">
            <a:solidFill>
              <a:srgbClr val="333333"/>
            </a:solidFill>
            <a:prstDash val="solid"/>
          </a:ln>
        </p:spPr>
      </p:sp>
      <p:sp>
        <p:nvSpPr>
          <p:cNvPr id="11" name="Shape 9"/>
          <p:cNvSpPr/>
          <p:nvPr/>
        </p:nvSpPr>
        <p:spPr>
          <a:xfrm>
            <a:off x="8234172" y="2240280"/>
            <a:ext cx="169164" cy="169164"/>
          </a:xfrm>
          <a:prstGeom prst="rect">
            <a:avLst/>
          </a:prstGeom>
          <a:solidFill>
            <a:srgbClr val="028090">
              <a:alpha val="74000"/>
            </a:srgbClr>
          </a:solidFill>
          <a:ln w="12700">
            <a:solidFill>
              <a:srgbClr val="333333"/>
            </a:solidFill>
            <a:prstDash val="solid"/>
          </a:ln>
        </p:spPr>
      </p:sp>
      <p:sp>
        <p:nvSpPr>
          <p:cNvPr id="12" name="Shape 10"/>
          <p:cNvSpPr/>
          <p:nvPr/>
        </p:nvSpPr>
        <p:spPr>
          <a:xfrm>
            <a:off x="8449056" y="2240280"/>
            <a:ext cx="169164" cy="169164"/>
          </a:xfrm>
          <a:prstGeom prst="rect">
            <a:avLst/>
          </a:prstGeom>
          <a:solidFill>
            <a:srgbClr val="028090">
              <a:alpha val="71000"/>
            </a:srgbClr>
          </a:solidFill>
          <a:ln w="12700">
            <a:solidFill>
              <a:srgbClr val="333333"/>
            </a:solidFill>
            <a:prstDash val="solid"/>
          </a:ln>
        </p:spPr>
      </p:sp>
      <p:sp>
        <p:nvSpPr>
          <p:cNvPr id="13" name="Shape 11"/>
          <p:cNvSpPr/>
          <p:nvPr/>
        </p:nvSpPr>
        <p:spPr>
          <a:xfrm>
            <a:off x="8663940" y="2240280"/>
            <a:ext cx="169164" cy="169164"/>
          </a:xfrm>
          <a:prstGeom prst="rect">
            <a:avLst/>
          </a:prstGeom>
          <a:solidFill>
            <a:srgbClr val="028090">
              <a:alpha val="67000"/>
            </a:srgbClr>
          </a:solidFill>
          <a:ln w="12700">
            <a:solidFill>
              <a:srgbClr val="333333"/>
            </a:solidFill>
            <a:prstDash val="solid"/>
          </a:ln>
        </p:spPr>
      </p:sp>
      <p:sp>
        <p:nvSpPr>
          <p:cNvPr id="14" name="Shape 12"/>
          <p:cNvSpPr/>
          <p:nvPr/>
        </p:nvSpPr>
        <p:spPr>
          <a:xfrm>
            <a:off x="8878824" y="2240280"/>
            <a:ext cx="169164" cy="169164"/>
          </a:xfrm>
          <a:prstGeom prst="rect">
            <a:avLst/>
          </a:prstGeom>
          <a:solidFill>
            <a:srgbClr val="028090">
              <a:alpha val="64000"/>
            </a:srgbClr>
          </a:solidFill>
          <a:ln w="12700">
            <a:solidFill>
              <a:srgbClr val="333333"/>
            </a:solidFill>
            <a:prstDash val="solid"/>
          </a:ln>
        </p:spPr>
      </p:sp>
      <p:sp>
        <p:nvSpPr>
          <p:cNvPr id="15" name="Shape 13"/>
          <p:cNvSpPr/>
          <p:nvPr/>
        </p:nvSpPr>
        <p:spPr>
          <a:xfrm>
            <a:off x="9093708" y="2240280"/>
            <a:ext cx="169164" cy="169164"/>
          </a:xfrm>
          <a:prstGeom prst="rect">
            <a:avLst/>
          </a:prstGeom>
          <a:solidFill>
            <a:srgbClr val="028090">
              <a:alpha val="60000"/>
            </a:srgbClr>
          </a:solidFill>
          <a:ln w="12700">
            <a:solidFill>
              <a:srgbClr val="333333"/>
            </a:solidFill>
            <a:prstDash val="solid"/>
          </a:ln>
        </p:spPr>
      </p:sp>
      <p:sp>
        <p:nvSpPr>
          <p:cNvPr id="16" name="Shape 14"/>
          <p:cNvSpPr/>
          <p:nvPr/>
        </p:nvSpPr>
        <p:spPr>
          <a:xfrm>
            <a:off x="9308592" y="2240280"/>
            <a:ext cx="169164" cy="169164"/>
          </a:xfrm>
          <a:prstGeom prst="rect">
            <a:avLst/>
          </a:prstGeom>
          <a:solidFill>
            <a:srgbClr val="028090">
              <a:alpha val="57000"/>
            </a:srgbClr>
          </a:solidFill>
          <a:ln w="12700">
            <a:solidFill>
              <a:srgbClr val="333333"/>
            </a:solidFill>
            <a:prstDash val="solid"/>
          </a:ln>
        </p:spPr>
      </p:sp>
      <p:sp>
        <p:nvSpPr>
          <p:cNvPr id="17" name="Shape 15"/>
          <p:cNvSpPr/>
          <p:nvPr/>
        </p:nvSpPr>
        <p:spPr>
          <a:xfrm>
            <a:off x="9523476" y="2240280"/>
            <a:ext cx="169164" cy="169164"/>
          </a:xfrm>
          <a:prstGeom prst="rect">
            <a:avLst/>
          </a:prstGeom>
          <a:solidFill>
            <a:srgbClr val="028090">
              <a:alpha val="53000"/>
            </a:srgbClr>
          </a:solidFill>
          <a:ln w="12700">
            <a:solidFill>
              <a:srgbClr val="333333"/>
            </a:solidFill>
            <a:prstDash val="solid"/>
          </a:ln>
        </p:spPr>
      </p:sp>
      <p:sp>
        <p:nvSpPr>
          <p:cNvPr id="18" name="Shape 16"/>
          <p:cNvSpPr/>
          <p:nvPr/>
        </p:nvSpPr>
        <p:spPr>
          <a:xfrm>
            <a:off x="9738360" y="2240280"/>
            <a:ext cx="169164" cy="169164"/>
          </a:xfrm>
          <a:prstGeom prst="rect">
            <a:avLst/>
          </a:prstGeom>
          <a:solidFill>
            <a:srgbClr val="028090">
              <a:alpha val="50000"/>
            </a:srgbClr>
          </a:solidFill>
          <a:ln w="12700">
            <a:solidFill>
              <a:srgbClr val="333333"/>
            </a:solidFill>
            <a:prstDash val="solid"/>
          </a:ln>
        </p:spPr>
      </p:sp>
      <p:sp>
        <p:nvSpPr>
          <p:cNvPr id="19" name="Shape 17"/>
          <p:cNvSpPr/>
          <p:nvPr/>
        </p:nvSpPr>
        <p:spPr>
          <a:xfrm>
            <a:off x="9953244" y="2240280"/>
            <a:ext cx="169164" cy="169164"/>
          </a:xfrm>
          <a:prstGeom prst="rect">
            <a:avLst/>
          </a:prstGeom>
          <a:solidFill>
            <a:srgbClr val="028090">
              <a:alpha val="46000"/>
            </a:srgbClr>
          </a:solidFill>
          <a:ln w="12700">
            <a:solidFill>
              <a:srgbClr val="333333"/>
            </a:solidFill>
            <a:prstDash val="solid"/>
          </a:ln>
        </p:spPr>
      </p:sp>
      <p:sp>
        <p:nvSpPr>
          <p:cNvPr id="20" name="Shape 18"/>
          <p:cNvSpPr/>
          <p:nvPr/>
        </p:nvSpPr>
        <p:spPr>
          <a:xfrm>
            <a:off x="10168128" y="2240280"/>
            <a:ext cx="169164" cy="169164"/>
          </a:xfrm>
          <a:prstGeom prst="rect">
            <a:avLst/>
          </a:prstGeom>
          <a:solidFill>
            <a:srgbClr val="028090">
              <a:alpha val="43000"/>
            </a:srgbClr>
          </a:solidFill>
          <a:ln w="12700">
            <a:solidFill>
              <a:srgbClr val="333333"/>
            </a:solidFill>
            <a:prstDash val="solid"/>
          </a:ln>
        </p:spPr>
      </p:sp>
      <p:sp>
        <p:nvSpPr>
          <p:cNvPr id="21" name="Shape 19"/>
          <p:cNvSpPr/>
          <p:nvPr/>
        </p:nvSpPr>
        <p:spPr>
          <a:xfrm>
            <a:off x="10383012" y="2240280"/>
            <a:ext cx="169164" cy="169164"/>
          </a:xfrm>
          <a:prstGeom prst="rect">
            <a:avLst/>
          </a:prstGeom>
          <a:solidFill>
            <a:srgbClr val="028090">
              <a:alpha val="39000"/>
            </a:srgbClr>
          </a:solidFill>
          <a:ln w="12700">
            <a:solidFill>
              <a:srgbClr val="333333"/>
            </a:solidFill>
            <a:prstDash val="solid"/>
          </a:ln>
        </p:spPr>
      </p:sp>
      <p:sp>
        <p:nvSpPr>
          <p:cNvPr id="22" name="Shape 20"/>
          <p:cNvSpPr/>
          <p:nvPr/>
        </p:nvSpPr>
        <p:spPr>
          <a:xfrm>
            <a:off x="10597896" y="2240280"/>
            <a:ext cx="169164" cy="169164"/>
          </a:xfrm>
          <a:prstGeom prst="rect">
            <a:avLst/>
          </a:prstGeom>
          <a:solidFill>
            <a:srgbClr val="028090">
              <a:alpha val="36000"/>
            </a:srgbClr>
          </a:solidFill>
          <a:ln w="12700">
            <a:solidFill>
              <a:srgbClr val="333333"/>
            </a:solidFill>
            <a:prstDash val="solid"/>
          </a:ln>
        </p:spPr>
      </p:sp>
      <p:sp>
        <p:nvSpPr>
          <p:cNvPr id="23" name="Shape 21"/>
          <p:cNvSpPr/>
          <p:nvPr/>
        </p:nvSpPr>
        <p:spPr>
          <a:xfrm>
            <a:off x="10812780" y="2240280"/>
            <a:ext cx="169164" cy="169164"/>
          </a:xfrm>
          <a:prstGeom prst="rect">
            <a:avLst/>
          </a:prstGeom>
          <a:solidFill>
            <a:srgbClr val="028090">
              <a:alpha val="32000"/>
            </a:srgbClr>
          </a:solidFill>
          <a:ln w="12700">
            <a:solidFill>
              <a:srgbClr val="333333"/>
            </a:solidFill>
            <a:prstDash val="solid"/>
          </a:ln>
        </p:spPr>
      </p:sp>
      <p:sp>
        <p:nvSpPr>
          <p:cNvPr id="24" name="Shape 22"/>
          <p:cNvSpPr/>
          <p:nvPr/>
        </p:nvSpPr>
        <p:spPr>
          <a:xfrm>
            <a:off x="7589520" y="2455164"/>
            <a:ext cx="169164" cy="169164"/>
          </a:xfrm>
          <a:prstGeom prst="rect">
            <a:avLst/>
          </a:prstGeom>
          <a:solidFill>
            <a:srgbClr val="028090">
              <a:alpha val="85000"/>
            </a:srgbClr>
          </a:solidFill>
          <a:ln w="12700">
            <a:solidFill>
              <a:srgbClr val="333333"/>
            </a:solidFill>
            <a:prstDash val="solid"/>
          </a:ln>
        </p:spPr>
      </p:sp>
      <p:sp>
        <p:nvSpPr>
          <p:cNvPr id="25" name="Shape 23"/>
          <p:cNvSpPr/>
          <p:nvPr/>
        </p:nvSpPr>
        <p:spPr>
          <a:xfrm>
            <a:off x="7804404" y="2455164"/>
            <a:ext cx="169164" cy="169164"/>
          </a:xfrm>
          <a:prstGeom prst="rect">
            <a:avLst/>
          </a:prstGeom>
          <a:solidFill>
            <a:srgbClr val="028090">
              <a:alpha val="81000"/>
            </a:srgbClr>
          </a:solidFill>
          <a:ln w="12700">
            <a:solidFill>
              <a:srgbClr val="333333"/>
            </a:solidFill>
            <a:prstDash val="solid"/>
          </a:ln>
        </p:spPr>
      </p:sp>
      <p:sp>
        <p:nvSpPr>
          <p:cNvPr id="26" name="Shape 24"/>
          <p:cNvSpPr/>
          <p:nvPr/>
        </p:nvSpPr>
        <p:spPr>
          <a:xfrm>
            <a:off x="8019288" y="2455164"/>
            <a:ext cx="169164" cy="169164"/>
          </a:xfrm>
          <a:prstGeom prst="rect">
            <a:avLst/>
          </a:prstGeom>
          <a:solidFill>
            <a:srgbClr val="028090">
              <a:alpha val="78000"/>
            </a:srgbClr>
          </a:solidFill>
          <a:ln w="12700">
            <a:solidFill>
              <a:srgbClr val="333333"/>
            </a:solidFill>
            <a:prstDash val="solid"/>
          </a:ln>
        </p:spPr>
      </p:sp>
      <p:sp>
        <p:nvSpPr>
          <p:cNvPr id="27" name="Shape 25"/>
          <p:cNvSpPr/>
          <p:nvPr/>
        </p:nvSpPr>
        <p:spPr>
          <a:xfrm>
            <a:off x="8234172" y="2455164"/>
            <a:ext cx="169164" cy="169164"/>
          </a:xfrm>
          <a:prstGeom prst="rect">
            <a:avLst/>
          </a:prstGeom>
          <a:solidFill>
            <a:srgbClr val="028090">
              <a:alpha val="74000"/>
            </a:srgbClr>
          </a:solidFill>
          <a:ln w="12700">
            <a:solidFill>
              <a:srgbClr val="333333"/>
            </a:solidFill>
            <a:prstDash val="solid"/>
          </a:ln>
        </p:spPr>
      </p:sp>
      <p:sp>
        <p:nvSpPr>
          <p:cNvPr id="28" name="Shape 26"/>
          <p:cNvSpPr/>
          <p:nvPr/>
        </p:nvSpPr>
        <p:spPr>
          <a:xfrm>
            <a:off x="8449056" y="2455164"/>
            <a:ext cx="169164" cy="169164"/>
          </a:xfrm>
          <a:prstGeom prst="rect">
            <a:avLst/>
          </a:prstGeom>
          <a:solidFill>
            <a:srgbClr val="028090">
              <a:alpha val="71000"/>
            </a:srgbClr>
          </a:solidFill>
          <a:ln w="12700">
            <a:solidFill>
              <a:srgbClr val="333333"/>
            </a:solidFill>
            <a:prstDash val="solid"/>
          </a:ln>
        </p:spPr>
      </p:sp>
      <p:sp>
        <p:nvSpPr>
          <p:cNvPr id="29" name="Shape 27"/>
          <p:cNvSpPr/>
          <p:nvPr/>
        </p:nvSpPr>
        <p:spPr>
          <a:xfrm>
            <a:off x="8663940" y="2455164"/>
            <a:ext cx="169164" cy="169164"/>
          </a:xfrm>
          <a:prstGeom prst="rect">
            <a:avLst/>
          </a:prstGeom>
          <a:solidFill>
            <a:srgbClr val="028090">
              <a:alpha val="67000"/>
            </a:srgbClr>
          </a:solidFill>
          <a:ln w="12700">
            <a:solidFill>
              <a:srgbClr val="333333"/>
            </a:solidFill>
            <a:prstDash val="solid"/>
          </a:ln>
        </p:spPr>
      </p:sp>
      <p:sp>
        <p:nvSpPr>
          <p:cNvPr id="30" name="Shape 28"/>
          <p:cNvSpPr/>
          <p:nvPr/>
        </p:nvSpPr>
        <p:spPr>
          <a:xfrm>
            <a:off x="8878824" y="2455164"/>
            <a:ext cx="169164" cy="169164"/>
          </a:xfrm>
          <a:prstGeom prst="rect">
            <a:avLst/>
          </a:prstGeom>
          <a:solidFill>
            <a:srgbClr val="028090">
              <a:alpha val="64000"/>
            </a:srgbClr>
          </a:solidFill>
          <a:ln w="12700">
            <a:solidFill>
              <a:srgbClr val="333333"/>
            </a:solidFill>
            <a:prstDash val="solid"/>
          </a:ln>
        </p:spPr>
      </p:sp>
      <p:sp>
        <p:nvSpPr>
          <p:cNvPr id="31" name="Shape 29"/>
          <p:cNvSpPr/>
          <p:nvPr/>
        </p:nvSpPr>
        <p:spPr>
          <a:xfrm>
            <a:off x="9093708" y="2455164"/>
            <a:ext cx="169164" cy="169164"/>
          </a:xfrm>
          <a:prstGeom prst="rect">
            <a:avLst/>
          </a:prstGeom>
          <a:solidFill>
            <a:srgbClr val="028090">
              <a:alpha val="60000"/>
            </a:srgbClr>
          </a:solidFill>
          <a:ln w="12700">
            <a:solidFill>
              <a:srgbClr val="333333"/>
            </a:solidFill>
            <a:prstDash val="solid"/>
          </a:ln>
        </p:spPr>
      </p:sp>
      <p:sp>
        <p:nvSpPr>
          <p:cNvPr id="32" name="Shape 30"/>
          <p:cNvSpPr/>
          <p:nvPr/>
        </p:nvSpPr>
        <p:spPr>
          <a:xfrm>
            <a:off x="9308592" y="2455164"/>
            <a:ext cx="169164" cy="169164"/>
          </a:xfrm>
          <a:prstGeom prst="rect">
            <a:avLst/>
          </a:prstGeom>
          <a:solidFill>
            <a:srgbClr val="028090">
              <a:alpha val="57000"/>
            </a:srgbClr>
          </a:solidFill>
          <a:ln w="12700">
            <a:solidFill>
              <a:srgbClr val="333333"/>
            </a:solidFill>
            <a:prstDash val="solid"/>
          </a:ln>
        </p:spPr>
      </p:sp>
      <p:sp>
        <p:nvSpPr>
          <p:cNvPr id="33" name="Shape 31"/>
          <p:cNvSpPr/>
          <p:nvPr/>
        </p:nvSpPr>
        <p:spPr>
          <a:xfrm>
            <a:off x="9523476" y="2455164"/>
            <a:ext cx="169164" cy="169164"/>
          </a:xfrm>
          <a:prstGeom prst="rect">
            <a:avLst/>
          </a:prstGeom>
          <a:solidFill>
            <a:srgbClr val="028090">
              <a:alpha val="53000"/>
            </a:srgbClr>
          </a:solidFill>
          <a:ln w="12700">
            <a:solidFill>
              <a:srgbClr val="333333"/>
            </a:solidFill>
            <a:prstDash val="solid"/>
          </a:ln>
        </p:spPr>
      </p:sp>
      <p:sp>
        <p:nvSpPr>
          <p:cNvPr id="34" name="Shape 32"/>
          <p:cNvSpPr/>
          <p:nvPr/>
        </p:nvSpPr>
        <p:spPr>
          <a:xfrm>
            <a:off x="9738360" y="2455164"/>
            <a:ext cx="169164" cy="169164"/>
          </a:xfrm>
          <a:prstGeom prst="rect">
            <a:avLst/>
          </a:prstGeom>
          <a:solidFill>
            <a:srgbClr val="028090">
              <a:alpha val="50000"/>
            </a:srgbClr>
          </a:solidFill>
          <a:ln w="12700">
            <a:solidFill>
              <a:srgbClr val="333333"/>
            </a:solidFill>
            <a:prstDash val="solid"/>
          </a:ln>
        </p:spPr>
      </p:sp>
      <p:sp>
        <p:nvSpPr>
          <p:cNvPr id="35" name="Shape 33"/>
          <p:cNvSpPr/>
          <p:nvPr/>
        </p:nvSpPr>
        <p:spPr>
          <a:xfrm>
            <a:off x="9953244" y="2455164"/>
            <a:ext cx="169164" cy="169164"/>
          </a:xfrm>
          <a:prstGeom prst="rect">
            <a:avLst/>
          </a:prstGeom>
          <a:solidFill>
            <a:srgbClr val="028090">
              <a:alpha val="46000"/>
            </a:srgbClr>
          </a:solidFill>
          <a:ln w="12700">
            <a:solidFill>
              <a:srgbClr val="333333"/>
            </a:solidFill>
            <a:prstDash val="solid"/>
          </a:ln>
        </p:spPr>
      </p:sp>
      <p:sp>
        <p:nvSpPr>
          <p:cNvPr id="36" name="Shape 34"/>
          <p:cNvSpPr/>
          <p:nvPr/>
        </p:nvSpPr>
        <p:spPr>
          <a:xfrm>
            <a:off x="10168128" y="2455164"/>
            <a:ext cx="169164" cy="169164"/>
          </a:xfrm>
          <a:prstGeom prst="rect">
            <a:avLst/>
          </a:prstGeom>
          <a:solidFill>
            <a:srgbClr val="028090">
              <a:alpha val="43000"/>
            </a:srgbClr>
          </a:solidFill>
          <a:ln w="12700">
            <a:solidFill>
              <a:srgbClr val="333333"/>
            </a:solidFill>
            <a:prstDash val="solid"/>
          </a:ln>
        </p:spPr>
      </p:sp>
      <p:sp>
        <p:nvSpPr>
          <p:cNvPr id="37" name="Shape 35"/>
          <p:cNvSpPr/>
          <p:nvPr/>
        </p:nvSpPr>
        <p:spPr>
          <a:xfrm>
            <a:off x="10383012" y="2455164"/>
            <a:ext cx="169164" cy="169164"/>
          </a:xfrm>
          <a:prstGeom prst="rect">
            <a:avLst/>
          </a:prstGeom>
          <a:solidFill>
            <a:srgbClr val="028090">
              <a:alpha val="39000"/>
            </a:srgbClr>
          </a:solidFill>
          <a:ln w="12700">
            <a:solidFill>
              <a:srgbClr val="333333"/>
            </a:solidFill>
            <a:prstDash val="solid"/>
          </a:ln>
        </p:spPr>
      </p:sp>
      <p:sp>
        <p:nvSpPr>
          <p:cNvPr id="38" name="Shape 36"/>
          <p:cNvSpPr/>
          <p:nvPr/>
        </p:nvSpPr>
        <p:spPr>
          <a:xfrm>
            <a:off x="10597896" y="2455164"/>
            <a:ext cx="169164" cy="169164"/>
          </a:xfrm>
          <a:prstGeom prst="rect">
            <a:avLst/>
          </a:prstGeom>
          <a:solidFill>
            <a:srgbClr val="028090">
              <a:alpha val="36000"/>
            </a:srgbClr>
          </a:solidFill>
          <a:ln w="12700">
            <a:solidFill>
              <a:srgbClr val="333333"/>
            </a:solidFill>
            <a:prstDash val="solid"/>
          </a:ln>
        </p:spPr>
      </p:sp>
      <p:sp>
        <p:nvSpPr>
          <p:cNvPr id="39" name="Shape 37"/>
          <p:cNvSpPr/>
          <p:nvPr/>
        </p:nvSpPr>
        <p:spPr>
          <a:xfrm>
            <a:off x="10812780" y="2455164"/>
            <a:ext cx="169164" cy="169164"/>
          </a:xfrm>
          <a:prstGeom prst="rect">
            <a:avLst/>
          </a:prstGeom>
          <a:solidFill>
            <a:srgbClr val="028090">
              <a:alpha val="32000"/>
            </a:srgbClr>
          </a:solidFill>
          <a:ln w="12700">
            <a:solidFill>
              <a:srgbClr val="333333"/>
            </a:solidFill>
            <a:prstDash val="solid"/>
          </a:ln>
        </p:spPr>
      </p:sp>
      <p:sp>
        <p:nvSpPr>
          <p:cNvPr id="40" name="Shape 38"/>
          <p:cNvSpPr/>
          <p:nvPr/>
        </p:nvSpPr>
        <p:spPr>
          <a:xfrm>
            <a:off x="7589520" y="2670048"/>
            <a:ext cx="169164" cy="169164"/>
          </a:xfrm>
          <a:prstGeom prst="rect">
            <a:avLst/>
          </a:prstGeom>
          <a:solidFill>
            <a:srgbClr val="028090">
              <a:alpha val="85000"/>
            </a:srgbClr>
          </a:solidFill>
          <a:ln w="12700">
            <a:solidFill>
              <a:srgbClr val="333333"/>
            </a:solidFill>
            <a:prstDash val="solid"/>
          </a:ln>
        </p:spPr>
      </p:sp>
      <p:sp>
        <p:nvSpPr>
          <p:cNvPr id="41" name="Shape 39"/>
          <p:cNvSpPr/>
          <p:nvPr/>
        </p:nvSpPr>
        <p:spPr>
          <a:xfrm>
            <a:off x="7804404" y="2670048"/>
            <a:ext cx="169164" cy="169164"/>
          </a:xfrm>
          <a:prstGeom prst="rect">
            <a:avLst/>
          </a:prstGeom>
          <a:solidFill>
            <a:srgbClr val="028090">
              <a:alpha val="81000"/>
            </a:srgbClr>
          </a:solidFill>
          <a:ln w="12700">
            <a:solidFill>
              <a:srgbClr val="333333"/>
            </a:solidFill>
            <a:prstDash val="solid"/>
          </a:ln>
        </p:spPr>
      </p:sp>
      <p:sp>
        <p:nvSpPr>
          <p:cNvPr id="42" name="Shape 40"/>
          <p:cNvSpPr/>
          <p:nvPr/>
        </p:nvSpPr>
        <p:spPr>
          <a:xfrm>
            <a:off x="8019288" y="2670048"/>
            <a:ext cx="169164" cy="169164"/>
          </a:xfrm>
          <a:prstGeom prst="rect">
            <a:avLst/>
          </a:prstGeom>
          <a:solidFill>
            <a:srgbClr val="028090">
              <a:alpha val="78000"/>
            </a:srgbClr>
          </a:solidFill>
          <a:ln w="12700">
            <a:solidFill>
              <a:srgbClr val="333333"/>
            </a:solidFill>
            <a:prstDash val="solid"/>
          </a:ln>
        </p:spPr>
      </p:sp>
      <p:sp>
        <p:nvSpPr>
          <p:cNvPr id="43" name="Shape 41"/>
          <p:cNvSpPr/>
          <p:nvPr/>
        </p:nvSpPr>
        <p:spPr>
          <a:xfrm>
            <a:off x="8234172" y="2670048"/>
            <a:ext cx="169164" cy="169164"/>
          </a:xfrm>
          <a:prstGeom prst="rect">
            <a:avLst/>
          </a:prstGeom>
          <a:solidFill>
            <a:srgbClr val="028090">
              <a:alpha val="74000"/>
            </a:srgbClr>
          </a:solidFill>
          <a:ln w="12700">
            <a:solidFill>
              <a:srgbClr val="333333"/>
            </a:solidFill>
            <a:prstDash val="solid"/>
          </a:ln>
        </p:spPr>
      </p:sp>
      <p:sp>
        <p:nvSpPr>
          <p:cNvPr id="44" name="Shape 42"/>
          <p:cNvSpPr/>
          <p:nvPr/>
        </p:nvSpPr>
        <p:spPr>
          <a:xfrm>
            <a:off x="8449056" y="2670048"/>
            <a:ext cx="169164" cy="169164"/>
          </a:xfrm>
          <a:prstGeom prst="rect">
            <a:avLst/>
          </a:prstGeom>
          <a:solidFill>
            <a:srgbClr val="028090">
              <a:alpha val="71000"/>
            </a:srgbClr>
          </a:solidFill>
          <a:ln w="12700">
            <a:solidFill>
              <a:srgbClr val="333333"/>
            </a:solidFill>
            <a:prstDash val="solid"/>
          </a:ln>
        </p:spPr>
      </p:sp>
      <p:sp>
        <p:nvSpPr>
          <p:cNvPr id="45" name="Shape 43"/>
          <p:cNvSpPr/>
          <p:nvPr/>
        </p:nvSpPr>
        <p:spPr>
          <a:xfrm>
            <a:off x="8663940" y="2670048"/>
            <a:ext cx="169164" cy="169164"/>
          </a:xfrm>
          <a:prstGeom prst="rect">
            <a:avLst/>
          </a:prstGeom>
          <a:solidFill>
            <a:srgbClr val="028090">
              <a:alpha val="67000"/>
            </a:srgbClr>
          </a:solidFill>
          <a:ln w="12700">
            <a:solidFill>
              <a:srgbClr val="333333"/>
            </a:solidFill>
            <a:prstDash val="solid"/>
          </a:ln>
        </p:spPr>
      </p:sp>
      <p:sp>
        <p:nvSpPr>
          <p:cNvPr id="46" name="Shape 44"/>
          <p:cNvSpPr/>
          <p:nvPr/>
        </p:nvSpPr>
        <p:spPr>
          <a:xfrm>
            <a:off x="8878824" y="2670048"/>
            <a:ext cx="169164" cy="169164"/>
          </a:xfrm>
          <a:prstGeom prst="rect">
            <a:avLst/>
          </a:prstGeom>
          <a:solidFill>
            <a:srgbClr val="028090">
              <a:alpha val="64000"/>
            </a:srgbClr>
          </a:solidFill>
          <a:ln w="12700">
            <a:solidFill>
              <a:srgbClr val="333333"/>
            </a:solidFill>
            <a:prstDash val="solid"/>
          </a:ln>
        </p:spPr>
      </p:sp>
      <p:sp>
        <p:nvSpPr>
          <p:cNvPr id="47" name="Shape 45"/>
          <p:cNvSpPr/>
          <p:nvPr/>
        </p:nvSpPr>
        <p:spPr>
          <a:xfrm>
            <a:off x="9093708" y="2670048"/>
            <a:ext cx="169164" cy="169164"/>
          </a:xfrm>
          <a:prstGeom prst="rect">
            <a:avLst/>
          </a:prstGeom>
          <a:solidFill>
            <a:srgbClr val="028090">
              <a:alpha val="60000"/>
            </a:srgbClr>
          </a:solidFill>
          <a:ln w="12700">
            <a:solidFill>
              <a:srgbClr val="333333"/>
            </a:solidFill>
            <a:prstDash val="solid"/>
          </a:ln>
        </p:spPr>
      </p:sp>
      <p:sp>
        <p:nvSpPr>
          <p:cNvPr id="48" name="Shape 46"/>
          <p:cNvSpPr/>
          <p:nvPr/>
        </p:nvSpPr>
        <p:spPr>
          <a:xfrm>
            <a:off x="9308592" y="2670048"/>
            <a:ext cx="169164" cy="169164"/>
          </a:xfrm>
          <a:prstGeom prst="rect">
            <a:avLst/>
          </a:prstGeom>
          <a:solidFill>
            <a:srgbClr val="028090">
              <a:alpha val="57000"/>
            </a:srgbClr>
          </a:solidFill>
          <a:ln w="12700">
            <a:solidFill>
              <a:srgbClr val="333333"/>
            </a:solidFill>
            <a:prstDash val="solid"/>
          </a:ln>
        </p:spPr>
      </p:sp>
      <p:sp>
        <p:nvSpPr>
          <p:cNvPr id="49" name="Shape 47"/>
          <p:cNvSpPr/>
          <p:nvPr/>
        </p:nvSpPr>
        <p:spPr>
          <a:xfrm>
            <a:off x="9523476" y="2670048"/>
            <a:ext cx="169164" cy="169164"/>
          </a:xfrm>
          <a:prstGeom prst="rect">
            <a:avLst/>
          </a:prstGeom>
          <a:solidFill>
            <a:srgbClr val="028090">
              <a:alpha val="53000"/>
            </a:srgbClr>
          </a:solidFill>
          <a:ln w="12700">
            <a:solidFill>
              <a:srgbClr val="333333"/>
            </a:solidFill>
            <a:prstDash val="solid"/>
          </a:ln>
        </p:spPr>
      </p:sp>
      <p:sp>
        <p:nvSpPr>
          <p:cNvPr id="50" name="Shape 48"/>
          <p:cNvSpPr/>
          <p:nvPr/>
        </p:nvSpPr>
        <p:spPr>
          <a:xfrm>
            <a:off x="9738360" y="2670048"/>
            <a:ext cx="169164" cy="169164"/>
          </a:xfrm>
          <a:prstGeom prst="rect">
            <a:avLst/>
          </a:prstGeom>
          <a:solidFill>
            <a:srgbClr val="028090">
              <a:alpha val="50000"/>
            </a:srgbClr>
          </a:solidFill>
          <a:ln w="12700">
            <a:solidFill>
              <a:srgbClr val="333333"/>
            </a:solidFill>
            <a:prstDash val="solid"/>
          </a:ln>
        </p:spPr>
      </p:sp>
      <p:sp>
        <p:nvSpPr>
          <p:cNvPr id="51" name="Shape 49"/>
          <p:cNvSpPr/>
          <p:nvPr/>
        </p:nvSpPr>
        <p:spPr>
          <a:xfrm>
            <a:off x="9953244" y="2670048"/>
            <a:ext cx="169164" cy="169164"/>
          </a:xfrm>
          <a:prstGeom prst="rect">
            <a:avLst/>
          </a:prstGeom>
          <a:solidFill>
            <a:srgbClr val="028090">
              <a:alpha val="46000"/>
            </a:srgbClr>
          </a:solidFill>
          <a:ln w="12700">
            <a:solidFill>
              <a:srgbClr val="333333"/>
            </a:solidFill>
            <a:prstDash val="solid"/>
          </a:ln>
        </p:spPr>
      </p:sp>
      <p:sp>
        <p:nvSpPr>
          <p:cNvPr id="52" name="Shape 50"/>
          <p:cNvSpPr/>
          <p:nvPr/>
        </p:nvSpPr>
        <p:spPr>
          <a:xfrm>
            <a:off x="10168128" y="2670048"/>
            <a:ext cx="169164" cy="169164"/>
          </a:xfrm>
          <a:prstGeom prst="rect">
            <a:avLst/>
          </a:prstGeom>
          <a:solidFill>
            <a:srgbClr val="028090">
              <a:alpha val="43000"/>
            </a:srgbClr>
          </a:solidFill>
          <a:ln w="12700">
            <a:solidFill>
              <a:srgbClr val="333333"/>
            </a:solidFill>
            <a:prstDash val="solid"/>
          </a:ln>
        </p:spPr>
      </p:sp>
      <p:sp>
        <p:nvSpPr>
          <p:cNvPr id="53" name="Shape 51"/>
          <p:cNvSpPr/>
          <p:nvPr/>
        </p:nvSpPr>
        <p:spPr>
          <a:xfrm>
            <a:off x="10383012" y="2670048"/>
            <a:ext cx="169164" cy="169164"/>
          </a:xfrm>
          <a:prstGeom prst="rect">
            <a:avLst/>
          </a:prstGeom>
          <a:solidFill>
            <a:srgbClr val="028090">
              <a:alpha val="39000"/>
            </a:srgbClr>
          </a:solidFill>
          <a:ln w="12700">
            <a:solidFill>
              <a:srgbClr val="333333"/>
            </a:solidFill>
            <a:prstDash val="solid"/>
          </a:ln>
        </p:spPr>
      </p:sp>
      <p:sp>
        <p:nvSpPr>
          <p:cNvPr id="54" name="Shape 52"/>
          <p:cNvSpPr/>
          <p:nvPr/>
        </p:nvSpPr>
        <p:spPr>
          <a:xfrm>
            <a:off x="10597896" y="2670048"/>
            <a:ext cx="169164" cy="169164"/>
          </a:xfrm>
          <a:prstGeom prst="rect">
            <a:avLst/>
          </a:prstGeom>
          <a:solidFill>
            <a:srgbClr val="028090">
              <a:alpha val="36000"/>
            </a:srgbClr>
          </a:solidFill>
          <a:ln w="12700">
            <a:solidFill>
              <a:srgbClr val="333333"/>
            </a:solidFill>
            <a:prstDash val="solid"/>
          </a:ln>
        </p:spPr>
      </p:sp>
      <p:sp>
        <p:nvSpPr>
          <p:cNvPr id="55" name="Shape 53"/>
          <p:cNvSpPr/>
          <p:nvPr/>
        </p:nvSpPr>
        <p:spPr>
          <a:xfrm>
            <a:off x="10812780" y="2670048"/>
            <a:ext cx="169164" cy="169164"/>
          </a:xfrm>
          <a:prstGeom prst="rect">
            <a:avLst/>
          </a:prstGeom>
          <a:solidFill>
            <a:srgbClr val="028090">
              <a:alpha val="32000"/>
            </a:srgbClr>
          </a:solidFill>
          <a:ln w="12700">
            <a:solidFill>
              <a:srgbClr val="333333"/>
            </a:solidFill>
            <a:prstDash val="solid"/>
          </a:ln>
        </p:spPr>
      </p:sp>
      <p:sp>
        <p:nvSpPr>
          <p:cNvPr id="56" name="Shape 54"/>
          <p:cNvSpPr/>
          <p:nvPr/>
        </p:nvSpPr>
        <p:spPr>
          <a:xfrm>
            <a:off x="7589520" y="2884932"/>
            <a:ext cx="169164" cy="169164"/>
          </a:xfrm>
          <a:prstGeom prst="rect">
            <a:avLst/>
          </a:prstGeom>
          <a:solidFill>
            <a:srgbClr val="028090">
              <a:alpha val="85000"/>
            </a:srgbClr>
          </a:solidFill>
          <a:ln w="12700">
            <a:solidFill>
              <a:srgbClr val="333333"/>
            </a:solidFill>
            <a:prstDash val="solid"/>
          </a:ln>
        </p:spPr>
      </p:sp>
      <p:sp>
        <p:nvSpPr>
          <p:cNvPr id="57" name="Shape 55"/>
          <p:cNvSpPr/>
          <p:nvPr/>
        </p:nvSpPr>
        <p:spPr>
          <a:xfrm>
            <a:off x="7804404" y="2884932"/>
            <a:ext cx="169164" cy="169164"/>
          </a:xfrm>
          <a:prstGeom prst="rect">
            <a:avLst/>
          </a:prstGeom>
          <a:solidFill>
            <a:srgbClr val="028090">
              <a:alpha val="81000"/>
            </a:srgbClr>
          </a:solidFill>
          <a:ln w="12700">
            <a:solidFill>
              <a:srgbClr val="333333"/>
            </a:solidFill>
            <a:prstDash val="solid"/>
          </a:ln>
        </p:spPr>
      </p:sp>
      <p:sp>
        <p:nvSpPr>
          <p:cNvPr id="58" name="Shape 56"/>
          <p:cNvSpPr/>
          <p:nvPr/>
        </p:nvSpPr>
        <p:spPr>
          <a:xfrm>
            <a:off x="8019288" y="2884932"/>
            <a:ext cx="169164" cy="169164"/>
          </a:xfrm>
          <a:prstGeom prst="rect">
            <a:avLst/>
          </a:prstGeom>
          <a:solidFill>
            <a:srgbClr val="028090">
              <a:alpha val="78000"/>
            </a:srgbClr>
          </a:solidFill>
          <a:ln w="12700">
            <a:solidFill>
              <a:srgbClr val="333333"/>
            </a:solidFill>
            <a:prstDash val="solid"/>
          </a:ln>
        </p:spPr>
      </p:sp>
      <p:sp>
        <p:nvSpPr>
          <p:cNvPr id="59" name="Shape 57"/>
          <p:cNvSpPr/>
          <p:nvPr/>
        </p:nvSpPr>
        <p:spPr>
          <a:xfrm>
            <a:off x="8234172" y="2884932"/>
            <a:ext cx="169164" cy="169164"/>
          </a:xfrm>
          <a:prstGeom prst="rect">
            <a:avLst/>
          </a:prstGeom>
          <a:solidFill>
            <a:srgbClr val="028090">
              <a:alpha val="74000"/>
            </a:srgbClr>
          </a:solidFill>
          <a:ln w="12700">
            <a:solidFill>
              <a:srgbClr val="333333"/>
            </a:solidFill>
            <a:prstDash val="solid"/>
          </a:ln>
        </p:spPr>
      </p:sp>
      <p:sp>
        <p:nvSpPr>
          <p:cNvPr id="60" name="Shape 58"/>
          <p:cNvSpPr/>
          <p:nvPr/>
        </p:nvSpPr>
        <p:spPr>
          <a:xfrm>
            <a:off x="8449056" y="2884932"/>
            <a:ext cx="169164" cy="169164"/>
          </a:xfrm>
          <a:prstGeom prst="rect">
            <a:avLst/>
          </a:prstGeom>
          <a:solidFill>
            <a:srgbClr val="028090">
              <a:alpha val="71000"/>
            </a:srgbClr>
          </a:solidFill>
          <a:ln w="12700">
            <a:solidFill>
              <a:srgbClr val="333333"/>
            </a:solidFill>
            <a:prstDash val="solid"/>
          </a:ln>
        </p:spPr>
      </p:sp>
      <p:sp>
        <p:nvSpPr>
          <p:cNvPr id="61" name="Shape 59"/>
          <p:cNvSpPr/>
          <p:nvPr/>
        </p:nvSpPr>
        <p:spPr>
          <a:xfrm>
            <a:off x="8663940" y="2884932"/>
            <a:ext cx="169164" cy="169164"/>
          </a:xfrm>
          <a:prstGeom prst="rect">
            <a:avLst/>
          </a:prstGeom>
          <a:solidFill>
            <a:srgbClr val="028090">
              <a:alpha val="67000"/>
            </a:srgbClr>
          </a:solidFill>
          <a:ln w="12700">
            <a:solidFill>
              <a:srgbClr val="333333"/>
            </a:solidFill>
            <a:prstDash val="solid"/>
          </a:ln>
        </p:spPr>
      </p:sp>
      <p:sp>
        <p:nvSpPr>
          <p:cNvPr id="62" name="Shape 60"/>
          <p:cNvSpPr/>
          <p:nvPr/>
        </p:nvSpPr>
        <p:spPr>
          <a:xfrm>
            <a:off x="8878824" y="2884932"/>
            <a:ext cx="169164" cy="169164"/>
          </a:xfrm>
          <a:prstGeom prst="rect">
            <a:avLst/>
          </a:prstGeom>
          <a:solidFill>
            <a:srgbClr val="028090">
              <a:alpha val="64000"/>
            </a:srgbClr>
          </a:solidFill>
          <a:ln w="12700">
            <a:solidFill>
              <a:srgbClr val="333333"/>
            </a:solidFill>
            <a:prstDash val="solid"/>
          </a:ln>
        </p:spPr>
      </p:sp>
      <p:sp>
        <p:nvSpPr>
          <p:cNvPr id="63" name="Shape 61"/>
          <p:cNvSpPr/>
          <p:nvPr/>
        </p:nvSpPr>
        <p:spPr>
          <a:xfrm>
            <a:off x="9093708" y="2884932"/>
            <a:ext cx="169164" cy="169164"/>
          </a:xfrm>
          <a:prstGeom prst="rect">
            <a:avLst/>
          </a:prstGeom>
          <a:solidFill>
            <a:srgbClr val="028090">
              <a:alpha val="60000"/>
            </a:srgbClr>
          </a:solidFill>
          <a:ln w="12700">
            <a:solidFill>
              <a:srgbClr val="333333"/>
            </a:solidFill>
            <a:prstDash val="solid"/>
          </a:ln>
        </p:spPr>
      </p:sp>
      <p:sp>
        <p:nvSpPr>
          <p:cNvPr id="64" name="Shape 62"/>
          <p:cNvSpPr/>
          <p:nvPr/>
        </p:nvSpPr>
        <p:spPr>
          <a:xfrm>
            <a:off x="9308592" y="2884932"/>
            <a:ext cx="169164" cy="169164"/>
          </a:xfrm>
          <a:prstGeom prst="rect">
            <a:avLst/>
          </a:prstGeom>
          <a:solidFill>
            <a:srgbClr val="028090">
              <a:alpha val="57000"/>
            </a:srgbClr>
          </a:solidFill>
          <a:ln w="12700">
            <a:solidFill>
              <a:srgbClr val="333333"/>
            </a:solidFill>
            <a:prstDash val="solid"/>
          </a:ln>
        </p:spPr>
      </p:sp>
      <p:sp>
        <p:nvSpPr>
          <p:cNvPr id="65" name="Shape 63"/>
          <p:cNvSpPr/>
          <p:nvPr/>
        </p:nvSpPr>
        <p:spPr>
          <a:xfrm>
            <a:off x="9523476" y="2884932"/>
            <a:ext cx="169164" cy="169164"/>
          </a:xfrm>
          <a:prstGeom prst="rect">
            <a:avLst/>
          </a:prstGeom>
          <a:solidFill>
            <a:srgbClr val="028090">
              <a:alpha val="53000"/>
            </a:srgbClr>
          </a:solidFill>
          <a:ln w="12700">
            <a:solidFill>
              <a:srgbClr val="333333"/>
            </a:solidFill>
            <a:prstDash val="solid"/>
          </a:ln>
        </p:spPr>
      </p:sp>
      <p:sp>
        <p:nvSpPr>
          <p:cNvPr id="66" name="Shape 64"/>
          <p:cNvSpPr/>
          <p:nvPr/>
        </p:nvSpPr>
        <p:spPr>
          <a:xfrm>
            <a:off x="9738360" y="2884932"/>
            <a:ext cx="169164" cy="169164"/>
          </a:xfrm>
          <a:prstGeom prst="rect">
            <a:avLst/>
          </a:prstGeom>
          <a:solidFill>
            <a:srgbClr val="028090">
              <a:alpha val="50000"/>
            </a:srgbClr>
          </a:solidFill>
          <a:ln w="12700">
            <a:solidFill>
              <a:srgbClr val="333333"/>
            </a:solidFill>
            <a:prstDash val="solid"/>
          </a:ln>
        </p:spPr>
      </p:sp>
      <p:sp>
        <p:nvSpPr>
          <p:cNvPr id="67" name="Shape 65"/>
          <p:cNvSpPr/>
          <p:nvPr/>
        </p:nvSpPr>
        <p:spPr>
          <a:xfrm>
            <a:off x="9953244" y="2884932"/>
            <a:ext cx="169164" cy="169164"/>
          </a:xfrm>
          <a:prstGeom prst="rect">
            <a:avLst/>
          </a:prstGeom>
          <a:solidFill>
            <a:srgbClr val="028090">
              <a:alpha val="46000"/>
            </a:srgbClr>
          </a:solidFill>
          <a:ln w="12700">
            <a:solidFill>
              <a:srgbClr val="333333"/>
            </a:solidFill>
            <a:prstDash val="solid"/>
          </a:ln>
        </p:spPr>
      </p:sp>
      <p:sp>
        <p:nvSpPr>
          <p:cNvPr id="68" name="Shape 66"/>
          <p:cNvSpPr/>
          <p:nvPr/>
        </p:nvSpPr>
        <p:spPr>
          <a:xfrm>
            <a:off x="10168128" y="2884932"/>
            <a:ext cx="169164" cy="169164"/>
          </a:xfrm>
          <a:prstGeom prst="rect">
            <a:avLst/>
          </a:prstGeom>
          <a:solidFill>
            <a:srgbClr val="028090">
              <a:alpha val="43000"/>
            </a:srgbClr>
          </a:solidFill>
          <a:ln w="12700">
            <a:solidFill>
              <a:srgbClr val="333333"/>
            </a:solidFill>
            <a:prstDash val="solid"/>
          </a:ln>
        </p:spPr>
      </p:sp>
      <p:sp>
        <p:nvSpPr>
          <p:cNvPr id="69" name="Shape 67"/>
          <p:cNvSpPr/>
          <p:nvPr/>
        </p:nvSpPr>
        <p:spPr>
          <a:xfrm>
            <a:off x="10383012" y="2884932"/>
            <a:ext cx="169164" cy="169164"/>
          </a:xfrm>
          <a:prstGeom prst="rect">
            <a:avLst/>
          </a:prstGeom>
          <a:solidFill>
            <a:srgbClr val="028090">
              <a:alpha val="39000"/>
            </a:srgbClr>
          </a:solidFill>
          <a:ln w="12700">
            <a:solidFill>
              <a:srgbClr val="333333"/>
            </a:solidFill>
            <a:prstDash val="solid"/>
          </a:ln>
        </p:spPr>
      </p:sp>
      <p:sp>
        <p:nvSpPr>
          <p:cNvPr id="70" name="Shape 68"/>
          <p:cNvSpPr/>
          <p:nvPr/>
        </p:nvSpPr>
        <p:spPr>
          <a:xfrm>
            <a:off x="10597896" y="2884932"/>
            <a:ext cx="169164" cy="169164"/>
          </a:xfrm>
          <a:prstGeom prst="rect">
            <a:avLst/>
          </a:prstGeom>
          <a:solidFill>
            <a:srgbClr val="028090">
              <a:alpha val="36000"/>
            </a:srgbClr>
          </a:solidFill>
          <a:ln w="12700">
            <a:solidFill>
              <a:srgbClr val="333333"/>
            </a:solidFill>
            <a:prstDash val="solid"/>
          </a:ln>
        </p:spPr>
      </p:sp>
      <p:sp>
        <p:nvSpPr>
          <p:cNvPr id="71" name="Shape 69"/>
          <p:cNvSpPr/>
          <p:nvPr/>
        </p:nvSpPr>
        <p:spPr>
          <a:xfrm>
            <a:off x="10812780" y="2884932"/>
            <a:ext cx="169164" cy="169164"/>
          </a:xfrm>
          <a:prstGeom prst="rect">
            <a:avLst/>
          </a:prstGeom>
          <a:solidFill>
            <a:srgbClr val="028090">
              <a:alpha val="32000"/>
            </a:srgbClr>
          </a:solidFill>
          <a:ln w="12700">
            <a:solidFill>
              <a:srgbClr val="333333"/>
            </a:solidFill>
            <a:prstDash val="solid"/>
          </a:ln>
        </p:spPr>
      </p:sp>
      <p:sp>
        <p:nvSpPr>
          <p:cNvPr id="72" name="Shape 70"/>
          <p:cNvSpPr/>
          <p:nvPr/>
        </p:nvSpPr>
        <p:spPr>
          <a:xfrm>
            <a:off x="7589520" y="3099816"/>
            <a:ext cx="169164" cy="169164"/>
          </a:xfrm>
          <a:prstGeom prst="rect">
            <a:avLst/>
          </a:prstGeom>
          <a:solidFill>
            <a:srgbClr val="028090">
              <a:alpha val="85000"/>
            </a:srgbClr>
          </a:solidFill>
          <a:ln w="12700">
            <a:solidFill>
              <a:srgbClr val="333333"/>
            </a:solidFill>
            <a:prstDash val="solid"/>
          </a:ln>
        </p:spPr>
      </p:sp>
      <p:sp>
        <p:nvSpPr>
          <p:cNvPr id="73" name="Shape 71"/>
          <p:cNvSpPr/>
          <p:nvPr/>
        </p:nvSpPr>
        <p:spPr>
          <a:xfrm>
            <a:off x="7804404" y="3099816"/>
            <a:ext cx="169164" cy="169164"/>
          </a:xfrm>
          <a:prstGeom prst="rect">
            <a:avLst/>
          </a:prstGeom>
          <a:solidFill>
            <a:srgbClr val="028090">
              <a:alpha val="81000"/>
            </a:srgbClr>
          </a:solidFill>
          <a:ln w="12700">
            <a:solidFill>
              <a:srgbClr val="333333"/>
            </a:solidFill>
            <a:prstDash val="solid"/>
          </a:ln>
        </p:spPr>
      </p:sp>
      <p:sp>
        <p:nvSpPr>
          <p:cNvPr id="74" name="Shape 72"/>
          <p:cNvSpPr/>
          <p:nvPr/>
        </p:nvSpPr>
        <p:spPr>
          <a:xfrm>
            <a:off x="8019288" y="3099816"/>
            <a:ext cx="169164" cy="169164"/>
          </a:xfrm>
          <a:prstGeom prst="rect">
            <a:avLst/>
          </a:prstGeom>
          <a:solidFill>
            <a:srgbClr val="028090">
              <a:alpha val="78000"/>
            </a:srgbClr>
          </a:solidFill>
          <a:ln w="12700">
            <a:solidFill>
              <a:srgbClr val="333333"/>
            </a:solidFill>
            <a:prstDash val="solid"/>
          </a:ln>
        </p:spPr>
      </p:sp>
      <p:sp>
        <p:nvSpPr>
          <p:cNvPr id="75" name="Shape 73"/>
          <p:cNvSpPr/>
          <p:nvPr/>
        </p:nvSpPr>
        <p:spPr>
          <a:xfrm>
            <a:off x="8234172" y="3099816"/>
            <a:ext cx="169164" cy="169164"/>
          </a:xfrm>
          <a:prstGeom prst="rect">
            <a:avLst/>
          </a:prstGeom>
          <a:solidFill>
            <a:srgbClr val="028090">
              <a:alpha val="74000"/>
            </a:srgbClr>
          </a:solidFill>
          <a:ln w="12700">
            <a:solidFill>
              <a:srgbClr val="333333"/>
            </a:solidFill>
            <a:prstDash val="solid"/>
          </a:ln>
        </p:spPr>
      </p:sp>
      <p:sp>
        <p:nvSpPr>
          <p:cNvPr id="76" name="Shape 74"/>
          <p:cNvSpPr/>
          <p:nvPr/>
        </p:nvSpPr>
        <p:spPr>
          <a:xfrm>
            <a:off x="8449056" y="3099816"/>
            <a:ext cx="169164" cy="169164"/>
          </a:xfrm>
          <a:prstGeom prst="rect">
            <a:avLst/>
          </a:prstGeom>
          <a:solidFill>
            <a:srgbClr val="028090">
              <a:alpha val="71000"/>
            </a:srgbClr>
          </a:solidFill>
          <a:ln w="12700">
            <a:solidFill>
              <a:srgbClr val="333333"/>
            </a:solidFill>
            <a:prstDash val="solid"/>
          </a:ln>
        </p:spPr>
      </p:sp>
      <p:sp>
        <p:nvSpPr>
          <p:cNvPr id="77" name="Shape 75"/>
          <p:cNvSpPr/>
          <p:nvPr/>
        </p:nvSpPr>
        <p:spPr>
          <a:xfrm>
            <a:off x="8663940" y="3099816"/>
            <a:ext cx="169164" cy="169164"/>
          </a:xfrm>
          <a:prstGeom prst="rect">
            <a:avLst/>
          </a:prstGeom>
          <a:solidFill>
            <a:srgbClr val="028090">
              <a:alpha val="67000"/>
            </a:srgbClr>
          </a:solidFill>
          <a:ln w="12700">
            <a:solidFill>
              <a:srgbClr val="333333"/>
            </a:solidFill>
            <a:prstDash val="solid"/>
          </a:ln>
        </p:spPr>
      </p:sp>
      <p:sp>
        <p:nvSpPr>
          <p:cNvPr id="78" name="Shape 76"/>
          <p:cNvSpPr/>
          <p:nvPr/>
        </p:nvSpPr>
        <p:spPr>
          <a:xfrm>
            <a:off x="8878824" y="3099816"/>
            <a:ext cx="169164" cy="169164"/>
          </a:xfrm>
          <a:prstGeom prst="rect">
            <a:avLst/>
          </a:prstGeom>
          <a:solidFill>
            <a:srgbClr val="028090">
              <a:alpha val="64000"/>
            </a:srgbClr>
          </a:solidFill>
          <a:ln w="12700">
            <a:solidFill>
              <a:srgbClr val="333333"/>
            </a:solidFill>
            <a:prstDash val="solid"/>
          </a:ln>
        </p:spPr>
      </p:sp>
      <p:sp>
        <p:nvSpPr>
          <p:cNvPr id="79" name="Shape 77"/>
          <p:cNvSpPr/>
          <p:nvPr/>
        </p:nvSpPr>
        <p:spPr>
          <a:xfrm>
            <a:off x="9093708" y="3099816"/>
            <a:ext cx="169164" cy="169164"/>
          </a:xfrm>
          <a:prstGeom prst="rect">
            <a:avLst/>
          </a:prstGeom>
          <a:solidFill>
            <a:srgbClr val="028090">
              <a:alpha val="60000"/>
            </a:srgbClr>
          </a:solidFill>
          <a:ln w="12700">
            <a:solidFill>
              <a:srgbClr val="333333"/>
            </a:solidFill>
            <a:prstDash val="solid"/>
          </a:ln>
        </p:spPr>
      </p:sp>
      <p:sp>
        <p:nvSpPr>
          <p:cNvPr id="80" name="Shape 78"/>
          <p:cNvSpPr/>
          <p:nvPr/>
        </p:nvSpPr>
        <p:spPr>
          <a:xfrm>
            <a:off x="9308592" y="3099816"/>
            <a:ext cx="169164" cy="169164"/>
          </a:xfrm>
          <a:prstGeom prst="rect">
            <a:avLst/>
          </a:prstGeom>
          <a:solidFill>
            <a:srgbClr val="028090">
              <a:alpha val="57000"/>
            </a:srgbClr>
          </a:solidFill>
          <a:ln w="12700">
            <a:solidFill>
              <a:srgbClr val="333333"/>
            </a:solidFill>
            <a:prstDash val="solid"/>
          </a:ln>
        </p:spPr>
      </p:sp>
      <p:sp>
        <p:nvSpPr>
          <p:cNvPr id="81" name="Shape 79"/>
          <p:cNvSpPr/>
          <p:nvPr/>
        </p:nvSpPr>
        <p:spPr>
          <a:xfrm>
            <a:off x="9523476" y="3099816"/>
            <a:ext cx="169164" cy="169164"/>
          </a:xfrm>
          <a:prstGeom prst="rect">
            <a:avLst/>
          </a:prstGeom>
          <a:solidFill>
            <a:srgbClr val="028090">
              <a:alpha val="53000"/>
            </a:srgbClr>
          </a:solidFill>
          <a:ln w="12700">
            <a:solidFill>
              <a:srgbClr val="333333"/>
            </a:solidFill>
            <a:prstDash val="solid"/>
          </a:ln>
        </p:spPr>
      </p:sp>
      <p:sp>
        <p:nvSpPr>
          <p:cNvPr id="82" name="Shape 80"/>
          <p:cNvSpPr/>
          <p:nvPr/>
        </p:nvSpPr>
        <p:spPr>
          <a:xfrm>
            <a:off x="9738360" y="3099816"/>
            <a:ext cx="169164" cy="169164"/>
          </a:xfrm>
          <a:prstGeom prst="rect">
            <a:avLst/>
          </a:prstGeom>
          <a:solidFill>
            <a:srgbClr val="028090">
              <a:alpha val="50000"/>
            </a:srgbClr>
          </a:solidFill>
          <a:ln w="12700">
            <a:solidFill>
              <a:srgbClr val="333333"/>
            </a:solidFill>
            <a:prstDash val="solid"/>
          </a:ln>
        </p:spPr>
      </p:sp>
      <p:sp>
        <p:nvSpPr>
          <p:cNvPr id="83" name="Shape 81"/>
          <p:cNvSpPr/>
          <p:nvPr/>
        </p:nvSpPr>
        <p:spPr>
          <a:xfrm>
            <a:off x="9953244" y="3099816"/>
            <a:ext cx="169164" cy="169164"/>
          </a:xfrm>
          <a:prstGeom prst="rect">
            <a:avLst/>
          </a:prstGeom>
          <a:solidFill>
            <a:srgbClr val="028090">
              <a:alpha val="46000"/>
            </a:srgbClr>
          </a:solidFill>
          <a:ln w="12700">
            <a:solidFill>
              <a:srgbClr val="333333"/>
            </a:solidFill>
            <a:prstDash val="solid"/>
          </a:ln>
        </p:spPr>
      </p:sp>
      <p:sp>
        <p:nvSpPr>
          <p:cNvPr id="84" name="Shape 82"/>
          <p:cNvSpPr/>
          <p:nvPr/>
        </p:nvSpPr>
        <p:spPr>
          <a:xfrm>
            <a:off x="10168128" y="3099816"/>
            <a:ext cx="169164" cy="169164"/>
          </a:xfrm>
          <a:prstGeom prst="rect">
            <a:avLst/>
          </a:prstGeom>
          <a:solidFill>
            <a:srgbClr val="028090">
              <a:alpha val="43000"/>
            </a:srgbClr>
          </a:solidFill>
          <a:ln w="12700">
            <a:solidFill>
              <a:srgbClr val="333333"/>
            </a:solidFill>
            <a:prstDash val="solid"/>
          </a:ln>
        </p:spPr>
      </p:sp>
      <p:sp>
        <p:nvSpPr>
          <p:cNvPr id="85" name="Shape 83"/>
          <p:cNvSpPr/>
          <p:nvPr/>
        </p:nvSpPr>
        <p:spPr>
          <a:xfrm>
            <a:off x="10383012" y="3099816"/>
            <a:ext cx="169164" cy="169164"/>
          </a:xfrm>
          <a:prstGeom prst="rect">
            <a:avLst/>
          </a:prstGeom>
          <a:solidFill>
            <a:srgbClr val="028090">
              <a:alpha val="39000"/>
            </a:srgbClr>
          </a:solidFill>
          <a:ln w="12700">
            <a:solidFill>
              <a:srgbClr val="333333"/>
            </a:solidFill>
            <a:prstDash val="solid"/>
          </a:ln>
        </p:spPr>
      </p:sp>
      <p:sp>
        <p:nvSpPr>
          <p:cNvPr id="86" name="Shape 84"/>
          <p:cNvSpPr/>
          <p:nvPr/>
        </p:nvSpPr>
        <p:spPr>
          <a:xfrm>
            <a:off x="10597896" y="3099816"/>
            <a:ext cx="169164" cy="169164"/>
          </a:xfrm>
          <a:prstGeom prst="rect">
            <a:avLst/>
          </a:prstGeom>
          <a:solidFill>
            <a:srgbClr val="028090">
              <a:alpha val="36000"/>
            </a:srgbClr>
          </a:solidFill>
          <a:ln w="12700">
            <a:solidFill>
              <a:srgbClr val="333333"/>
            </a:solidFill>
            <a:prstDash val="solid"/>
          </a:ln>
        </p:spPr>
      </p:sp>
      <p:sp>
        <p:nvSpPr>
          <p:cNvPr id="87" name="Shape 85"/>
          <p:cNvSpPr/>
          <p:nvPr/>
        </p:nvSpPr>
        <p:spPr>
          <a:xfrm>
            <a:off x="10812780" y="3099816"/>
            <a:ext cx="169164" cy="169164"/>
          </a:xfrm>
          <a:prstGeom prst="rect">
            <a:avLst/>
          </a:prstGeom>
          <a:solidFill>
            <a:srgbClr val="028090">
              <a:alpha val="32000"/>
            </a:srgbClr>
          </a:solidFill>
          <a:ln w="12700">
            <a:solidFill>
              <a:srgbClr val="333333"/>
            </a:solidFill>
            <a:prstDash val="solid"/>
          </a:ln>
        </p:spPr>
      </p:sp>
      <p:sp>
        <p:nvSpPr>
          <p:cNvPr id="88" name="Shape 86"/>
          <p:cNvSpPr/>
          <p:nvPr/>
        </p:nvSpPr>
        <p:spPr>
          <a:xfrm>
            <a:off x="7589520" y="3314700"/>
            <a:ext cx="169164" cy="169164"/>
          </a:xfrm>
          <a:prstGeom prst="rect">
            <a:avLst/>
          </a:prstGeom>
          <a:solidFill>
            <a:srgbClr val="028090">
              <a:alpha val="85000"/>
            </a:srgbClr>
          </a:solidFill>
          <a:ln w="12700">
            <a:solidFill>
              <a:srgbClr val="333333"/>
            </a:solidFill>
            <a:prstDash val="solid"/>
          </a:ln>
        </p:spPr>
      </p:sp>
      <p:sp>
        <p:nvSpPr>
          <p:cNvPr id="89" name="Shape 87"/>
          <p:cNvSpPr/>
          <p:nvPr/>
        </p:nvSpPr>
        <p:spPr>
          <a:xfrm>
            <a:off x="7804404" y="3314700"/>
            <a:ext cx="169164" cy="169164"/>
          </a:xfrm>
          <a:prstGeom prst="rect">
            <a:avLst/>
          </a:prstGeom>
          <a:solidFill>
            <a:srgbClr val="028090">
              <a:alpha val="81000"/>
            </a:srgbClr>
          </a:solidFill>
          <a:ln w="12700">
            <a:solidFill>
              <a:srgbClr val="333333"/>
            </a:solidFill>
            <a:prstDash val="solid"/>
          </a:ln>
        </p:spPr>
      </p:sp>
      <p:sp>
        <p:nvSpPr>
          <p:cNvPr id="90" name="Shape 88"/>
          <p:cNvSpPr/>
          <p:nvPr/>
        </p:nvSpPr>
        <p:spPr>
          <a:xfrm>
            <a:off x="8019288" y="3314700"/>
            <a:ext cx="169164" cy="169164"/>
          </a:xfrm>
          <a:prstGeom prst="rect">
            <a:avLst/>
          </a:prstGeom>
          <a:solidFill>
            <a:srgbClr val="028090">
              <a:alpha val="78000"/>
            </a:srgbClr>
          </a:solidFill>
          <a:ln w="12700">
            <a:solidFill>
              <a:srgbClr val="333333"/>
            </a:solidFill>
            <a:prstDash val="solid"/>
          </a:ln>
        </p:spPr>
      </p:sp>
      <p:sp>
        <p:nvSpPr>
          <p:cNvPr id="91" name="Shape 89"/>
          <p:cNvSpPr/>
          <p:nvPr/>
        </p:nvSpPr>
        <p:spPr>
          <a:xfrm>
            <a:off x="8234172" y="3314700"/>
            <a:ext cx="169164" cy="169164"/>
          </a:xfrm>
          <a:prstGeom prst="rect">
            <a:avLst/>
          </a:prstGeom>
          <a:solidFill>
            <a:srgbClr val="028090">
              <a:alpha val="74000"/>
            </a:srgbClr>
          </a:solidFill>
          <a:ln w="12700">
            <a:solidFill>
              <a:srgbClr val="333333"/>
            </a:solidFill>
            <a:prstDash val="solid"/>
          </a:ln>
        </p:spPr>
      </p:sp>
      <p:sp>
        <p:nvSpPr>
          <p:cNvPr id="92" name="Shape 90"/>
          <p:cNvSpPr/>
          <p:nvPr/>
        </p:nvSpPr>
        <p:spPr>
          <a:xfrm>
            <a:off x="8449056" y="3314700"/>
            <a:ext cx="169164" cy="169164"/>
          </a:xfrm>
          <a:prstGeom prst="rect">
            <a:avLst/>
          </a:prstGeom>
          <a:solidFill>
            <a:srgbClr val="028090">
              <a:alpha val="71000"/>
            </a:srgbClr>
          </a:solidFill>
          <a:ln w="12700">
            <a:solidFill>
              <a:srgbClr val="333333"/>
            </a:solidFill>
            <a:prstDash val="solid"/>
          </a:ln>
        </p:spPr>
      </p:sp>
      <p:sp>
        <p:nvSpPr>
          <p:cNvPr id="93" name="Shape 91"/>
          <p:cNvSpPr/>
          <p:nvPr/>
        </p:nvSpPr>
        <p:spPr>
          <a:xfrm>
            <a:off x="8663940" y="3314700"/>
            <a:ext cx="169164" cy="169164"/>
          </a:xfrm>
          <a:prstGeom prst="rect">
            <a:avLst/>
          </a:prstGeom>
          <a:solidFill>
            <a:srgbClr val="028090">
              <a:alpha val="67000"/>
            </a:srgbClr>
          </a:solidFill>
          <a:ln w="12700">
            <a:solidFill>
              <a:srgbClr val="333333"/>
            </a:solidFill>
            <a:prstDash val="solid"/>
          </a:ln>
        </p:spPr>
      </p:sp>
      <p:sp>
        <p:nvSpPr>
          <p:cNvPr id="94" name="Shape 92"/>
          <p:cNvSpPr/>
          <p:nvPr/>
        </p:nvSpPr>
        <p:spPr>
          <a:xfrm>
            <a:off x="8878824" y="3314700"/>
            <a:ext cx="169164" cy="169164"/>
          </a:xfrm>
          <a:prstGeom prst="rect">
            <a:avLst/>
          </a:prstGeom>
          <a:solidFill>
            <a:srgbClr val="028090">
              <a:alpha val="64000"/>
            </a:srgbClr>
          </a:solidFill>
          <a:ln w="12700">
            <a:solidFill>
              <a:srgbClr val="333333"/>
            </a:solidFill>
            <a:prstDash val="solid"/>
          </a:ln>
        </p:spPr>
      </p:sp>
      <p:sp>
        <p:nvSpPr>
          <p:cNvPr id="95" name="Shape 93"/>
          <p:cNvSpPr/>
          <p:nvPr/>
        </p:nvSpPr>
        <p:spPr>
          <a:xfrm>
            <a:off x="9093708" y="3314700"/>
            <a:ext cx="169164" cy="169164"/>
          </a:xfrm>
          <a:prstGeom prst="rect">
            <a:avLst/>
          </a:prstGeom>
          <a:solidFill>
            <a:srgbClr val="028090">
              <a:alpha val="60000"/>
            </a:srgbClr>
          </a:solidFill>
          <a:ln w="12700">
            <a:solidFill>
              <a:srgbClr val="333333"/>
            </a:solidFill>
            <a:prstDash val="solid"/>
          </a:ln>
        </p:spPr>
      </p:sp>
      <p:sp>
        <p:nvSpPr>
          <p:cNvPr id="96" name="Shape 94"/>
          <p:cNvSpPr/>
          <p:nvPr/>
        </p:nvSpPr>
        <p:spPr>
          <a:xfrm>
            <a:off x="9308592" y="3314700"/>
            <a:ext cx="169164" cy="169164"/>
          </a:xfrm>
          <a:prstGeom prst="rect">
            <a:avLst/>
          </a:prstGeom>
          <a:solidFill>
            <a:srgbClr val="028090">
              <a:alpha val="57000"/>
            </a:srgbClr>
          </a:solidFill>
          <a:ln w="12700">
            <a:solidFill>
              <a:srgbClr val="333333"/>
            </a:solidFill>
            <a:prstDash val="solid"/>
          </a:ln>
        </p:spPr>
      </p:sp>
      <p:sp>
        <p:nvSpPr>
          <p:cNvPr id="97" name="Shape 95"/>
          <p:cNvSpPr/>
          <p:nvPr/>
        </p:nvSpPr>
        <p:spPr>
          <a:xfrm>
            <a:off x="9523476" y="3314700"/>
            <a:ext cx="169164" cy="169164"/>
          </a:xfrm>
          <a:prstGeom prst="rect">
            <a:avLst/>
          </a:prstGeom>
          <a:solidFill>
            <a:srgbClr val="028090">
              <a:alpha val="53000"/>
            </a:srgbClr>
          </a:solidFill>
          <a:ln w="12700">
            <a:solidFill>
              <a:srgbClr val="333333"/>
            </a:solidFill>
            <a:prstDash val="solid"/>
          </a:ln>
        </p:spPr>
      </p:sp>
      <p:sp>
        <p:nvSpPr>
          <p:cNvPr id="98" name="Shape 96"/>
          <p:cNvSpPr/>
          <p:nvPr/>
        </p:nvSpPr>
        <p:spPr>
          <a:xfrm>
            <a:off x="9738360" y="3314700"/>
            <a:ext cx="169164" cy="169164"/>
          </a:xfrm>
          <a:prstGeom prst="rect">
            <a:avLst/>
          </a:prstGeom>
          <a:solidFill>
            <a:srgbClr val="028090">
              <a:alpha val="50000"/>
            </a:srgbClr>
          </a:solidFill>
          <a:ln w="12700">
            <a:solidFill>
              <a:srgbClr val="333333"/>
            </a:solidFill>
            <a:prstDash val="solid"/>
          </a:ln>
        </p:spPr>
      </p:sp>
      <p:sp>
        <p:nvSpPr>
          <p:cNvPr id="99" name="Shape 97"/>
          <p:cNvSpPr/>
          <p:nvPr/>
        </p:nvSpPr>
        <p:spPr>
          <a:xfrm>
            <a:off x="9953244" y="3314700"/>
            <a:ext cx="169164" cy="169164"/>
          </a:xfrm>
          <a:prstGeom prst="rect">
            <a:avLst/>
          </a:prstGeom>
          <a:solidFill>
            <a:srgbClr val="028090">
              <a:alpha val="46000"/>
            </a:srgbClr>
          </a:solidFill>
          <a:ln w="12700">
            <a:solidFill>
              <a:srgbClr val="333333"/>
            </a:solidFill>
            <a:prstDash val="solid"/>
          </a:ln>
        </p:spPr>
      </p:sp>
      <p:sp>
        <p:nvSpPr>
          <p:cNvPr id="100" name="Shape 98"/>
          <p:cNvSpPr/>
          <p:nvPr/>
        </p:nvSpPr>
        <p:spPr>
          <a:xfrm>
            <a:off x="10168128" y="3314700"/>
            <a:ext cx="169164" cy="169164"/>
          </a:xfrm>
          <a:prstGeom prst="rect">
            <a:avLst/>
          </a:prstGeom>
          <a:solidFill>
            <a:srgbClr val="028090">
              <a:alpha val="43000"/>
            </a:srgbClr>
          </a:solidFill>
          <a:ln w="12700">
            <a:solidFill>
              <a:srgbClr val="333333"/>
            </a:solidFill>
            <a:prstDash val="solid"/>
          </a:ln>
        </p:spPr>
      </p:sp>
      <p:sp>
        <p:nvSpPr>
          <p:cNvPr id="101" name="Shape 99"/>
          <p:cNvSpPr/>
          <p:nvPr/>
        </p:nvSpPr>
        <p:spPr>
          <a:xfrm>
            <a:off x="10383012" y="3314700"/>
            <a:ext cx="169164" cy="169164"/>
          </a:xfrm>
          <a:prstGeom prst="rect">
            <a:avLst/>
          </a:prstGeom>
          <a:solidFill>
            <a:srgbClr val="028090">
              <a:alpha val="39000"/>
            </a:srgbClr>
          </a:solidFill>
          <a:ln w="12700">
            <a:solidFill>
              <a:srgbClr val="333333"/>
            </a:solidFill>
            <a:prstDash val="solid"/>
          </a:ln>
        </p:spPr>
      </p:sp>
      <p:sp>
        <p:nvSpPr>
          <p:cNvPr id="102" name="Shape 100"/>
          <p:cNvSpPr/>
          <p:nvPr/>
        </p:nvSpPr>
        <p:spPr>
          <a:xfrm>
            <a:off x="10597896" y="3314700"/>
            <a:ext cx="169164" cy="169164"/>
          </a:xfrm>
          <a:prstGeom prst="rect">
            <a:avLst/>
          </a:prstGeom>
          <a:solidFill>
            <a:srgbClr val="028090">
              <a:alpha val="36000"/>
            </a:srgbClr>
          </a:solidFill>
          <a:ln w="12700">
            <a:solidFill>
              <a:srgbClr val="333333"/>
            </a:solidFill>
            <a:prstDash val="solid"/>
          </a:ln>
        </p:spPr>
      </p:sp>
      <p:sp>
        <p:nvSpPr>
          <p:cNvPr id="103" name="Shape 101"/>
          <p:cNvSpPr/>
          <p:nvPr/>
        </p:nvSpPr>
        <p:spPr>
          <a:xfrm>
            <a:off x="10812780" y="3314700"/>
            <a:ext cx="169164" cy="169164"/>
          </a:xfrm>
          <a:prstGeom prst="rect">
            <a:avLst/>
          </a:prstGeom>
          <a:solidFill>
            <a:srgbClr val="028090">
              <a:alpha val="32000"/>
            </a:srgbClr>
          </a:solidFill>
          <a:ln w="12700">
            <a:solidFill>
              <a:srgbClr val="333333"/>
            </a:solidFill>
            <a:prstDash val="solid"/>
          </a:ln>
        </p:spPr>
      </p:sp>
      <p:sp>
        <p:nvSpPr>
          <p:cNvPr id="104" name="Shape 102"/>
          <p:cNvSpPr/>
          <p:nvPr/>
        </p:nvSpPr>
        <p:spPr>
          <a:xfrm>
            <a:off x="7589520" y="3529584"/>
            <a:ext cx="169164" cy="169164"/>
          </a:xfrm>
          <a:prstGeom prst="rect">
            <a:avLst/>
          </a:prstGeom>
          <a:solidFill>
            <a:srgbClr val="E5484D">
              <a:alpha val="85000"/>
            </a:srgbClr>
          </a:solidFill>
          <a:ln w="12700">
            <a:solidFill>
              <a:srgbClr val="333333"/>
            </a:solidFill>
            <a:prstDash val="solid"/>
          </a:ln>
        </p:spPr>
      </p:sp>
      <p:sp>
        <p:nvSpPr>
          <p:cNvPr id="105" name="Shape 103"/>
          <p:cNvSpPr/>
          <p:nvPr/>
        </p:nvSpPr>
        <p:spPr>
          <a:xfrm>
            <a:off x="7804404" y="3529584"/>
            <a:ext cx="169164" cy="169164"/>
          </a:xfrm>
          <a:prstGeom prst="rect">
            <a:avLst/>
          </a:prstGeom>
          <a:solidFill>
            <a:srgbClr val="E5484D">
              <a:alpha val="81000"/>
            </a:srgbClr>
          </a:solidFill>
          <a:ln w="12700">
            <a:solidFill>
              <a:srgbClr val="333333"/>
            </a:solidFill>
            <a:prstDash val="solid"/>
          </a:ln>
        </p:spPr>
      </p:sp>
      <p:sp>
        <p:nvSpPr>
          <p:cNvPr id="106" name="Shape 104"/>
          <p:cNvSpPr/>
          <p:nvPr/>
        </p:nvSpPr>
        <p:spPr>
          <a:xfrm>
            <a:off x="8019288" y="3529584"/>
            <a:ext cx="169164" cy="169164"/>
          </a:xfrm>
          <a:prstGeom prst="rect">
            <a:avLst/>
          </a:prstGeom>
          <a:solidFill>
            <a:srgbClr val="E5484D">
              <a:alpha val="78000"/>
            </a:srgbClr>
          </a:solidFill>
          <a:ln w="12700">
            <a:solidFill>
              <a:srgbClr val="333333"/>
            </a:solidFill>
            <a:prstDash val="solid"/>
          </a:ln>
        </p:spPr>
      </p:sp>
      <p:sp>
        <p:nvSpPr>
          <p:cNvPr id="107" name="Shape 105"/>
          <p:cNvSpPr/>
          <p:nvPr/>
        </p:nvSpPr>
        <p:spPr>
          <a:xfrm>
            <a:off x="8234172" y="3529584"/>
            <a:ext cx="169164" cy="169164"/>
          </a:xfrm>
          <a:prstGeom prst="rect">
            <a:avLst/>
          </a:prstGeom>
          <a:solidFill>
            <a:srgbClr val="E5484D">
              <a:alpha val="74000"/>
            </a:srgbClr>
          </a:solidFill>
          <a:ln w="12700">
            <a:solidFill>
              <a:srgbClr val="333333"/>
            </a:solidFill>
            <a:prstDash val="solid"/>
          </a:ln>
        </p:spPr>
      </p:sp>
      <p:sp>
        <p:nvSpPr>
          <p:cNvPr id="108" name="Shape 106"/>
          <p:cNvSpPr/>
          <p:nvPr/>
        </p:nvSpPr>
        <p:spPr>
          <a:xfrm>
            <a:off x="8449056" y="3529584"/>
            <a:ext cx="169164" cy="169164"/>
          </a:xfrm>
          <a:prstGeom prst="rect">
            <a:avLst/>
          </a:prstGeom>
          <a:solidFill>
            <a:srgbClr val="E5484D">
              <a:alpha val="71000"/>
            </a:srgbClr>
          </a:solidFill>
          <a:ln w="12700">
            <a:solidFill>
              <a:srgbClr val="333333"/>
            </a:solidFill>
            <a:prstDash val="solid"/>
          </a:ln>
        </p:spPr>
      </p:sp>
      <p:sp>
        <p:nvSpPr>
          <p:cNvPr id="109" name="Shape 107"/>
          <p:cNvSpPr/>
          <p:nvPr/>
        </p:nvSpPr>
        <p:spPr>
          <a:xfrm>
            <a:off x="8663940" y="3529584"/>
            <a:ext cx="169164" cy="169164"/>
          </a:xfrm>
          <a:prstGeom prst="rect">
            <a:avLst/>
          </a:prstGeom>
          <a:solidFill>
            <a:srgbClr val="E5484D">
              <a:alpha val="67000"/>
            </a:srgbClr>
          </a:solidFill>
          <a:ln w="12700">
            <a:solidFill>
              <a:srgbClr val="333333"/>
            </a:solidFill>
            <a:prstDash val="solid"/>
          </a:ln>
        </p:spPr>
      </p:sp>
      <p:sp>
        <p:nvSpPr>
          <p:cNvPr id="110" name="Shape 108"/>
          <p:cNvSpPr/>
          <p:nvPr/>
        </p:nvSpPr>
        <p:spPr>
          <a:xfrm>
            <a:off x="8878824" y="3529584"/>
            <a:ext cx="169164" cy="169164"/>
          </a:xfrm>
          <a:prstGeom prst="rect">
            <a:avLst/>
          </a:prstGeom>
          <a:solidFill>
            <a:srgbClr val="E5484D">
              <a:alpha val="64000"/>
            </a:srgbClr>
          </a:solidFill>
          <a:ln w="12700">
            <a:solidFill>
              <a:srgbClr val="333333"/>
            </a:solidFill>
            <a:prstDash val="solid"/>
          </a:ln>
        </p:spPr>
      </p:sp>
      <p:sp>
        <p:nvSpPr>
          <p:cNvPr id="111" name="Shape 109"/>
          <p:cNvSpPr/>
          <p:nvPr/>
        </p:nvSpPr>
        <p:spPr>
          <a:xfrm>
            <a:off x="9093708" y="3529584"/>
            <a:ext cx="169164" cy="169164"/>
          </a:xfrm>
          <a:prstGeom prst="rect">
            <a:avLst/>
          </a:prstGeom>
          <a:solidFill>
            <a:srgbClr val="E5484D">
              <a:alpha val="60000"/>
            </a:srgbClr>
          </a:solidFill>
          <a:ln w="12700">
            <a:solidFill>
              <a:srgbClr val="333333"/>
            </a:solidFill>
            <a:prstDash val="solid"/>
          </a:ln>
        </p:spPr>
      </p:sp>
      <p:sp>
        <p:nvSpPr>
          <p:cNvPr id="112" name="Shape 110"/>
          <p:cNvSpPr/>
          <p:nvPr/>
        </p:nvSpPr>
        <p:spPr>
          <a:xfrm>
            <a:off x="9308592" y="3529584"/>
            <a:ext cx="169164" cy="169164"/>
          </a:xfrm>
          <a:prstGeom prst="rect">
            <a:avLst/>
          </a:prstGeom>
          <a:solidFill>
            <a:srgbClr val="E5484D">
              <a:alpha val="57000"/>
            </a:srgbClr>
          </a:solidFill>
          <a:ln w="12700">
            <a:solidFill>
              <a:srgbClr val="333333"/>
            </a:solidFill>
            <a:prstDash val="solid"/>
          </a:ln>
        </p:spPr>
      </p:sp>
      <p:sp>
        <p:nvSpPr>
          <p:cNvPr id="113" name="Shape 111"/>
          <p:cNvSpPr/>
          <p:nvPr/>
        </p:nvSpPr>
        <p:spPr>
          <a:xfrm>
            <a:off x="9523476" y="3529584"/>
            <a:ext cx="169164" cy="169164"/>
          </a:xfrm>
          <a:prstGeom prst="rect">
            <a:avLst/>
          </a:prstGeom>
          <a:solidFill>
            <a:srgbClr val="E5484D">
              <a:alpha val="53000"/>
            </a:srgbClr>
          </a:solidFill>
          <a:ln w="12700">
            <a:solidFill>
              <a:srgbClr val="333333"/>
            </a:solidFill>
            <a:prstDash val="solid"/>
          </a:ln>
        </p:spPr>
      </p:sp>
      <p:sp>
        <p:nvSpPr>
          <p:cNvPr id="114" name="Shape 112"/>
          <p:cNvSpPr/>
          <p:nvPr/>
        </p:nvSpPr>
        <p:spPr>
          <a:xfrm>
            <a:off x="9738360" y="3529584"/>
            <a:ext cx="169164" cy="169164"/>
          </a:xfrm>
          <a:prstGeom prst="rect">
            <a:avLst/>
          </a:prstGeom>
          <a:solidFill>
            <a:srgbClr val="E5484D">
              <a:alpha val="50000"/>
            </a:srgbClr>
          </a:solidFill>
          <a:ln w="12700">
            <a:solidFill>
              <a:srgbClr val="333333"/>
            </a:solidFill>
            <a:prstDash val="solid"/>
          </a:ln>
        </p:spPr>
      </p:sp>
      <p:sp>
        <p:nvSpPr>
          <p:cNvPr id="115" name="Shape 113"/>
          <p:cNvSpPr/>
          <p:nvPr/>
        </p:nvSpPr>
        <p:spPr>
          <a:xfrm>
            <a:off x="9953244" y="3529584"/>
            <a:ext cx="169164" cy="169164"/>
          </a:xfrm>
          <a:prstGeom prst="rect">
            <a:avLst/>
          </a:prstGeom>
          <a:solidFill>
            <a:srgbClr val="E5484D">
              <a:alpha val="46000"/>
            </a:srgbClr>
          </a:solidFill>
          <a:ln w="12700">
            <a:solidFill>
              <a:srgbClr val="333333"/>
            </a:solidFill>
            <a:prstDash val="solid"/>
          </a:ln>
        </p:spPr>
      </p:sp>
      <p:sp>
        <p:nvSpPr>
          <p:cNvPr id="116" name="Shape 114"/>
          <p:cNvSpPr/>
          <p:nvPr/>
        </p:nvSpPr>
        <p:spPr>
          <a:xfrm>
            <a:off x="10168128" y="3529584"/>
            <a:ext cx="169164" cy="169164"/>
          </a:xfrm>
          <a:prstGeom prst="rect">
            <a:avLst/>
          </a:prstGeom>
          <a:solidFill>
            <a:srgbClr val="E5484D">
              <a:alpha val="43000"/>
            </a:srgbClr>
          </a:solidFill>
          <a:ln w="12700">
            <a:solidFill>
              <a:srgbClr val="333333"/>
            </a:solidFill>
            <a:prstDash val="solid"/>
          </a:ln>
        </p:spPr>
      </p:sp>
      <p:sp>
        <p:nvSpPr>
          <p:cNvPr id="117" name="Shape 115"/>
          <p:cNvSpPr/>
          <p:nvPr/>
        </p:nvSpPr>
        <p:spPr>
          <a:xfrm>
            <a:off x="10383012" y="3529584"/>
            <a:ext cx="169164" cy="169164"/>
          </a:xfrm>
          <a:prstGeom prst="rect">
            <a:avLst/>
          </a:prstGeom>
          <a:solidFill>
            <a:srgbClr val="E5484D">
              <a:alpha val="39000"/>
            </a:srgbClr>
          </a:solidFill>
          <a:ln w="12700">
            <a:solidFill>
              <a:srgbClr val="333333"/>
            </a:solidFill>
            <a:prstDash val="solid"/>
          </a:ln>
        </p:spPr>
      </p:sp>
      <p:sp>
        <p:nvSpPr>
          <p:cNvPr id="118" name="Shape 116"/>
          <p:cNvSpPr/>
          <p:nvPr/>
        </p:nvSpPr>
        <p:spPr>
          <a:xfrm>
            <a:off x="10597896" y="3529584"/>
            <a:ext cx="169164" cy="169164"/>
          </a:xfrm>
          <a:prstGeom prst="rect">
            <a:avLst/>
          </a:prstGeom>
          <a:solidFill>
            <a:srgbClr val="E5484D">
              <a:alpha val="36000"/>
            </a:srgbClr>
          </a:solidFill>
          <a:ln w="12700">
            <a:solidFill>
              <a:srgbClr val="333333"/>
            </a:solidFill>
            <a:prstDash val="solid"/>
          </a:ln>
        </p:spPr>
      </p:sp>
      <p:sp>
        <p:nvSpPr>
          <p:cNvPr id="119" name="Shape 117"/>
          <p:cNvSpPr/>
          <p:nvPr/>
        </p:nvSpPr>
        <p:spPr>
          <a:xfrm>
            <a:off x="10812780" y="3529584"/>
            <a:ext cx="169164" cy="169164"/>
          </a:xfrm>
          <a:prstGeom prst="rect">
            <a:avLst/>
          </a:prstGeom>
          <a:solidFill>
            <a:srgbClr val="E5484D">
              <a:alpha val="32000"/>
            </a:srgbClr>
          </a:solidFill>
          <a:ln w="12700">
            <a:solidFill>
              <a:srgbClr val="333333"/>
            </a:solidFill>
            <a:prstDash val="solid"/>
          </a:ln>
        </p:spPr>
      </p:sp>
      <p:sp>
        <p:nvSpPr>
          <p:cNvPr id="120" name="Shape 118"/>
          <p:cNvSpPr/>
          <p:nvPr/>
        </p:nvSpPr>
        <p:spPr>
          <a:xfrm>
            <a:off x="7589520" y="3744468"/>
            <a:ext cx="169164" cy="169164"/>
          </a:xfrm>
          <a:prstGeom prst="rect">
            <a:avLst/>
          </a:prstGeom>
          <a:solidFill>
            <a:srgbClr val="E5484D">
              <a:alpha val="85000"/>
            </a:srgbClr>
          </a:solidFill>
          <a:ln w="12700">
            <a:solidFill>
              <a:srgbClr val="333333"/>
            </a:solidFill>
            <a:prstDash val="solid"/>
          </a:ln>
        </p:spPr>
      </p:sp>
      <p:sp>
        <p:nvSpPr>
          <p:cNvPr id="121" name="Shape 119"/>
          <p:cNvSpPr/>
          <p:nvPr/>
        </p:nvSpPr>
        <p:spPr>
          <a:xfrm>
            <a:off x="7804404" y="3744468"/>
            <a:ext cx="169164" cy="169164"/>
          </a:xfrm>
          <a:prstGeom prst="rect">
            <a:avLst/>
          </a:prstGeom>
          <a:solidFill>
            <a:srgbClr val="E5484D">
              <a:alpha val="81000"/>
            </a:srgbClr>
          </a:solidFill>
          <a:ln w="12700">
            <a:solidFill>
              <a:srgbClr val="333333"/>
            </a:solidFill>
            <a:prstDash val="solid"/>
          </a:ln>
        </p:spPr>
      </p:sp>
      <p:sp>
        <p:nvSpPr>
          <p:cNvPr id="122" name="Shape 120"/>
          <p:cNvSpPr/>
          <p:nvPr/>
        </p:nvSpPr>
        <p:spPr>
          <a:xfrm>
            <a:off x="8019288" y="3744468"/>
            <a:ext cx="169164" cy="169164"/>
          </a:xfrm>
          <a:prstGeom prst="rect">
            <a:avLst/>
          </a:prstGeom>
          <a:solidFill>
            <a:srgbClr val="E5484D">
              <a:alpha val="78000"/>
            </a:srgbClr>
          </a:solidFill>
          <a:ln w="12700">
            <a:solidFill>
              <a:srgbClr val="333333"/>
            </a:solidFill>
            <a:prstDash val="solid"/>
          </a:ln>
        </p:spPr>
      </p:sp>
      <p:sp>
        <p:nvSpPr>
          <p:cNvPr id="123" name="Shape 121"/>
          <p:cNvSpPr/>
          <p:nvPr/>
        </p:nvSpPr>
        <p:spPr>
          <a:xfrm>
            <a:off x="8234172" y="3744468"/>
            <a:ext cx="169164" cy="169164"/>
          </a:xfrm>
          <a:prstGeom prst="rect">
            <a:avLst/>
          </a:prstGeom>
          <a:solidFill>
            <a:srgbClr val="E5484D">
              <a:alpha val="74000"/>
            </a:srgbClr>
          </a:solidFill>
          <a:ln w="12700">
            <a:solidFill>
              <a:srgbClr val="333333"/>
            </a:solidFill>
            <a:prstDash val="solid"/>
          </a:ln>
        </p:spPr>
      </p:sp>
      <p:sp>
        <p:nvSpPr>
          <p:cNvPr id="124" name="Shape 122"/>
          <p:cNvSpPr/>
          <p:nvPr/>
        </p:nvSpPr>
        <p:spPr>
          <a:xfrm>
            <a:off x="8449056" y="3744468"/>
            <a:ext cx="169164" cy="169164"/>
          </a:xfrm>
          <a:prstGeom prst="rect">
            <a:avLst/>
          </a:prstGeom>
          <a:solidFill>
            <a:srgbClr val="E5484D">
              <a:alpha val="71000"/>
            </a:srgbClr>
          </a:solidFill>
          <a:ln w="12700">
            <a:solidFill>
              <a:srgbClr val="333333"/>
            </a:solidFill>
            <a:prstDash val="solid"/>
          </a:ln>
        </p:spPr>
      </p:sp>
      <p:sp>
        <p:nvSpPr>
          <p:cNvPr id="125" name="Shape 123"/>
          <p:cNvSpPr/>
          <p:nvPr/>
        </p:nvSpPr>
        <p:spPr>
          <a:xfrm>
            <a:off x="8663940" y="3744468"/>
            <a:ext cx="169164" cy="169164"/>
          </a:xfrm>
          <a:prstGeom prst="rect">
            <a:avLst/>
          </a:prstGeom>
          <a:solidFill>
            <a:srgbClr val="E5484D">
              <a:alpha val="67000"/>
            </a:srgbClr>
          </a:solidFill>
          <a:ln w="12700">
            <a:solidFill>
              <a:srgbClr val="333333"/>
            </a:solidFill>
            <a:prstDash val="solid"/>
          </a:ln>
        </p:spPr>
      </p:sp>
      <p:sp>
        <p:nvSpPr>
          <p:cNvPr id="126" name="Shape 124"/>
          <p:cNvSpPr/>
          <p:nvPr/>
        </p:nvSpPr>
        <p:spPr>
          <a:xfrm>
            <a:off x="8878824" y="3744468"/>
            <a:ext cx="169164" cy="169164"/>
          </a:xfrm>
          <a:prstGeom prst="rect">
            <a:avLst/>
          </a:prstGeom>
          <a:solidFill>
            <a:srgbClr val="E5484D">
              <a:alpha val="64000"/>
            </a:srgbClr>
          </a:solidFill>
          <a:ln w="12700">
            <a:solidFill>
              <a:srgbClr val="333333"/>
            </a:solidFill>
            <a:prstDash val="solid"/>
          </a:ln>
        </p:spPr>
      </p:sp>
      <p:sp>
        <p:nvSpPr>
          <p:cNvPr id="127" name="Shape 125"/>
          <p:cNvSpPr/>
          <p:nvPr/>
        </p:nvSpPr>
        <p:spPr>
          <a:xfrm>
            <a:off x="9093708" y="3744468"/>
            <a:ext cx="169164" cy="169164"/>
          </a:xfrm>
          <a:prstGeom prst="rect">
            <a:avLst/>
          </a:prstGeom>
          <a:solidFill>
            <a:srgbClr val="E5484D">
              <a:alpha val="60000"/>
            </a:srgbClr>
          </a:solidFill>
          <a:ln w="12700">
            <a:solidFill>
              <a:srgbClr val="333333"/>
            </a:solidFill>
            <a:prstDash val="solid"/>
          </a:ln>
        </p:spPr>
      </p:sp>
      <p:sp>
        <p:nvSpPr>
          <p:cNvPr id="128" name="Shape 126"/>
          <p:cNvSpPr/>
          <p:nvPr/>
        </p:nvSpPr>
        <p:spPr>
          <a:xfrm>
            <a:off x="9308592" y="3744468"/>
            <a:ext cx="169164" cy="169164"/>
          </a:xfrm>
          <a:prstGeom prst="rect">
            <a:avLst/>
          </a:prstGeom>
          <a:solidFill>
            <a:srgbClr val="E5484D">
              <a:alpha val="57000"/>
            </a:srgbClr>
          </a:solidFill>
          <a:ln w="12700">
            <a:solidFill>
              <a:srgbClr val="333333"/>
            </a:solidFill>
            <a:prstDash val="solid"/>
          </a:ln>
        </p:spPr>
      </p:sp>
      <p:sp>
        <p:nvSpPr>
          <p:cNvPr id="129" name="Shape 127"/>
          <p:cNvSpPr/>
          <p:nvPr/>
        </p:nvSpPr>
        <p:spPr>
          <a:xfrm>
            <a:off x="9523476" y="3744468"/>
            <a:ext cx="169164" cy="169164"/>
          </a:xfrm>
          <a:prstGeom prst="rect">
            <a:avLst/>
          </a:prstGeom>
          <a:solidFill>
            <a:srgbClr val="E5484D">
              <a:alpha val="53000"/>
            </a:srgbClr>
          </a:solidFill>
          <a:ln w="12700">
            <a:solidFill>
              <a:srgbClr val="333333"/>
            </a:solidFill>
            <a:prstDash val="solid"/>
          </a:ln>
        </p:spPr>
      </p:sp>
      <p:sp>
        <p:nvSpPr>
          <p:cNvPr id="130" name="Shape 128"/>
          <p:cNvSpPr/>
          <p:nvPr/>
        </p:nvSpPr>
        <p:spPr>
          <a:xfrm>
            <a:off x="9738360" y="3744468"/>
            <a:ext cx="169164" cy="169164"/>
          </a:xfrm>
          <a:prstGeom prst="rect">
            <a:avLst/>
          </a:prstGeom>
          <a:solidFill>
            <a:srgbClr val="E5484D">
              <a:alpha val="50000"/>
            </a:srgbClr>
          </a:solidFill>
          <a:ln w="12700">
            <a:solidFill>
              <a:srgbClr val="333333"/>
            </a:solidFill>
            <a:prstDash val="solid"/>
          </a:ln>
        </p:spPr>
      </p:sp>
      <p:sp>
        <p:nvSpPr>
          <p:cNvPr id="131" name="Shape 129"/>
          <p:cNvSpPr/>
          <p:nvPr/>
        </p:nvSpPr>
        <p:spPr>
          <a:xfrm>
            <a:off x="9953244" y="3744468"/>
            <a:ext cx="169164" cy="169164"/>
          </a:xfrm>
          <a:prstGeom prst="rect">
            <a:avLst/>
          </a:prstGeom>
          <a:solidFill>
            <a:srgbClr val="E5484D">
              <a:alpha val="46000"/>
            </a:srgbClr>
          </a:solidFill>
          <a:ln w="12700">
            <a:solidFill>
              <a:srgbClr val="333333"/>
            </a:solidFill>
            <a:prstDash val="solid"/>
          </a:ln>
        </p:spPr>
      </p:sp>
      <p:sp>
        <p:nvSpPr>
          <p:cNvPr id="132" name="Shape 130"/>
          <p:cNvSpPr/>
          <p:nvPr/>
        </p:nvSpPr>
        <p:spPr>
          <a:xfrm>
            <a:off x="10168128" y="3744468"/>
            <a:ext cx="169164" cy="169164"/>
          </a:xfrm>
          <a:prstGeom prst="rect">
            <a:avLst/>
          </a:prstGeom>
          <a:solidFill>
            <a:srgbClr val="E5484D">
              <a:alpha val="43000"/>
            </a:srgbClr>
          </a:solidFill>
          <a:ln w="12700">
            <a:solidFill>
              <a:srgbClr val="333333"/>
            </a:solidFill>
            <a:prstDash val="solid"/>
          </a:ln>
        </p:spPr>
      </p:sp>
      <p:sp>
        <p:nvSpPr>
          <p:cNvPr id="133" name="Shape 131"/>
          <p:cNvSpPr/>
          <p:nvPr/>
        </p:nvSpPr>
        <p:spPr>
          <a:xfrm>
            <a:off x="10383012" y="3744468"/>
            <a:ext cx="169164" cy="169164"/>
          </a:xfrm>
          <a:prstGeom prst="rect">
            <a:avLst/>
          </a:prstGeom>
          <a:solidFill>
            <a:srgbClr val="E5484D">
              <a:alpha val="39000"/>
            </a:srgbClr>
          </a:solidFill>
          <a:ln w="12700">
            <a:solidFill>
              <a:srgbClr val="333333"/>
            </a:solidFill>
            <a:prstDash val="solid"/>
          </a:ln>
        </p:spPr>
      </p:sp>
      <p:sp>
        <p:nvSpPr>
          <p:cNvPr id="134" name="Shape 132"/>
          <p:cNvSpPr/>
          <p:nvPr/>
        </p:nvSpPr>
        <p:spPr>
          <a:xfrm>
            <a:off x="10597896" y="3744468"/>
            <a:ext cx="169164" cy="169164"/>
          </a:xfrm>
          <a:prstGeom prst="rect">
            <a:avLst/>
          </a:prstGeom>
          <a:solidFill>
            <a:srgbClr val="E5484D">
              <a:alpha val="36000"/>
            </a:srgbClr>
          </a:solidFill>
          <a:ln w="12700">
            <a:solidFill>
              <a:srgbClr val="333333"/>
            </a:solidFill>
            <a:prstDash val="solid"/>
          </a:ln>
        </p:spPr>
      </p:sp>
      <p:sp>
        <p:nvSpPr>
          <p:cNvPr id="135" name="Shape 133"/>
          <p:cNvSpPr/>
          <p:nvPr/>
        </p:nvSpPr>
        <p:spPr>
          <a:xfrm>
            <a:off x="10812780" y="3744468"/>
            <a:ext cx="169164" cy="169164"/>
          </a:xfrm>
          <a:prstGeom prst="rect">
            <a:avLst/>
          </a:prstGeom>
          <a:solidFill>
            <a:srgbClr val="E5484D">
              <a:alpha val="32000"/>
            </a:srgbClr>
          </a:solidFill>
          <a:ln w="12700">
            <a:solidFill>
              <a:srgbClr val="333333"/>
            </a:solidFill>
            <a:prstDash val="solid"/>
          </a:ln>
        </p:spPr>
      </p:sp>
      <p:sp>
        <p:nvSpPr>
          <p:cNvPr id="136" name="Shape 134"/>
          <p:cNvSpPr/>
          <p:nvPr/>
        </p:nvSpPr>
        <p:spPr>
          <a:xfrm>
            <a:off x="7589520" y="3959352"/>
            <a:ext cx="169164" cy="169164"/>
          </a:xfrm>
          <a:prstGeom prst="rect">
            <a:avLst/>
          </a:prstGeom>
          <a:solidFill>
            <a:srgbClr val="E5484D">
              <a:alpha val="85000"/>
            </a:srgbClr>
          </a:solidFill>
          <a:ln w="12700">
            <a:solidFill>
              <a:srgbClr val="333333"/>
            </a:solidFill>
            <a:prstDash val="solid"/>
          </a:ln>
        </p:spPr>
      </p:sp>
      <p:sp>
        <p:nvSpPr>
          <p:cNvPr id="137" name="Shape 135"/>
          <p:cNvSpPr/>
          <p:nvPr/>
        </p:nvSpPr>
        <p:spPr>
          <a:xfrm>
            <a:off x="7804404" y="3959352"/>
            <a:ext cx="169164" cy="169164"/>
          </a:xfrm>
          <a:prstGeom prst="rect">
            <a:avLst/>
          </a:prstGeom>
          <a:solidFill>
            <a:srgbClr val="E5484D">
              <a:alpha val="81000"/>
            </a:srgbClr>
          </a:solidFill>
          <a:ln w="12700">
            <a:solidFill>
              <a:srgbClr val="333333"/>
            </a:solidFill>
            <a:prstDash val="solid"/>
          </a:ln>
        </p:spPr>
      </p:sp>
      <p:sp>
        <p:nvSpPr>
          <p:cNvPr id="138" name="Shape 136"/>
          <p:cNvSpPr/>
          <p:nvPr/>
        </p:nvSpPr>
        <p:spPr>
          <a:xfrm>
            <a:off x="8019288" y="3959352"/>
            <a:ext cx="169164" cy="169164"/>
          </a:xfrm>
          <a:prstGeom prst="rect">
            <a:avLst/>
          </a:prstGeom>
          <a:solidFill>
            <a:srgbClr val="E5484D">
              <a:alpha val="78000"/>
            </a:srgbClr>
          </a:solidFill>
          <a:ln w="12700">
            <a:solidFill>
              <a:srgbClr val="333333"/>
            </a:solidFill>
            <a:prstDash val="solid"/>
          </a:ln>
        </p:spPr>
      </p:sp>
      <p:sp>
        <p:nvSpPr>
          <p:cNvPr id="139" name="Shape 137"/>
          <p:cNvSpPr/>
          <p:nvPr/>
        </p:nvSpPr>
        <p:spPr>
          <a:xfrm>
            <a:off x="8234172" y="3959352"/>
            <a:ext cx="169164" cy="169164"/>
          </a:xfrm>
          <a:prstGeom prst="rect">
            <a:avLst/>
          </a:prstGeom>
          <a:solidFill>
            <a:srgbClr val="E5484D">
              <a:alpha val="74000"/>
            </a:srgbClr>
          </a:solidFill>
          <a:ln w="12700">
            <a:solidFill>
              <a:srgbClr val="333333"/>
            </a:solidFill>
            <a:prstDash val="solid"/>
          </a:ln>
        </p:spPr>
      </p:sp>
      <p:sp>
        <p:nvSpPr>
          <p:cNvPr id="140" name="Shape 138"/>
          <p:cNvSpPr/>
          <p:nvPr/>
        </p:nvSpPr>
        <p:spPr>
          <a:xfrm>
            <a:off x="8449056" y="3959352"/>
            <a:ext cx="169164" cy="169164"/>
          </a:xfrm>
          <a:prstGeom prst="rect">
            <a:avLst/>
          </a:prstGeom>
          <a:solidFill>
            <a:srgbClr val="E5484D">
              <a:alpha val="71000"/>
            </a:srgbClr>
          </a:solidFill>
          <a:ln w="12700">
            <a:solidFill>
              <a:srgbClr val="333333"/>
            </a:solidFill>
            <a:prstDash val="solid"/>
          </a:ln>
        </p:spPr>
      </p:sp>
      <p:sp>
        <p:nvSpPr>
          <p:cNvPr id="141" name="Shape 139"/>
          <p:cNvSpPr/>
          <p:nvPr/>
        </p:nvSpPr>
        <p:spPr>
          <a:xfrm>
            <a:off x="8663940" y="3959352"/>
            <a:ext cx="169164" cy="169164"/>
          </a:xfrm>
          <a:prstGeom prst="rect">
            <a:avLst/>
          </a:prstGeom>
          <a:solidFill>
            <a:srgbClr val="E5484D">
              <a:alpha val="67000"/>
            </a:srgbClr>
          </a:solidFill>
          <a:ln w="12700">
            <a:solidFill>
              <a:srgbClr val="333333"/>
            </a:solidFill>
            <a:prstDash val="solid"/>
          </a:ln>
        </p:spPr>
      </p:sp>
      <p:sp>
        <p:nvSpPr>
          <p:cNvPr id="142" name="Shape 140"/>
          <p:cNvSpPr/>
          <p:nvPr/>
        </p:nvSpPr>
        <p:spPr>
          <a:xfrm>
            <a:off x="8878824" y="3959352"/>
            <a:ext cx="169164" cy="169164"/>
          </a:xfrm>
          <a:prstGeom prst="rect">
            <a:avLst/>
          </a:prstGeom>
          <a:solidFill>
            <a:srgbClr val="E5484D">
              <a:alpha val="64000"/>
            </a:srgbClr>
          </a:solidFill>
          <a:ln w="12700">
            <a:solidFill>
              <a:srgbClr val="333333"/>
            </a:solidFill>
            <a:prstDash val="solid"/>
          </a:ln>
        </p:spPr>
      </p:sp>
      <p:sp>
        <p:nvSpPr>
          <p:cNvPr id="143" name="Shape 141"/>
          <p:cNvSpPr/>
          <p:nvPr/>
        </p:nvSpPr>
        <p:spPr>
          <a:xfrm>
            <a:off x="9093708" y="3959352"/>
            <a:ext cx="169164" cy="169164"/>
          </a:xfrm>
          <a:prstGeom prst="rect">
            <a:avLst/>
          </a:prstGeom>
          <a:solidFill>
            <a:srgbClr val="E5484D">
              <a:alpha val="60000"/>
            </a:srgbClr>
          </a:solidFill>
          <a:ln w="12700">
            <a:solidFill>
              <a:srgbClr val="333333"/>
            </a:solidFill>
            <a:prstDash val="solid"/>
          </a:ln>
        </p:spPr>
      </p:sp>
      <p:sp>
        <p:nvSpPr>
          <p:cNvPr id="144" name="Shape 142"/>
          <p:cNvSpPr/>
          <p:nvPr/>
        </p:nvSpPr>
        <p:spPr>
          <a:xfrm>
            <a:off x="9308592" y="3959352"/>
            <a:ext cx="169164" cy="169164"/>
          </a:xfrm>
          <a:prstGeom prst="rect">
            <a:avLst/>
          </a:prstGeom>
          <a:solidFill>
            <a:srgbClr val="E5484D">
              <a:alpha val="57000"/>
            </a:srgbClr>
          </a:solidFill>
          <a:ln w="12700">
            <a:solidFill>
              <a:srgbClr val="333333"/>
            </a:solidFill>
            <a:prstDash val="solid"/>
          </a:ln>
        </p:spPr>
      </p:sp>
      <p:sp>
        <p:nvSpPr>
          <p:cNvPr id="145" name="Shape 143"/>
          <p:cNvSpPr/>
          <p:nvPr/>
        </p:nvSpPr>
        <p:spPr>
          <a:xfrm>
            <a:off x="9523476" y="3959352"/>
            <a:ext cx="169164" cy="169164"/>
          </a:xfrm>
          <a:prstGeom prst="rect">
            <a:avLst/>
          </a:prstGeom>
          <a:solidFill>
            <a:srgbClr val="E5484D">
              <a:alpha val="53000"/>
            </a:srgbClr>
          </a:solidFill>
          <a:ln w="12700">
            <a:solidFill>
              <a:srgbClr val="333333"/>
            </a:solidFill>
            <a:prstDash val="solid"/>
          </a:ln>
        </p:spPr>
      </p:sp>
      <p:sp>
        <p:nvSpPr>
          <p:cNvPr id="146" name="Shape 144"/>
          <p:cNvSpPr/>
          <p:nvPr/>
        </p:nvSpPr>
        <p:spPr>
          <a:xfrm>
            <a:off x="9738360" y="3959352"/>
            <a:ext cx="169164" cy="169164"/>
          </a:xfrm>
          <a:prstGeom prst="rect">
            <a:avLst/>
          </a:prstGeom>
          <a:solidFill>
            <a:srgbClr val="E5484D">
              <a:alpha val="50000"/>
            </a:srgbClr>
          </a:solidFill>
          <a:ln w="12700">
            <a:solidFill>
              <a:srgbClr val="333333"/>
            </a:solidFill>
            <a:prstDash val="solid"/>
          </a:ln>
        </p:spPr>
      </p:sp>
      <p:sp>
        <p:nvSpPr>
          <p:cNvPr id="147" name="Shape 145"/>
          <p:cNvSpPr/>
          <p:nvPr/>
        </p:nvSpPr>
        <p:spPr>
          <a:xfrm>
            <a:off x="9953244" y="3959352"/>
            <a:ext cx="169164" cy="169164"/>
          </a:xfrm>
          <a:prstGeom prst="rect">
            <a:avLst/>
          </a:prstGeom>
          <a:solidFill>
            <a:srgbClr val="E5484D">
              <a:alpha val="46000"/>
            </a:srgbClr>
          </a:solidFill>
          <a:ln w="12700">
            <a:solidFill>
              <a:srgbClr val="333333"/>
            </a:solidFill>
            <a:prstDash val="solid"/>
          </a:ln>
        </p:spPr>
      </p:sp>
      <p:sp>
        <p:nvSpPr>
          <p:cNvPr id="148" name="Shape 146"/>
          <p:cNvSpPr/>
          <p:nvPr/>
        </p:nvSpPr>
        <p:spPr>
          <a:xfrm>
            <a:off x="10168128" y="3959352"/>
            <a:ext cx="169164" cy="169164"/>
          </a:xfrm>
          <a:prstGeom prst="rect">
            <a:avLst/>
          </a:prstGeom>
          <a:solidFill>
            <a:srgbClr val="E5484D">
              <a:alpha val="43000"/>
            </a:srgbClr>
          </a:solidFill>
          <a:ln w="12700">
            <a:solidFill>
              <a:srgbClr val="333333"/>
            </a:solidFill>
            <a:prstDash val="solid"/>
          </a:ln>
        </p:spPr>
      </p:sp>
      <p:sp>
        <p:nvSpPr>
          <p:cNvPr id="149" name="Shape 147"/>
          <p:cNvSpPr/>
          <p:nvPr/>
        </p:nvSpPr>
        <p:spPr>
          <a:xfrm>
            <a:off x="10383012" y="3959352"/>
            <a:ext cx="169164" cy="169164"/>
          </a:xfrm>
          <a:prstGeom prst="rect">
            <a:avLst/>
          </a:prstGeom>
          <a:solidFill>
            <a:srgbClr val="E5484D">
              <a:alpha val="39000"/>
            </a:srgbClr>
          </a:solidFill>
          <a:ln w="12700">
            <a:solidFill>
              <a:srgbClr val="333333"/>
            </a:solidFill>
            <a:prstDash val="solid"/>
          </a:ln>
        </p:spPr>
      </p:sp>
      <p:sp>
        <p:nvSpPr>
          <p:cNvPr id="150" name="Shape 148"/>
          <p:cNvSpPr/>
          <p:nvPr/>
        </p:nvSpPr>
        <p:spPr>
          <a:xfrm>
            <a:off x="10597896" y="3959352"/>
            <a:ext cx="169164" cy="169164"/>
          </a:xfrm>
          <a:prstGeom prst="rect">
            <a:avLst/>
          </a:prstGeom>
          <a:solidFill>
            <a:srgbClr val="E5484D">
              <a:alpha val="36000"/>
            </a:srgbClr>
          </a:solidFill>
          <a:ln w="12700">
            <a:solidFill>
              <a:srgbClr val="333333"/>
            </a:solidFill>
            <a:prstDash val="solid"/>
          </a:ln>
        </p:spPr>
      </p:sp>
      <p:sp>
        <p:nvSpPr>
          <p:cNvPr id="151" name="Shape 149"/>
          <p:cNvSpPr/>
          <p:nvPr/>
        </p:nvSpPr>
        <p:spPr>
          <a:xfrm>
            <a:off x="10812780" y="3959352"/>
            <a:ext cx="169164" cy="169164"/>
          </a:xfrm>
          <a:prstGeom prst="rect">
            <a:avLst/>
          </a:prstGeom>
          <a:solidFill>
            <a:srgbClr val="E5484D">
              <a:alpha val="32000"/>
            </a:srgbClr>
          </a:solidFill>
          <a:ln w="12700">
            <a:solidFill>
              <a:srgbClr val="333333"/>
            </a:solidFill>
            <a:prstDash val="solid"/>
          </a:ln>
        </p:spPr>
      </p:sp>
      <p:sp>
        <p:nvSpPr>
          <p:cNvPr id="152" name="Shape 150"/>
          <p:cNvSpPr/>
          <p:nvPr/>
        </p:nvSpPr>
        <p:spPr>
          <a:xfrm>
            <a:off x="7589520" y="4174236"/>
            <a:ext cx="169164" cy="169164"/>
          </a:xfrm>
          <a:prstGeom prst="rect">
            <a:avLst/>
          </a:prstGeom>
          <a:solidFill>
            <a:srgbClr val="E5484D">
              <a:alpha val="85000"/>
            </a:srgbClr>
          </a:solidFill>
          <a:ln w="12700">
            <a:solidFill>
              <a:srgbClr val="333333"/>
            </a:solidFill>
            <a:prstDash val="solid"/>
          </a:ln>
        </p:spPr>
      </p:sp>
      <p:sp>
        <p:nvSpPr>
          <p:cNvPr id="153" name="Shape 151"/>
          <p:cNvSpPr/>
          <p:nvPr/>
        </p:nvSpPr>
        <p:spPr>
          <a:xfrm>
            <a:off x="7804404" y="4174236"/>
            <a:ext cx="169164" cy="169164"/>
          </a:xfrm>
          <a:prstGeom prst="rect">
            <a:avLst/>
          </a:prstGeom>
          <a:solidFill>
            <a:srgbClr val="E5484D">
              <a:alpha val="81000"/>
            </a:srgbClr>
          </a:solidFill>
          <a:ln w="12700">
            <a:solidFill>
              <a:srgbClr val="333333"/>
            </a:solidFill>
            <a:prstDash val="solid"/>
          </a:ln>
        </p:spPr>
      </p:sp>
      <p:sp>
        <p:nvSpPr>
          <p:cNvPr id="154" name="Shape 152"/>
          <p:cNvSpPr/>
          <p:nvPr/>
        </p:nvSpPr>
        <p:spPr>
          <a:xfrm>
            <a:off x="8019288" y="4174236"/>
            <a:ext cx="169164" cy="169164"/>
          </a:xfrm>
          <a:prstGeom prst="rect">
            <a:avLst/>
          </a:prstGeom>
          <a:solidFill>
            <a:srgbClr val="E5484D">
              <a:alpha val="78000"/>
            </a:srgbClr>
          </a:solidFill>
          <a:ln w="12700">
            <a:solidFill>
              <a:srgbClr val="333333"/>
            </a:solidFill>
            <a:prstDash val="solid"/>
          </a:ln>
        </p:spPr>
      </p:sp>
      <p:sp>
        <p:nvSpPr>
          <p:cNvPr id="155" name="Shape 153"/>
          <p:cNvSpPr/>
          <p:nvPr/>
        </p:nvSpPr>
        <p:spPr>
          <a:xfrm>
            <a:off x="8234172" y="4174236"/>
            <a:ext cx="169164" cy="169164"/>
          </a:xfrm>
          <a:prstGeom prst="rect">
            <a:avLst/>
          </a:prstGeom>
          <a:solidFill>
            <a:srgbClr val="E5484D">
              <a:alpha val="74000"/>
            </a:srgbClr>
          </a:solidFill>
          <a:ln w="12700">
            <a:solidFill>
              <a:srgbClr val="333333"/>
            </a:solidFill>
            <a:prstDash val="solid"/>
          </a:ln>
        </p:spPr>
      </p:sp>
      <p:sp>
        <p:nvSpPr>
          <p:cNvPr id="156" name="Shape 154"/>
          <p:cNvSpPr/>
          <p:nvPr/>
        </p:nvSpPr>
        <p:spPr>
          <a:xfrm>
            <a:off x="8449056" y="4174236"/>
            <a:ext cx="169164" cy="169164"/>
          </a:xfrm>
          <a:prstGeom prst="rect">
            <a:avLst/>
          </a:prstGeom>
          <a:solidFill>
            <a:srgbClr val="E5484D">
              <a:alpha val="71000"/>
            </a:srgbClr>
          </a:solidFill>
          <a:ln w="12700">
            <a:solidFill>
              <a:srgbClr val="333333"/>
            </a:solidFill>
            <a:prstDash val="solid"/>
          </a:ln>
        </p:spPr>
      </p:sp>
      <p:sp>
        <p:nvSpPr>
          <p:cNvPr id="157" name="Shape 155"/>
          <p:cNvSpPr/>
          <p:nvPr/>
        </p:nvSpPr>
        <p:spPr>
          <a:xfrm>
            <a:off x="8663940" y="4174236"/>
            <a:ext cx="169164" cy="169164"/>
          </a:xfrm>
          <a:prstGeom prst="rect">
            <a:avLst/>
          </a:prstGeom>
          <a:solidFill>
            <a:srgbClr val="E5484D">
              <a:alpha val="67000"/>
            </a:srgbClr>
          </a:solidFill>
          <a:ln w="12700">
            <a:solidFill>
              <a:srgbClr val="333333"/>
            </a:solidFill>
            <a:prstDash val="solid"/>
          </a:ln>
        </p:spPr>
      </p:sp>
      <p:sp>
        <p:nvSpPr>
          <p:cNvPr id="158" name="Shape 156"/>
          <p:cNvSpPr/>
          <p:nvPr/>
        </p:nvSpPr>
        <p:spPr>
          <a:xfrm>
            <a:off x="8878824" y="4174236"/>
            <a:ext cx="169164" cy="169164"/>
          </a:xfrm>
          <a:prstGeom prst="rect">
            <a:avLst/>
          </a:prstGeom>
          <a:solidFill>
            <a:srgbClr val="E5484D">
              <a:alpha val="64000"/>
            </a:srgbClr>
          </a:solidFill>
          <a:ln w="12700">
            <a:solidFill>
              <a:srgbClr val="333333"/>
            </a:solidFill>
            <a:prstDash val="solid"/>
          </a:ln>
        </p:spPr>
      </p:sp>
      <p:sp>
        <p:nvSpPr>
          <p:cNvPr id="159" name="Shape 157"/>
          <p:cNvSpPr/>
          <p:nvPr/>
        </p:nvSpPr>
        <p:spPr>
          <a:xfrm>
            <a:off x="9093708" y="4174236"/>
            <a:ext cx="169164" cy="169164"/>
          </a:xfrm>
          <a:prstGeom prst="rect">
            <a:avLst/>
          </a:prstGeom>
          <a:solidFill>
            <a:srgbClr val="E5484D">
              <a:alpha val="60000"/>
            </a:srgbClr>
          </a:solidFill>
          <a:ln w="12700">
            <a:solidFill>
              <a:srgbClr val="333333"/>
            </a:solidFill>
            <a:prstDash val="solid"/>
          </a:ln>
        </p:spPr>
      </p:sp>
      <p:sp>
        <p:nvSpPr>
          <p:cNvPr id="160" name="Shape 158"/>
          <p:cNvSpPr/>
          <p:nvPr/>
        </p:nvSpPr>
        <p:spPr>
          <a:xfrm>
            <a:off x="9308592" y="4174236"/>
            <a:ext cx="169164" cy="169164"/>
          </a:xfrm>
          <a:prstGeom prst="rect">
            <a:avLst/>
          </a:prstGeom>
          <a:solidFill>
            <a:srgbClr val="E5484D">
              <a:alpha val="57000"/>
            </a:srgbClr>
          </a:solidFill>
          <a:ln w="12700">
            <a:solidFill>
              <a:srgbClr val="333333"/>
            </a:solidFill>
            <a:prstDash val="solid"/>
          </a:ln>
        </p:spPr>
      </p:sp>
      <p:sp>
        <p:nvSpPr>
          <p:cNvPr id="161" name="Shape 159"/>
          <p:cNvSpPr/>
          <p:nvPr/>
        </p:nvSpPr>
        <p:spPr>
          <a:xfrm>
            <a:off x="9523476" y="4174236"/>
            <a:ext cx="169164" cy="169164"/>
          </a:xfrm>
          <a:prstGeom prst="rect">
            <a:avLst/>
          </a:prstGeom>
          <a:solidFill>
            <a:srgbClr val="E5484D">
              <a:alpha val="53000"/>
            </a:srgbClr>
          </a:solidFill>
          <a:ln w="12700">
            <a:solidFill>
              <a:srgbClr val="333333"/>
            </a:solidFill>
            <a:prstDash val="solid"/>
          </a:ln>
        </p:spPr>
      </p:sp>
      <p:sp>
        <p:nvSpPr>
          <p:cNvPr id="162" name="Shape 160"/>
          <p:cNvSpPr/>
          <p:nvPr/>
        </p:nvSpPr>
        <p:spPr>
          <a:xfrm>
            <a:off x="9738360" y="4174236"/>
            <a:ext cx="169164" cy="169164"/>
          </a:xfrm>
          <a:prstGeom prst="rect">
            <a:avLst/>
          </a:prstGeom>
          <a:solidFill>
            <a:srgbClr val="E5484D">
              <a:alpha val="50000"/>
            </a:srgbClr>
          </a:solidFill>
          <a:ln w="12700">
            <a:solidFill>
              <a:srgbClr val="333333"/>
            </a:solidFill>
            <a:prstDash val="solid"/>
          </a:ln>
        </p:spPr>
      </p:sp>
      <p:sp>
        <p:nvSpPr>
          <p:cNvPr id="163" name="Shape 161"/>
          <p:cNvSpPr/>
          <p:nvPr/>
        </p:nvSpPr>
        <p:spPr>
          <a:xfrm>
            <a:off x="9953244" y="4174236"/>
            <a:ext cx="169164" cy="169164"/>
          </a:xfrm>
          <a:prstGeom prst="rect">
            <a:avLst/>
          </a:prstGeom>
          <a:solidFill>
            <a:srgbClr val="E5484D">
              <a:alpha val="46000"/>
            </a:srgbClr>
          </a:solidFill>
          <a:ln w="12700">
            <a:solidFill>
              <a:srgbClr val="333333"/>
            </a:solidFill>
            <a:prstDash val="solid"/>
          </a:ln>
        </p:spPr>
      </p:sp>
      <p:sp>
        <p:nvSpPr>
          <p:cNvPr id="164" name="Shape 162"/>
          <p:cNvSpPr/>
          <p:nvPr/>
        </p:nvSpPr>
        <p:spPr>
          <a:xfrm>
            <a:off x="10168128" y="4174236"/>
            <a:ext cx="169164" cy="169164"/>
          </a:xfrm>
          <a:prstGeom prst="rect">
            <a:avLst/>
          </a:prstGeom>
          <a:solidFill>
            <a:srgbClr val="E5484D">
              <a:alpha val="43000"/>
            </a:srgbClr>
          </a:solidFill>
          <a:ln w="12700">
            <a:solidFill>
              <a:srgbClr val="333333"/>
            </a:solidFill>
            <a:prstDash val="solid"/>
          </a:ln>
        </p:spPr>
      </p:sp>
      <p:sp>
        <p:nvSpPr>
          <p:cNvPr id="165" name="Shape 163"/>
          <p:cNvSpPr/>
          <p:nvPr/>
        </p:nvSpPr>
        <p:spPr>
          <a:xfrm>
            <a:off x="10383012" y="4174236"/>
            <a:ext cx="169164" cy="169164"/>
          </a:xfrm>
          <a:prstGeom prst="rect">
            <a:avLst/>
          </a:prstGeom>
          <a:solidFill>
            <a:srgbClr val="E5484D">
              <a:alpha val="39000"/>
            </a:srgbClr>
          </a:solidFill>
          <a:ln w="12700">
            <a:solidFill>
              <a:srgbClr val="333333"/>
            </a:solidFill>
            <a:prstDash val="solid"/>
          </a:ln>
        </p:spPr>
      </p:sp>
      <p:sp>
        <p:nvSpPr>
          <p:cNvPr id="166" name="Shape 164"/>
          <p:cNvSpPr/>
          <p:nvPr/>
        </p:nvSpPr>
        <p:spPr>
          <a:xfrm>
            <a:off x="10597896" y="4174236"/>
            <a:ext cx="169164" cy="169164"/>
          </a:xfrm>
          <a:prstGeom prst="rect">
            <a:avLst/>
          </a:prstGeom>
          <a:solidFill>
            <a:srgbClr val="E5484D">
              <a:alpha val="36000"/>
            </a:srgbClr>
          </a:solidFill>
          <a:ln w="12700">
            <a:solidFill>
              <a:srgbClr val="333333"/>
            </a:solidFill>
            <a:prstDash val="solid"/>
          </a:ln>
        </p:spPr>
      </p:sp>
      <p:sp>
        <p:nvSpPr>
          <p:cNvPr id="167" name="Shape 165"/>
          <p:cNvSpPr/>
          <p:nvPr/>
        </p:nvSpPr>
        <p:spPr>
          <a:xfrm>
            <a:off x="10812780" y="4174236"/>
            <a:ext cx="169164" cy="169164"/>
          </a:xfrm>
          <a:prstGeom prst="rect">
            <a:avLst/>
          </a:prstGeom>
          <a:solidFill>
            <a:srgbClr val="E5484D">
              <a:alpha val="32000"/>
            </a:srgbClr>
          </a:solidFill>
          <a:ln w="12700">
            <a:solidFill>
              <a:srgbClr val="333333"/>
            </a:solidFill>
            <a:prstDash val="solid"/>
          </a:ln>
        </p:spPr>
      </p:sp>
      <p:sp>
        <p:nvSpPr>
          <p:cNvPr id="168" name="Shape 166"/>
          <p:cNvSpPr/>
          <p:nvPr/>
        </p:nvSpPr>
        <p:spPr>
          <a:xfrm>
            <a:off x="7589520" y="4389120"/>
            <a:ext cx="169164" cy="169164"/>
          </a:xfrm>
          <a:prstGeom prst="rect">
            <a:avLst/>
          </a:prstGeom>
          <a:solidFill>
            <a:srgbClr val="E5484D">
              <a:alpha val="85000"/>
            </a:srgbClr>
          </a:solidFill>
          <a:ln w="12700">
            <a:solidFill>
              <a:srgbClr val="333333"/>
            </a:solidFill>
            <a:prstDash val="solid"/>
          </a:ln>
        </p:spPr>
      </p:sp>
      <p:sp>
        <p:nvSpPr>
          <p:cNvPr id="169" name="Shape 167"/>
          <p:cNvSpPr/>
          <p:nvPr/>
        </p:nvSpPr>
        <p:spPr>
          <a:xfrm>
            <a:off x="7804404" y="4389120"/>
            <a:ext cx="169164" cy="169164"/>
          </a:xfrm>
          <a:prstGeom prst="rect">
            <a:avLst/>
          </a:prstGeom>
          <a:solidFill>
            <a:srgbClr val="E5484D">
              <a:alpha val="81000"/>
            </a:srgbClr>
          </a:solidFill>
          <a:ln w="12700">
            <a:solidFill>
              <a:srgbClr val="333333"/>
            </a:solidFill>
            <a:prstDash val="solid"/>
          </a:ln>
        </p:spPr>
      </p:sp>
      <p:sp>
        <p:nvSpPr>
          <p:cNvPr id="170" name="Shape 168"/>
          <p:cNvSpPr/>
          <p:nvPr/>
        </p:nvSpPr>
        <p:spPr>
          <a:xfrm>
            <a:off x="8019288" y="4389120"/>
            <a:ext cx="169164" cy="169164"/>
          </a:xfrm>
          <a:prstGeom prst="rect">
            <a:avLst/>
          </a:prstGeom>
          <a:solidFill>
            <a:srgbClr val="E5484D">
              <a:alpha val="78000"/>
            </a:srgbClr>
          </a:solidFill>
          <a:ln w="12700">
            <a:solidFill>
              <a:srgbClr val="333333"/>
            </a:solidFill>
            <a:prstDash val="solid"/>
          </a:ln>
        </p:spPr>
      </p:sp>
      <p:sp>
        <p:nvSpPr>
          <p:cNvPr id="171" name="Shape 169"/>
          <p:cNvSpPr/>
          <p:nvPr/>
        </p:nvSpPr>
        <p:spPr>
          <a:xfrm>
            <a:off x="8234172" y="4389120"/>
            <a:ext cx="169164" cy="169164"/>
          </a:xfrm>
          <a:prstGeom prst="rect">
            <a:avLst/>
          </a:prstGeom>
          <a:solidFill>
            <a:srgbClr val="E5484D">
              <a:alpha val="74000"/>
            </a:srgbClr>
          </a:solidFill>
          <a:ln w="12700">
            <a:solidFill>
              <a:srgbClr val="333333"/>
            </a:solidFill>
            <a:prstDash val="solid"/>
          </a:ln>
        </p:spPr>
      </p:sp>
      <p:sp>
        <p:nvSpPr>
          <p:cNvPr id="172" name="Shape 170"/>
          <p:cNvSpPr/>
          <p:nvPr/>
        </p:nvSpPr>
        <p:spPr>
          <a:xfrm>
            <a:off x="8449056" y="4389120"/>
            <a:ext cx="169164" cy="169164"/>
          </a:xfrm>
          <a:prstGeom prst="rect">
            <a:avLst/>
          </a:prstGeom>
          <a:solidFill>
            <a:srgbClr val="E5484D">
              <a:alpha val="71000"/>
            </a:srgbClr>
          </a:solidFill>
          <a:ln w="12700">
            <a:solidFill>
              <a:srgbClr val="333333"/>
            </a:solidFill>
            <a:prstDash val="solid"/>
          </a:ln>
        </p:spPr>
      </p:sp>
      <p:sp>
        <p:nvSpPr>
          <p:cNvPr id="173" name="Shape 171"/>
          <p:cNvSpPr/>
          <p:nvPr/>
        </p:nvSpPr>
        <p:spPr>
          <a:xfrm>
            <a:off x="8663940" y="4389120"/>
            <a:ext cx="169164" cy="169164"/>
          </a:xfrm>
          <a:prstGeom prst="rect">
            <a:avLst/>
          </a:prstGeom>
          <a:solidFill>
            <a:srgbClr val="E5484D">
              <a:alpha val="67000"/>
            </a:srgbClr>
          </a:solidFill>
          <a:ln w="12700">
            <a:solidFill>
              <a:srgbClr val="333333"/>
            </a:solidFill>
            <a:prstDash val="solid"/>
          </a:ln>
        </p:spPr>
      </p:sp>
      <p:sp>
        <p:nvSpPr>
          <p:cNvPr id="174" name="Shape 172"/>
          <p:cNvSpPr/>
          <p:nvPr/>
        </p:nvSpPr>
        <p:spPr>
          <a:xfrm>
            <a:off x="8878824" y="4389120"/>
            <a:ext cx="169164" cy="169164"/>
          </a:xfrm>
          <a:prstGeom prst="rect">
            <a:avLst/>
          </a:prstGeom>
          <a:solidFill>
            <a:srgbClr val="E5484D">
              <a:alpha val="64000"/>
            </a:srgbClr>
          </a:solidFill>
          <a:ln w="12700">
            <a:solidFill>
              <a:srgbClr val="333333"/>
            </a:solidFill>
            <a:prstDash val="solid"/>
          </a:ln>
        </p:spPr>
      </p:sp>
      <p:sp>
        <p:nvSpPr>
          <p:cNvPr id="175" name="Shape 173"/>
          <p:cNvSpPr/>
          <p:nvPr/>
        </p:nvSpPr>
        <p:spPr>
          <a:xfrm>
            <a:off x="9093708" y="4389120"/>
            <a:ext cx="169164" cy="169164"/>
          </a:xfrm>
          <a:prstGeom prst="rect">
            <a:avLst/>
          </a:prstGeom>
          <a:solidFill>
            <a:srgbClr val="E5484D">
              <a:alpha val="60000"/>
            </a:srgbClr>
          </a:solidFill>
          <a:ln w="12700">
            <a:solidFill>
              <a:srgbClr val="333333"/>
            </a:solidFill>
            <a:prstDash val="solid"/>
          </a:ln>
        </p:spPr>
      </p:sp>
      <p:sp>
        <p:nvSpPr>
          <p:cNvPr id="176" name="Shape 174"/>
          <p:cNvSpPr/>
          <p:nvPr/>
        </p:nvSpPr>
        <p:spPr>
          <a:xfrm>
            <a:off x="9308592" y="4389120"/>
            <a:ext cx="169164" cy="169164"/>
          </a:xfrm>
          <a:prstGeom prst="rect">
            <a:avLst/>
          </a:prstGeom>
          <a:solidFill>
            <a:srgbClr val="E5484D">
              <a:alpha val="57000"/>
            </a:srgbClr>
          </a:solidFill>
          <a:ln w="12700">
            <a:solidFill>
              <a:srgbClr val="333333"/>
            </a:solidFill>
            <a:prstDash val="solid"/>
          </a:ln>
        </p:spPr>
      </p:sp>
      <p:sp>
        <p:nvSpPr>
          <p:cNvPr id="177" name="Shape 175"/>
          <p:cNvSpPr/>
          <p:nvPr/>
        </p:nvSpPr>
        <p:spPr>
          <a:xfrm>
            <a:off x="9523476" y="4389120"/>
            <a:ext cx="169164" cy="169164"/>
          </a:xfrm>
          <a:prstGeom prst="rect">
            <a:avLst/>
          </a:prstGeom>
          <a:solidFill>
            <a:srgbClr val="E5484D">
              <a:alpha val="53000"/>
            </a:srgbClr>
          </a:solidFill>
          <a:ln w="12700">
            <a:solidFill>
              <a:srgbClr val="333333"/>
            </a:solidFill>
            <a:prstDash val="solid"/>
          </a:ln>
        </p:spPr>
      </p:sp>
      <p:sp>
        <p:nvSpPr>
          <p:cNvPr id="178" name="Shape 176"/>
          <p:cNvSpPr/>
          <p:nvPr/>
        </p:nvSpPr>
        <p:spPr>
          <a:xfrm>
            <a:off x="9738360" y="4389120"/>
            <a:ext cx="169164" cy="169164"/>
          </a:xfrm>
          <a:prstGeom prst="rect">
            <a:avLst/>
          </a:prstGeom>
          <a:solidFill>
            <a:srgbClr val="E5484D">
              <a:alpha val="50000"/>
            </a:srgbClr>
          </a:solidFill>
          <a:ln w="12700">
            <a:solidFill>
              <a:srgbClr val="333333"/>
            </a:solidFill>
            <a:prstDash val="solid"/>
          </a:ln>
        </p:spPr>
      </p:sp>
      <p:sp>
        <p:nvSpPr>
          <p:cNvPr id="179" name="Shape 177"/>
          <p:cNvSpPr/>
          <p:nvPr/>
        </p:nvSpPr>
        <p:spPr>
          <a:xfrm>
            <a:off x="9953244" y="4389120"/>
            <a:ext cx="169164" cy="169164"/>
          </a:xfrm>
          <a:prstGeom prst="rect">
            <a:avLst/>
          </a:prstGeom>
          <a:solidFill>
            <a:srgbClr val="E5484D">
              <a:alpha val="46000"/>
            </a:srgbClr>
          </a:solidFill>
          <a:ln w="12700">
            <a:solidFill>
              <a:srgbClr val="333333"/>
            </a:solidFill>
            <a:prstDash val="solid"/>
          </a:ln>
        </p:spPr>
      </p:sp>
      <p:sp>
        <p:nvSpPr>
          <p:cNvPr id="180" name="Shape 178"/>
          <p:cNvSpPr/>
          <p:nvPr/>
        </p:nvSpPr>
        <p:spPr>
          <a:xfrm>
            <a:off x="10168128" y="4389120"/>
            <a:ext cx="169164" cy="169164"/>
          </a:xfrm>
          <a:prstGeom prst="rect">
            <a:avLst/>
          </a:prstGeom>
          <a:solidFill>
            <a:srgbClr val="E5484D">
              <a:alpha val="43000"/>
            </a:srgbClr>
          </a:solidFill>
          <a:ln w="12700">
            <a:solidFill>
              <a:srgbClr val="333333"/>
            </a:solidFill>
            <a:prstDash val="solid"/>
          </a:ln>
        </p:spPr>
      </p:sp>
      <p:sp>
        <p:nvSpPr>
          <p:cNvPr id="181" name="Shape 179"/>
          <p:cNvSpPr/>
          <p:nvPr/>
        </p:nvSpPr>
        <p:spPr>
          <a:xfrm>
            <a:off x="10383012" y="4389120"/>
            <a:ext cx="169164" cy="169164"/>
          </a:xfrm>
          <a:prstGeom prst="rect">
            <a:avLst/>
          </a:prstGeom>
          <a:solidFill>
            <a:srgbClr val="E5484D">
              <a:alpha val="39000"/>
            </a:srgbClr>
          </a:solidFill>
          <a:ln w="12700">
            <a:solidFill>
              <a:srgbClr val="333333"/>
            </a:solidFill>
            <a:prstDash val="solid"/>
          </a:ln>
        </p:spPr>
      </p:sp>
      <p:sp>
        <p:nvSpPr>
          <p:cNvPr id="182" name="Shape 180"/>
          <p:cNvSpPr/>
          <p:nvPr/>
        </p:nvSpPr>
        <p:spPr>
          <a:xfrm>
            <a:off x="10597896" y="4389120"/>
            <a:ext cx="169164" cy="169164"/>
          </a:xfrm>
          <a:prstGeom prst="rect">
            <a:avLst/>
          </a:prstGeom>
          <a:solidFill>
            <a:srgbClr val="E5484D">
              <a:alpha val="36000"/>
            </a:srgbClr>
          </a:solidFill>
          <a:ln w="12700">
            <a:solidFill>
              <a:srgbClr val="333333"/>
            </a:solidFill>
            <a:prstDash val="solid"/>
          </a:ln>
        </p:spPr>
      </p:sp>
      <p:sp>
        <p:nvSpPr>
          <p:cNvPr id="183" name="Shape 181"/>
          <p:cNvSpPr/>
          <p:nvPr/>
        </p:nvSpPr>
        <p:spPr>
          <a:xfrm>
            <a:off x="10812780" y="4389120"/>
            <a:ext cx="169164" cy="169164"/>
          </a:xfrm>
          <a:prstGeom prst="rect">
            <a:avLst/>
          </a:prstGeom>
          <a:solidFill>
            <a:srgbClr val="E5484D">
              <a:alpha val="32000"/>
            </a:srgbClr>
          </a:solidFill>
          <a:ln w="12700">
            <a:solidFill>
              <a:srgbClr val="333333"/>
            </a:solidFill>
            <a:prstDash val="solid"/>
          </a:ln>
        </p:spPr>
      </p:sp>
      <p:sp>
        <p:nvSpPr>
          <p:cNvPr id="184" name="Shape 182"/>
          <p:cNvSpPr/>
          <p:nvPr/>
        </p:nvSpPr>
        <p:spPr>
          <a:xfrm>
            <a:off x="7589520" y="4604004"/>
            <a:ext cx="169164" cy="169164"/>
          </a:xfrm>
          <a:prstGeom prst="rect">
            <a:avLst/>
          </a:prstGeom>
          <a:solidFill>
            <a:srgbClr val="E5484D">
              <a:alpha val="85000"/>
            </a:srgbClr>
          </a:solidFill>
          <a:ln w="12700">
            <a:solidFill>
              <a:srgbClr val="333333"/>
            </a:solidFill>
            <a:prstDash val="solid"/>
          </a:ln>
        </p:spPr>
      </p:sp>
      <p:sp>
        <p:nvSpPr>
          <p:cNvPr id="185" name="Shape 183"/>
          <p:cNvSpPr/>
          <p:nvPr/>
        </p:nvSpPr>
        <p:spPr>
          <a:xfrm>
            <a:off x="7804404" y="4604004"/>
            <a:ext cx="169164" cy="169164"/>
          </a:xfrm>
          <a:prstGeom prst="rect">
            <a:avLst/>
          </a:prstGeom>
          <a:solidFill>
            <a:srgbClr val="E5484D">
              <a:alpha val="81000"/>
            </a:srgbClr>
          </a:solidFill>
          <a:ln w="12700">
            <a:solidFill>
              <a:srgbClr val="333333"/>
            </a:solidFill>
            <a:prstDash val="solid"/>
          </a:ln>
        </p:spPr>
      </p:sp>
      <p:sp>
        <p:nvSpPr>
          <p:cNvPr id="186" name="Shape 184"/>
          <p:cNvSpPr/>
          <p:nvPr/>
        </p:nvSpPr>
        <p:spPr>
          <a:xfrm>
            <a:off x="8019288" y="4604004"/>
            <a:ext cx="169164" cy="169164"/>
          </a:xfrm>
          <a:prstGeom prst="rect">
            <a:avLst/>
          </a:prstGeom>
          <a:solidFill>
            <a:srgbClr val="E5484D">
              <a:alpha val="78000"/>
            </a:srgbClr>
          </a:solidFill>
          <a:ln w="12700">
            <a:solidFill>
              <a:srgbClr val="333333"/>
            </a:solidFill>
            <a:prstDash val="solid"/>
          </a:ln>
        </p:spPr>
      </p:sp>
      <p:sp>
        <p:nvSpPr>
          <p:cNvPr id="187" name="Shape 185"/>
          <p:cNvSpPr/>
          <p:nvPr/>
        </p:nvSpPr>
        <p:spPr>
          <a:xfrm>
            <a:off x="8234172" y="4604004"/>
            <a:ext cx="169164" cy="169164"/>
          </a:xfrm>
          <a:prstGeom prst="rect">
            <a:avLst/>
          </a:prstGeom>
          <a:solidFill>
            <a:srgbClr val="E5484D">
              <a:alpha val="74000"/>
            </a:srgbClr>
          </a:solidFill>
          <a:ln w="12700">
            <a:solidFill>
              <a:srgbClr val="333333"/>
            </a:solidFill>
            <a:prstDash val="solid"/>
          </a:ln>
        </p:spPr>
      </p:sp>
      <p:sp>
        <p:nvSpPr>
          <p:cNvPr id="188" name="Shape 186"/>
          <p:cNvSpPr/>
          <p:nvPr/>
        </p:nvSpPr>
        <p:spPr>
          <a:xfrm>
            <a:off x="8449056" y="4604004"/>
            <a:ext cx="169164" cy="169164"/>
          </a:xfrm>
          <a:prstGeom prst="rect">
            <a:avLst/>
          </a:prstGeom>
          <a:solidFill>
            <a:srgbClr val="E5484D">
              <a:alpha val="71000"/>
            </a:srgbClr>
          </a:solidFill>
          <a:ln w="12700">
            <a:solidFill>
              <a:srgbClr val="333333"/>
            </a:solidFill>
            <a:prstDash val="solid"/>
          </a:ln>
        </p:spPr>
      </p:sp>
      <p:sp>
        <p:nvSpPr>
          <p:cNvPr id="189" name="Shape 187"/>
          <p:cNvSpPr/>
          <p:nvPr/>
        </p:nvSpPr>
        <p:spPr>
          <a:xfrm>
            <a:off x="8663940" y="4604004"/>
            <a:ext cx="169164" cy="169164"/>
          </a:xfrm>
          <a:prstGeom prst="rect">
            <a:avLst/>
          </a:prstGeom>
          <a:solidFill>
            <a:srgbClr val="E5484D">
              <a:alpha val="67000"/>
            </a:srgbClr>
          </a:solidFill>
          <a:ln w="12700">
            <a:solidFill>
              <a:srgbClr val="333333"/>
            </a:solidFill>
            <a:prstDash val="solid"/>
          </a:ln>
        </p:spPr>
      </p:sp>
      <p:sp>
        <p:nvSpPr>
          <p:cNvPr id="190" name="Shape 188"/>
          <p:cNvSpPr/>
          <p:nvPr/>
        </p:nvSpPr>
        <p:spPr>
          <a:xfrm>
            <a:off x="8878824" y="4604004"/>
            <a:ext cx="169164" cy="169164"/>
          </a:xfrm>
          <a:prstGeom prst="rect">
            <a:avLst/>
          </a:prstGeom>
          <a:solidFill>
            <a:srgbClr val="E5484D">
              <a:alpha val="64000"/>
            </a:srgbClr>
          </a:solidFill>
          <a:ln w="12700">
            <a:solidFill>
              <a:srgbClr val="333333"/>
            </a:solidFill>
            <a:prstDash val="solid"/>
          </a:ln>
        </p:spPr>
      </p:sp>
      <p:sp>
        <p:nvSpPr>
          <p:cNvPr id="191" name="Shape 189"/>
          <p:cNvSpPr/>
          <p:nvPr/>
        </p:nvSpPr>
        <p:spPr>
          <a:xfrm>
            <a:off x="9093708" y="4604004"/>
            <a:ext cx="169164" cy="169164"/>
          </a:xfrm>
          <a:prstGeom prst="rect">
            <a:avLst/>
          </a:prstGeom>
          <a:solidFill>
            <a:srgbClr val="E5484D">
              <a:alpha val="60000"/>
            </a:srgbClr>
          </a:solidFill>
          <a:ln w="12700">
            <a:solidFill>
              <a:srgbClr val="333333"/>
            </a:solidFill>
            <a:prstDash val="solid"/>
          </a:ln>
        </p:spPr>
      </p:sp>
      <p:sp>
        <p:nvSpPr>
          <p:cNvPr id="192" name="Shape 190"/>
          <p:cNvSpPr/>
          <p:nvPr/>
        </p:nvSpPr>
        <p:spPr>
          <a:xfrm>
            <a:off x="9308592" y="4604004"/>
            <a:ext cx="169164" cy="169164"/>
          </a:xfrm>
          <a:prstGeom prst="rect">
            <a:avLst/>
          </a:prstGeom>
          <a:solidFill>
            <a:srgbClr val="E5484D">
              <a:alpha val="57000"/>
            </a:srgbClr>
          </a:solidFill>
          <a:ln w="12700">
            <a:solidFill>
              <a:srgbClr val="333333"/>
            </a:solidFill>
            <a:prstDash val="solid"/>
          </a:ln>
        </p:spPr>
      </p:sp>
      <p:sp>
        <p:nvSpPr>
          <p:cNvPr id="193" name="Shape 191"/>
          <p:cNvSpPr/>
          <p:nvPr/>
        </p:nvSpPr>
        <p:spPr>
          <a:xfrm>
            <a:off x="9523476" y="4604004"/>
            <a:ext cx="169164" cy="169164"/>
          </a:xfrm>
          <a:prstGeom prst="rect">
            <a:avLst/>
          </a:prstGeom>
          <a:solidFill>
            <a:srgbClr val="E5484D">
              <a:alpha val="53000"/>
            </a:srgbClr>
          </a:solidFill>
          <a:ln w="12700">
            <a:solidFill>
              <a:srgbClr val="333333"/>
            </a:solidFill>
            <a:prstDash val="solid"/>
          </a:ln>
        </p:spPr>
      </p:sp>
      <p:sp>
        <p:nvSpPr>
          <p:cNvPr id="194" name="Shape 192"/>
          <p:cNvSpPr/>
          <p:nvPr/>
        </p:nvSpPr>
        <p:spPr>
          <a:xfrm>
            <a:off x="9738360" y="4604004"/>
            <a:ext cx="169164" cy="169164"/>
          </a:xfrm>
          <a:prstGeom prst="rect">
            <a:avLst/>
          </a:prstGeom>
          <a:solidFill>
            <a:srgbClr val="E5484D">
              <a:alpha val="50000"/>
            </a:srgbClr>
          </a:solidFill>
          <a:ln w="12700">
            <a:solidFill>
              <a:srgbClr val="333333"/>
            </a:solidFill>
            <a:prstDash val="solid"/>
          </a:ln>
        </p:spPr>
      </p:sp>
      <p:sp>
        <p:nvSpPr>
          <p:cNvPr id="195" name="Shape 193"/>
          <p:cNvSpPr/>
          <p:nvPr/>
        </p:nvSpPr>
        <p:spPr>
          <a:xfrm>
            <a:off x="9953244" y="4604004"/>
            <a:ext cx="169164" cy="169164"/>
          </a:xfrm>
          <a:prstGeom prst="rect">
            <a:avLst/>
          </a:prstGeom>
          <a:solidFill>
            <a:srgbClr val="E5484D">
              <a:alpha val="46000"/>
            </a:srgbClr>
          </a:solidFill>
          <a:ln w="12700">
            <a:solidFill>
              <a:srgbClr val="333333"/>
            </a:solidFill>
            <a:prstDash val="solid"/>
          </a:ln>
        </p:spPr>
      </p:sp>
      <p:sp>
        <p:nvSpPr>
          <p:cNvPr id="196" name="Shape 194"/>
          <p:cNvSpPr/>
          <p:nvPr/>
        </p:nvSpPr>
        <p:spPr>
          <a:xfrm>
            <a:off x="10168128" y="4604004"/>
            <a:ext cx="169164" cy="169164"/>
          </a:xfrm>
          <a:prstGeom prst="rect">
            <a:avLst/>
          </a:prstGeom>
          <a:solidFill>
            <a:srgbClr val="E5484D">
              <a:alpha val="43000"/>
            </a:srgbClr>
          </a:solidFill>
          <a:ln w="12700">
            <a:solidFill>
              <a:srgbClr val="333333"/>
            </a:solidFill>
            <a:prstDash val="solid"/>
          </a:ln>
        </p:spPr>
      </p:sp>
      <p:sp>
        <p:nvSpPr>
          <p:cNvPr id="197" name="Shape 195"/>
          <p:cNvSpPr/>
          <p:nvPr/>
        </p:nvSpPr>
        <p:spPr>
          <a:xfrm>
            <a:off x="10383012" y="4604004"/>
            <a:ext cx="169164" cy="169164"/>
          </a:xfrm>
          <a:prstGeom prst="rect">
            <a:avLst/>
          </a:prstGeom>
          <a:solidFill>
            <a:srgbClr val="E5484D">
              <a:alpha val="39000"/>
            </a:srgbClr>
          </a:solidFill>
          <a:ln w="12700">
            <a:solidFill>
              <a:srgbClr val="333333"/>
            </a:solidFill>
            <a:prstDash val="solid"/>
          </a:ln>
        </p:spPr>
      </p:sp>
      <p:sp>
        <p:nvSpPr>
          <p:cNvPr id="198" name="Shape 196"/>
          <p:cNvSpPr/>
          <p:nvPr/>
        </p:nvSpPr>
        <p:spPr>
          <a:xfrm>
            <a:off x="10597896" y="4604004"/>
            <a:ext cx="169164" cy="169164"/>
          </a:xfrm>
          <a:prstGeom prst="rect">
            <a:avLst/>
          </a:prstGeom>
          <a:solidFill>
            <a:srgbClr val="E5484D">
              <a:alpha val="36000"/>
            </a:srgbClr>
          </a:solidFill>
          <a:ln w="12700">
            <a:solidFill>
              <a:srgbClr val="333333"/>
            </a:solidFill>
            <a:prstDash val="solid"/>
          </a:ln>
        </p:spPr>
      </p:sp>
      <p:sp>
        <p:nvSpPr>
          <p:cNvPr id="199" name="Shape 197"/>
          <p:cNvSpPr/>
          <p:nvPr/>
        </p:nvSpPr>
        <p:spPr>
          <a:xfrm>
            <a:off x="10812780" y="4604004"/>
            <a:ext cx="169164" cy="169164"/>
          </a:xfrm>
          <a:prstGeom prst="rect">
            <a:avLst/>
          </a:prstGeom>
          <a:solidFill>
            <a:srgbClr val="E5484D">
              <a:alpha val="32000"/>
            </a:srgbClr>
          </a:solidFill>
          <a:ln w="12700">
            <a:solidFill>
              <a:srgbClr val="333333"/>
            </a:solidFill>
            <a:prstDash val="solid"/>
          </a:ln>
        </p:spPr>
      </p:sp>
      <p:sp>
        <p:nvSpPr>
          <p:cNvPr id="200" name="Shape 198"/>
          <p:cNvSpPr/>
          <p:nvPr/>
        </p:nvSpPr>
        <p:spPr>
          <a:xfrm>
            <a:off x="7589520" y="4928616"/>
            <a:ext cx="3392424" cy="0"/>
          </a:xfrm>
          <a:prstGeom prst="line">
            <a:avLst/>
          </a:prstGeom>
          <a:noFill/>
          <a:ln w="12700">
            <a:solidFill>
              <a:srgbClr val="5F6B76"/>
            </a:solidFill>
            <a:prstDash val="solid"/>
            <a:tailEnd type="triangle"/>
          </a:ln>
        </p:spPr>
      </p:sp>
      <p:sp>
        <p:nvSpPr>
          <p:cNvPr id="201" name="Text 199"/>
          <p:cNvSpPr txBox="1"/>
          <p:nvPr/>
        </p:nvSpPr>
        <p:spPr>
          <a:xfrm>
            <a:off x="7589520" y="5020056"/>
            <a:ext cx="3657600" cy="274320"/>
          </a:xfrm>
          <a:prstGeom prst="rect">
            <a:avLst/>
          </a:prstGeom>
          <a:noFill/>
          <a:ln/>
        </p:spPr>
        <p:txBody>
          <a:bodyPr wrap="square" lIns="0" tIns="0" rIns="0" bIns="0" rtlCol="0" anchor="ctr"/>
          <a:lstStyle/>
          <a:p>
            <a:pPr indent="0" marL="0">
              <a:buNone/>
            </a:pPr>
            <a:r>
              <a:rPr lang="en-US" sz="1100" dirty="0">
                <a:solidFill>
                  <a:srgbClr val="5F6B76"/>
                </a:solidFill>
                <a:latin typeface="Calibri" pitchFamily="34" charset="0"/>
                <a:ea typeface="Calibri" pitchFamily="34" charset="-122"/>
                <a:cs typeface="Calibri" pitchFamily="34" charset="-120"/>
              </a:rPr>
              <a:t>horizontal axis = time (lag 0 → 150)</a:t>
            </a:r>
            <a:endParaRPr lang="en-US" sz="1100" dirty="0"/>
          </a:p>
        </p:txBody>
      </p:sp>
      <p:sp>
        <p:nvSpPr>
          <p:cNvPr id="202" name="Shape 200"/>
          <p:cNvSpPr/>
          <p:nvPr/>
        </p:nvSpPr>
        <p:spPr>
          <a:xfrm>
            <a:off x="7589520" y="5385816"/>
            <a:ext cx="146304" cy="146304"/>
          </a:xfrm>
          <a:prstGeom prst="rect">
            <a:avLst/>
          </a:prstGeom>
          <a:solidFill>
            <a:srgbClr val="028090"/>
          </a:solidFill>
          <a:ln w="12700">
            <a:solidFill>
              <a:srgbClr val="333333"/>
            </a:solidFill>
            <a:prstDash val="solid"/>
          </a:ln>
        </p:spPr>
      </p:sp>
      <p:sp>
        <p:nvSpPr>
          <p:cNvPr id="203" name="Text 201"/>
          <p:cNvSpPr txBox="1"/>
          <p:nvPr/>
        </p:nvSpPr>
        <p:spPr>
          <a:xfrm>
            <a:off x="7808976" y="5321808"/>
            <a:ext cx="1097280" cy="274320"/>
          </a:xfrm>
          <a:prstGeom prst="rect">
            <a:avLst/>
          </a:prstGeom>
          <a:noFill/>
          <a:ln/>
        </p:spPr>
        <p:txBody>
          <a:bodyPr wrap="square" lIns="0" tIns="0" rIns="0" bIns="0" rtlCol="0" anchor="ctr"/>
          <a:lstStyle/>
          <a:p>
            <a:pPr indent="0" marL="0">
              <a:buNone/>
            </a:pPr>
            <a:r>
              <a:rPr lang="en-US" sz="1100" dirty="0">
                <a:solidFill>
                  <a:srgbClr val="14202B"/>
                </a:solidFill>
                <a:latin typeface="Calibri" pitchFamily="34" charset="0"/>
                <a:ea typeface="Calibri" pitchFamily="34" charset="-122"/>
                <a:cs typeface="Calibri" pitchFamily="34" charset="-120"/>
              </a:rPr>
              <a:t>ask side</a:t>
            </a:r>
            <a:endParaRPr lang="en-US" sz="1100" dirty="0"/>
          </a:p>
        </p:txBody>
      </p:sp>
      <p:sp>
        <p:nvSpPr>
          <p:cNvPr id="204" name="Shape 202"/>
          <p:cNvSpPr/>
          <p:nvPr/>
        </p:nvSpPr>
        <p:spPr>
          <a:xfrm>
            <a:off x="8869680" y="5385816"/>
            <a:ext cx="146304" cy="146304"/>
          </a:xfrm>
          <a:prstGeom prst="rect">
            <a:avLst/>
          </a:prstGeom>
          <a:solidFill>
            <a:srgbClr val="E5484D"/>
          </a:solidFill>
          <a:ln w="12700">
            <a:solidFill>
              <a:srgbClr val="333333"/>
            </a:solidFill>
            <a:prstDash val="solid"/>
          </a:ln>
        </p:spPr>
      </p:sp>
      <p:sp>
        <p:nvSpPr>
          <p:cNvPr id="205" name="Text 203"/>
          <p:cNvSpPr txBox="1"/>
          <p:nvPr/>
        </p:nvSpPr>
        <p:spPr>
          <a:xfrm>
            <a:off x="9089136" y="5321808"/>
            <a:ext cx="1097280" cy="274320"/>
          </a:xfrm>
          <a:prstGeom prst="rect">
            <a:avLst/>
          </a:prstGeom>
          <a:noFill/>
          <a:ln/>
        </p:spPr>
        <p:txBody>
          <a:bodyPr wrap="square" lIns="0" tIns="0" rIns="0" bIns="0" rtlCol="0" anchor="ctr"/>
          <a:lstStyle/>
          <a:p>
            <a:pPr indent="0" marL="0">
              <a:buNone/>
            </a:pPr>
            <a:r>
              <a:rPr lang="en-US" sz="1100" dirty="0">
                <a:solidFill>
                  <a:srgbClr val="14202B"/>
                </a:solidFill>
                <a:latin typeface="Calibri" pitchFamily="34" charset="0"/>
                <a:ea typeface="Calibri" pitchFamily="34" charset="-122"/>
                <a:cs typeface="Calibri" pitchFamily="34" charset="-120"/>
              </a:rPr>
              <a:t>bid side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REPRESENTATION · 2/3</a:t>
            </a:r>
            <a:endParaRPr lang="en-US" sz="12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The edges: TMFG</a:t>
            </a:r>
            <a:endParaRPr lang="en-US" sz="3200" dirty="0"/>
          </a:p>
        </p:txBody>
      </p:sp>
      <p:sp>
        <p:nvSpPr>
          <p:cNvPr id="4" name="Text 2"/>
          <p:cNvSpPr txBox="1"/>
          <p:nvPr/>
        </p:nvSpPr>
        <p:spPr>
          <a:xfrm>
            <a:off x="640080" y="1645920"/>
            <a:ext cx="6035040" cy="2359152"/>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400" dirty="0">
                <a:solidFill>
                  <a:srgbClr val="14202B"/>
                </a:solidFill>
                <a:latin typeface="Calibri" pitchFamily="34" charset="0"/>
                <a:ea typeface="Calibri" pitchFamily="34" charset="-122"/>
                <a:cs typeface="Calibri" pitchFamily="34" charset="-120"/>
              </a:rPr>
              <a:t>TMFG (Triangulated Maximally Filtered Graph) computed on the mutual information between the series</a:t>
            </a:r>
            <a:endParaRPr lang="en-US" sz="1400" dirty="0"/>
          </a:p>
          <a:p>
            <a:pPr marL="342900" indent="-342900">
              <a:lnSpc>
                <a:spcPts val="2000"/>
              </a:lnSpc>
              <a:spcAft>
                <a:spcPts val="1000"/>
              </a:spcAft>
              <a:buSzPct val="100000"/>
              <a:buChar char="●"/>
            </a:pPr>
            <a:r>
              <a:rPr lang="en-US" sz="1400" dirty="0">
                <a:solidFill>
                  <a:srgbClr val="14202B"/>
                </a:solidFill>
                <a:latin typeface="Calibri" pitchFamily="34" charset="0"/>
                <a:ea typeface="Calibri" pitchFamily="34" charset="-122"/>
                <a:cs typeface="Calibri" pitchFamily="34" charset="-120"/>
              </a:rPr>
              <a:t>9,054 undirected edges out of ~4.5 million possible pairs → a sparse, planar graph</a:t>
            </a:r>
            <a:endParaRPr lang="en-US" sz="1400" dirty="0"/>
          </a:p>
          <a:p>
            <a:pPr marL="342900" indent="-342900">
              <a:lnSpc>
                <a:spcPts val="2000"/>
              </a:lnSpc>
              <a:spcAft>
                <a:spcPts val="1000"/>
              </a:spcAft>
              <a:buSzPct val="100000"/>
              <a:buChar char="●"/>
            </a:pPr>
            <a:r>
              <a:rPr lang="en-US" sz="1400" dirty="0">
                <a:solidFill>
                  <a:srgbClr val="14202B"/>
                </a:solidFill>
                <a:latin typeface="Calibri" pitchFamily="34" charset="0"/>
                <a:ea typeface="Calibri" pitchFamily="34" charset="-122"/>
                <a:cs typeface="Calibri" pitchFamily="34" charset="-120"/>
              </a:rPr>
              <a:t>The topology is learned from the data, not imposed by hand (grid, k-NN, fully connected)</a:t>
            </a:r>
            <a:endParaRPr lang="en-US" sz="1400" dirty="0"/>
          </a:p>
          <a:p>
            <a:pPr marL="342900" indent="-342900">
              <a:lnSpc>
                <a:spcPts val="2000"/>
              </a:lnSpc>
              <a:spcAft>
                <a:spcPts val="1000"/>
              </a:spcAft>
              <a:buSzPct val="100000"/>
              <a:buChar char="●"/>
            </a:pPr>
            <a:r>
              <a:rPr lang="en-US" sz="1400" dirty="0">
                <a:solidFill>
                  <a:srgbClr val="14202B"/>
                </a:solidFill>
                <a:latin typeface="Calibri" pitchFamily="34" charset="0"/>
                <a:ea typeface="Calibri" pitchFamily="34" charset="-122"/>
                <a:cs typeface="Calibri" pitchFamily="34" charset="-120"/>
              </a:rPr>
              <a:t>Same family of information filtering network used by the HLOB benchmark</a:t>
            </a:r>
            <a:endParaRPr lang="en-US" sz="1400" dirty="0"/>
          </a:p>
        </p:txBody>
      </p:sp>
      <p:sp>
        <p:nvSpPr>
          <p:cNvPr id="5" name="Shape 3"/>
          <p:cNvSpPr/>
          <p:nvPr/>
        </p:nvSpPr>
        <p:spPr>
          <a:xfrm>
            <a:off x="640080" y="4709160"/>
            <a:ext cx="2880360" cy="1143000"/>
          </a:xfrm>
          <a:prstGeom prst="roundRect">
            <a:avLst>
              <a:gd name="adj" fmla="val 4800"/>
            </a:avLst>
          </a:prstGeom>
          <a:solidFill>
            <a:srgbClr val="EEF3F5"/>
          </a:solidFill>
          <a:ln w="12700">
            <a:solidFill>
              <a:srgbClr val="EEF3F5"/>
            </a:solidFill>
            <a:prstDash val="solid"/>
          </a:ln>
        </p:spPr>
      </p:sp>
      <p:sp>
        <p:nvSpPr>
          <p:cNvPr id="6" name="Text 4"/>
          <p:cNvSpPr txBox="1"/>
          <p:nvPr/>
        </p:nvSpPr>
        <p:spPr>
          <a:xfrm>
            <a:off x="868680" y="4846320"/>
            <a:ext cx="2468880" cy="914400"/>
          </a:xfrm>
          <a:prstGeom prst="rect">
            <a:avLst/>
          </a:prstGeom>
          <a:noFill/>
          <a:ln/>
        </p:spPr>
        <p:txBody>
          <a:bodyPr wrap="square" lIns="0" tIns="0" rIns="0" bIns="0"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9,054</a:t>
            </a:r>
            <a:endParaRPr lang="en-US" sz="3000" dirty="0"/>
          </a:p>
          <a:p>
            <a:pPr indent="0" marL="0">
              <a:buNone/>
            </a:pPr>
            <a:r>
              <a:rPr lang="en-US" sz="1200" dirty="0">
                <a:solidFill>
                  <a:srgbClr val="5F6B76"/>
                </a:solidFill>
                <a:latin typeface="Calibri" pitchFamily="34" charset="0"/>
                <a:ea typeface="Calibri" pitchFamily="34" charset="-122"/>
                <a:cs typeface="Calibri" pitchFamily="34" charset="-120"/>
              </a:rPr>
              <a:t>undirected edges</a:t>
            </a:r>
            <a:endParaRPr lang="en-US" sz="3000" dirty="0"/>
          </a:p>
        </p:txBody>
      </p:sp>
      <p:sp>
        <p:nvSpPr>
          <p:cNvPr id="7" name="Shape 5"/>
          <p:cNvSpPr/>
          <p:nvPr/>
        </p:nvSpPr>
        <p:spPr>
          <a:xfrm>
            <a:off x="3794760" y="4709160"/>
            <a:ext cx="2880360" cy="1143000"/>
          </a:xfrm>
          <a:prstGeom prst="roundRect">
            <a:avLst>
              <a:gd name="adj" fmla="val 4800"/>
            </a:avLst>
          </a:prstGeom>
          <a:solidFill>
            <a:srgbClr val="EEF3F5"/>
          </a:solidFill>
          <a:ln w="12700">
            <a:solidFill>
              <a:srgbClr val="EEF3F5"/>
            </a:solidFill>
            <a:prstDash val="solid"/>
          </a:ln>
        </p:spPr>
      </p:sp>
      <p:sp>
        <p:nvSpPr>
          <p:cNvPr id="8" name="Text 6"/>
          <p:cNvSpPr txBox="1"/>
          <p:nvPr/>
        </p:nvSpPr>
        <p:spPr>
          <a:xfrm>
            <a:off x="4023360" y="4846320"/>
            <a:ext cx="2468880" cy="914400"/>
          </a:xfrm>
          <a:prstGeom prst="rect">
            <a:avLst/>
          </a:prstGeom>
          <a:noFill/>
          <a:ln/>
        </p:spPr>
        <p:txBody>
          <a:bodyPr wrap="square" lIns="0" tIns="0" rIns="0" bIns="0"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0.2%</a:t>
            </a:r>
            <a:endParaRPr lang="en-US" sz="3000" dirty="0"/>
          </a:p>
          <a:p>
            <a:pPr indent="0" marL="0">
              <a:buNone/>
            </a:pPr>
            <a:r>
              <a:rPr lang="en-US" sz="1200" dirty="0">
                <a:solidFill>
                  <a:srgbClr val="5F6B76"/>
                </a:solidFill>
                <a:latin typeface="Calibri" pitchFamily="34" charset="0"/>
                <a:ea typeface="Calibri" pitchFamily="34" charset="-122"/>
                <a:cs typeface="Calibri" pitchFamily="34" charset="-120"/>
              </a:rPr>
              <a:t>of all possible pairs</a:t>
            </a:r>
            <a:endParaRPr lang="en-US" sz="3000" dirty="0"/>
          </a:p>
        </p:txBody>
      </p:sp>
      <p:sp>
        <p:nvSpPr>
          <p:cNvPr id="9" name="Shape 7"/>
          <p:cNvSpPr/>
          <p:nvPr/>
        </p:nvSpPr>
        <p:spPr>
          <a:xfrm>
            <a:off x="7223760" y="1645920"/>
            <a:ext cx="4343400" cy="4206240"/>
          </a:xfrm>
          <a:prstGeom prst="roundRect">
            <a:avLst>
              <a:gd name="adj" fmla="val 1304"/>
            </a:avLst>
          </a:prstGeom>
          <a:solidFill>
            <a:srgbClr val="EEF3F5"/>
          </a:solidFill>
          <a:ln w="12700">
            <a:solidFill>
              <a:srgbClr val="EEF3F5"/>
            </a:solidFill>
            <a:prstDash val="solid"/>
          </a:ln>
        </p:spPr>
      </p:sp>
      <p:sp>
        <p:nvSpPr>
          <p:cNvPr id="10" name="Shape 8"/>
          <p:cNvSpPr/>
          <p:nvPr/>
        </p:nvSpPr>
        <p:spPr>
          <a:xfrm flipH="1">
            <a:off x="8275320" y="2240280"/>
            <a:ext cx="1097280" cy="274320"/>
          </a:xfrm>
          <a:prstGeom prst="line">
            <a:avLst/>
          </a:prstGeom>
          <a:noFill/>
          <a:ln w="15875">
            <a:solidFill>
              <a:srgbClr val="9BB4BE"/>
            </a:solidFill>
            <a:prstDash val="solid"/>
          </a:ln>
        </p:spPr>
      </p:sp>
      <p:sp>
        <p:nvSpPr>
          <p:cNvPr id="11" name="Shape 9"/>
          <p:cNvSpPr/>
          <p:nvPr/>
        </p:nvSpPr>
        <p:spPr>
          <a:xfrm>
            <a:off x="9372600" y="2240280"/>
            <a:ext cx="1143000" cy="365760"/>
          </a:xfrm>
          <a:prstGeom prst="line">
            <a:avLst/>
          </a:prstGeom>
          <a:noFill/>
          <a:ln w="15875">
            <a:solidFill>
              <a:srgbClr val="9BB4BE"/>
            </a:solidFill>
            <a:prstDash val="solid"/>
          </a:ln>
        </p:spPr>
      </p:sp>
      <p:sp>
        <p:nvSpPr>
          <p:cNvPr id="12" name="Shape 10"/>
          <p:cNvSpPr/>
          <p:nvPr/>
        </p:nvSpPr>
        <p:spPr>
          <a:xfrm>
            <a:off x="8275320" y="2514600"/>
            <a:ext cx="685800" cy="685800"/>
          </a:xfrm>
          <a:prstGeom prst="line">
            <a:avLst/>
          </a:prstGeom>
          <a:noFill/>
          <a:ln w="15875">
            <a:solidFill>
              <a:srgbClr val="9BB4BE"/>
            </a:solidFill>
            <a:prstDash val="solid"/>
          </a:ln>
        </p:spPr>
      </p:sp>
      <p:sp>
        <p:nvSpPr>
          <p:cNvPr id="13" name="Shape 11"/>
          <p:cNvSpPr/>
          <p:nvPr/>
        </p:nvSpPr>
        <p:spPr>
          <a:xfrm flipH="1">
            <a:off x="8961120" y="2240280"/>
            <a:ext cx="411480" cy="960120"/>
          </a:xfrm>
          <a:prstGeom prst="line">
            <a:avLst/>
          </a:prstGeom>
          <a:noFill/>
          <a:ln w="15875">
            <a:solidFill>
              <a:srgbClr val="9BB4BE"/>
            </a:solidFill>
            <a:prstDash val="solid"/>
          </a:ln>
        </p:spPr>
      </p:sp>
      <p:sp>
        <p:nvSpPr>
          <p:cNvPr id="14" name="Shape 12"/>
          <p:cNvSpPr/>
          <p:nvPr/>
        </p:nvSpPr>
        <p:spPr>
          <a:xfrm flipH="1">
            <a:off x="10195560" y="2606040"/>
            <a:ext cx="320040" cy="914400"/>
          </a:xfrm>
          <a:prstGeom prst="line">
            <a:avLst/>
          </a:prstGeom>
          <a:noFill/>
          <a:ln w="15875">
            <a:solidFill>
              <a:srgbClr val="9BB4BE"/>
            </a:solidFill>
            <a:prstDash val="solid"/>
          </a:ln>
        </p:spPr>
      </p:sp>
      <p:sp>
        <p:nvSpPr>
          <p:cNvPr id="15" name="Shape 13"/>
          <p:cNvSpPr/>
          <p:nvPr/>
        </p:nvSpPr>
        <p:spPr>
          <a:xfrm>
            <a:off x="8961120" y="3200400"/>
            <a:ext cx="1234440" cy="320040"/>
          </a:xfrm>
          <a:prstGeom prst="line">
            <a:avLst/>
          </a:prstGeom>
          <a:noFill/>
          <a:ln w="15875">
            <a:solidFill>
              <a:srgbClr val="9BB4BE"/>
            </a:solidFill>
            <a:prstDash val="solid"/>
          </a:ln>
        </p:spPr>
      </p:sp>
      <p:sp>
        <p:nvSpPr>
          <p:cNvPr id="16" name="Shape 14"/>
          <p:cNvSpPr/>
          <p:nvPr/>
        </p:nvSpPr>
        <p:spPr>
          <a:xfrm flipH="1">
            <a:off x="7772400" y="2514600"/>
            <a:ext cx="502920" cy="914400"/>
          </a:xfrm>
          <a:prstGeom prst="line">
            <a:avLst/>
          </a:prstGeom>
          <a:noFill/>
          <a:ln w="15875">
            <a:solidFill>
              <a:srgbClr val="9BB4BE"/>
            </a:solidFill>
            <a:prstDash val="solid"/>
          </a:ln>
        </p:spPr>
      </p:sp>
      <p:sp>
        <p:nvSpPr>
          <p:cNvPr id="17" name="Shape 15"/>
          <p:cNvSpPr/>
          <p:nvPr/>
        </p:nvSpPr>
        <p:spPr>
          <a:xfrm flipH="1">
            <a:off x="7772400" y="3200400"/>
            <a:ext cx="1188720" cy="228600"/>
          </a:xfrm>
          <a:prstGeom prst="line">
            <a:avLst/>
          </a:prstGeom>
          <a:noFill/>
          <a:ln w="15875">
            <a:solidFill>
              <a:srgbClr val="9BB4BE"/>
            </a:solidFill>
            <a:prstDash val="solid"/>
          </a:ln>
        </p:spPr>
      </p:sp>
      <p:sp>
        <p:nvSpPr>
          <p:cNvPr id="18" name="Shape 16"/>
          <p:cNvSpPr/>
          <p:nvPr/>
        </p:nvSpPr>
        <p:spPr>
          <a:xfrm>
            <a:off x="10515600" y="2606040"/>
            <a:ext cx="594360" cy="685800"/>
          </a:xfrm>
          <a:prstGeom prst="line">
            <a:avLst/>
          </a:prstGeom>
          <a:noFill/>
          <a:ln w="15875">
            <a:solidFill>
              <a:srgbClr val="9BB4BE"/>
            </a:solidFill>
            <a:prstDash val="solid"/>
          </a:ln>
        </p:spPr>
      </p:sp>
      <p:sp>
        <p:nvSpPr>
          <p:cNvPr id="19" name="Shape 17"/>
          <p:cNvSpPr/>
          <p:nvPr/>
        </p:nvSpPr>
        <p:spPr>
          <a:xfrm flipH="1">
            <a:off x="10195560" y="3291840"/>
            <a:ext cx="914400" cy="228600"/>
          </a:xfrm>
          <a:prstGeom prst="line">
            <a:avLst/>
          </a:prstGeom>
          <a:noFill/>
          <a:ln w="15875">
            <a:solidFill>
              <a:srgbClr val="9BB4BE"/>
            </a:solidFill>
            <a:prstDash val="solid"/>
          </a:ln>
        </p:spPr>
      </p:sp>
      <p:sp>
        <p:nvSpPr>
          <p:cNvPr id="20" name="Shape 18"/>
          <p:cNvSpPr/>
          <p:nvPr/>
        </p:nvSpPr>
        <p:spPr>
          <a:xfrm>
            <a:off x="7772400" y="3429000"/>
            <a:ext cx="457200" cy="914400"/>
          </a:xfrm>
          <a:prstGeom prst="line">
            <a:avLst/>
          </a:prstGeom>
          <a:noFill/>
          <a:ln w="15875">
            <a:solidFill>
              <a:srgbClr val="9BB4BE"/>
            </a:solidFill>
            <a:prstDash val="solid"/>
          </a:ln>
        </p:spPr>
      </p:sp>
      <p:sp>
        <p:nvSpPr>
          <p:cNvPr id="21" name="Shape 19"/>
          <p:cNvSpPr/>
          <p:nvPr/>
        </p:nvSpPr>
        <p:spPr>
          <a:xfrm flipH="1">
            <a:off x="8229600" y="3200400"/>
            <a:ext cx="731520" cy="1143000"/>
          </a:xfrm>
          <a:prstGeom prst="line">
            <a:avLst/>
          </a:prstGeom>
          <a:noFill/>
          <a:ln w="15875">
            <a:solidFill>
              <a:srgbClr val="9BB4BE"/>
            </a:solidFill>
            <a:prstDash val="solid"/>
          </a:ln>
        </p:spPr>
      </p:sp>
      <p:sp>
        <p:nvSpPr>
          <p:cNvPr id="22" name="Shape 20"/>
          <p:cNvSpPr/>
          <p:nvPr/>
        </p:nvSpPr>
        <p:spPr>
          <a:xfrm>
            <a:off x="8961120" y="3200400"/>
            <a:ext cx="548640" cy="1234440"/>
          </a:xfrm>
          <a:prstGeom prst="line">
            <a:avLst/>
          </a:prstGeom>
          <a:noFill/>
          <a:ln w="15875">
            <a:solidFill>
              <a:srgbClr val="9BB4BE"/>
            </a:solidFill>
            <a:prstDash val="solid"/>
          </a:ln>
        </p:spPr>
      </p:sp>
      <p:sp>
        <p:nvSpPr>
          <p:cNvPr id="23" name="Shape 21"/>
          <p:cNvSpPr/>
          <p:nvPr/>
        </p:nvSpPr>
        <p:spPr>
          <a:xfrm flipH="1">
            <a:off x="9509760" y="3520440"/>
            <a:ext cx="685800" cy="914400"/>
          </a:xfrm>
          <a:prstGeom prst="line">
            <a:avLst/>
          </a:prstGeom>
          <a:noFill/>
          <a:ln w="15875">
            <a:solidFill>
              <a:srgbClr val="9BB4BE"/>
            </a:solidFill>
            <a:prstDash val="solid"/>
          </a:ln>
        </p:spPr>
      </p:sp>
      <p:sp>
        <p:nvSpPr>
          <p:cNvPr id="24" name="Shape 22"/>
          <p:cNvSpPr/>
          <p:nvPr/>
        </p:nvSpPr>
        <p:spPr>
          <a:xfrm>
            <a:off x="10195560" y="3520440"/>
            <a:ext cx="411480" cy="777240"/>
          </a:xfrm>
          <a:prstGeom prst="line">
            <a:avLst/>
          </a:prstGeom>
          <a:noFill/>
          <a:ln w="15875">
            <a:solidFill>
              <a:srgbClr val="9BB4BE"/>
            </a:solidFill>
            <a:prstDash val="solid"/>
          </a:ln>
        </p:spPr>
      </p:sp>
      <p:sp>
        <p:nvSpPr>
          <p:cNvPr id="25" name="Shape 23"/>
          <p:cNvSpPr/>
          <p:nvPr/>
        </p:nvSpPr>
        <p:spPr>
          <a:xfrm flipH="1">
            <a:off x="10607040" y="3291840"/>
            <a:ext cx="502920" cy="1005840"/>
          </a:xfrm>
          <a:prstGeom prst="line">
            <a:avLst/>
          </a:prstGeom>
          <a:noFill/>
          <a:ln w="15875">
            <a:solidFill>
              <a:srgbClr val="9BB4BE"/>
            </a:solidFill>
            <a:prstDash val="solid"/>
          </a:ln>
        </p:spPr>
      </p:sp>
      <p:sp>
        <p:nvSpPr>
          <p:cNvPr id="26" name="Shape 24"/>
          <p:cNvSpPr/>
          <p:nvPr/>
        </p:nvSpPr>
        <p:spPr>
          <a:xfrm>
            <a:off x="8229600" y="4343400"/>
            <a:ext cx="1280160" cy="91440"/>
          </a:xfrm>
          <a:prstGeom prst="line">
            <a:avLst/>
          </a:prstGeom>
          <a:noFill/>
          <a:ln w="15875">
            <a:solidFill>
              <a:srgbClr val="9BB4BE"/>
            </a:solidFill>
            <a:prstDash val="solid"/>
          </a:ln>
        </p:spPr>
      </p:sp>
      <p:sp>
        <p:nvSpPr>
          <p:cNvPr id="27" name="Shape 25"/>
          <p:cNvSpPr/>
          <p:nvPr/>
        </p:nvSpPr>
        <p:spPr>
          <a:xfrm flipH="1">
            <a:off x="9509760" y="4297680"/>
            <a:ext cx="1097280" cy="137160"/>
          </a:xfrm>
          <a:prstGeom prst="line">
            <a:avLst/>
          </a:prstGeom>
          <a:noFill/>
          <a:ln w="15875">
            <a:solidFill>
              <a:srgbClr val="9BB4BE"/>
            </a:solidFill>
            <a:prstDash val="solid"/>
          </a:ln>
        </p:spPr>
      </p:sp>
      <p:sp>
        <p:nvSpPr>
          <p:cNvPr id="28" name="Shape 26"/>
          <p:cNvSpPr/>
          <p:nvPr/>
        </p:nvSpPr>
        <p:spPr>
          <a:xfrm>
            <a:off x="8229600" y="4343400"/>
            <a:ext cx="1188720" cy="777240"/>
          </a:xfrm>
          <a:prstGeom prst="line">
            <a:avLst/>
          </a:prstGeom>
          <a:noFill/>
          <a:ln w="15875">
            <a:solidFill>
              <a:srgbClr val="9BB4BE"/>
            </a:solidFill>
            <a:prstDash val="solid"/>
          </a:ln>
        </p:spPr>
      </p:sp>
      <p:sp>
        <p:nvSpPr>
          <p:cNvPr id="29" name="Shape 27"/>
          <p:cNvSpPr/>
          <p:nvPr/>
        </p:nvSpPr>
        <p:spPr>
          <a:xfrm flipH="1">
            <a:off x="9418320" y="4434840"/>
            <a:ext cx="91440" cy="685800"/>
          </a:xfrm>
          <a:prstGeom prst="line">
            <a:avLst/>
          </a:prstGeom>
          <a:noFill/>
          <a:ln w="15875">
            <a:solidFill>
              <a:srgbClr val="9BB4BE"/>
            </a:solidFill>
            <a:prstDash val="solid"/>
          </a:ln>
        </p:spPr>
      </p:sp>
      <p:sp>
        <p:nvSpPr>
          <p:cNvPr id="30" name="Shape 28"/>
          <p:cNvSpPr/>
          <p:nvPr/>
        </p:nvSpPr>
        <p:spPr>
          <a:xfrm flipH="1">
            <a:off x="9418320" y="4297680"/>
            <a:ext cx="1188720" cy="822960"/>
          </a:xfrm>
          <a:prstGeom prst="line">
            <a:avLst/>
          </a:prstGeom>
          <a:noFill/>
          <a:ln w="15875">
            <a:solidFill>
              <a:srgbClr val="9BB4BE"/>
            </a:solidFill>
            <a:prstDash val="solid"/>
          </a:ln>
        </p:spPr>
      </p:sp>
      <p:sp>
        <p:nvSpPr>
          <p:cNvPr id="31" name="Shape 29"/>
          <p:cNvSpPr/>
          <p:nvPr/>
        </p:nvSpPr>
        <p:spPr>
          <a:xfrm>
            <a:off x="8156448" y="2395728"/>
            <a:ext cx="237744" cy="237744"/>
          </a:xfrm>
          <a:prstGeom prst="ellipse">
            <a:avLst/>
          </a:prstGeom>
          <a:solidFill>
            <a:srgbClr val="028090"/>
          </a:solidFill>
          <a:ln w="19050">
            <a:solidFill>
              <a:srgbClr val="FFFFFF"/>
            </a:solidFill>
            <a:prstDash val="solid"/>
          </a:ln>
        </p:spPr>
      </p:sp>
      <p:sp>
        <p:nvSpPr>
          <p:cNvPr id="32" name="Shape 30"/>
          <p:cNvSpPr/>
          <p:nvPr/>
        </p:nvSpPr>
        <p:spPr>
          <a:xfrm>
            <a:off x="9253728" y="2121408"/>
            <a:ext cx="237744" cy="237744"/>
          </a:xfrm>
          <a:prstGeom prst="ellipse">
            <a:avLst/>
          </a:prstGeom>
          <a:solidFill>
            <a:srgbClr val="028090"/>
          </a:solidFill>
          <a:ln w="19050">
            <a:solidFill>
              <a:srgbClr val="FFFFFF"/>
            </a:solidFill>
            <a:prstDash val="solid"/>
          </a:ln>
        </p:spPr>
      </p:sp>
      <p:sp>
        <p:nvSpPr>
          <p:cNvPr id="33" name="Shape 31"/>
          <p:cNvSpPr/>
          <p:nvPr/>
        </p:nvSpPr>
        <p:spPr>
          <a:xfrm>
            <a:off x="10396728" y="2487168"/>
            <a:ext cx="237744" cy="237744"/>
          </a:xfrm>
          <a:prstGeom prst="ellipse">
            <a:avLst/>
          </a:prstGeom>
          <a:solidFill>
            <a:srgbClr val="028090"/>
          </a:solidFill>
          <a:ln w="19050">
            <a:solidFill>
              <a:srgbClr val="FFFFFF"/>
            </a:solidFill>
            <a:prstDash val="solid"/>
          </a:ln>
        </p:spPr>
      </p:sp>
      <p:sp>
        <p:nvSpPr>
          <p:cNvPr id="34" name="Shape 32"/>
          <p:cNvSpPr/>
          <p:nvPr/>
        </p:nvSpPr>
        <p:spPr>
          <a:xfrm>
            <a:off x="7653528" y="3310128"/>
            <a:ext cx="237744" cy="237744"/>
          </a:xfrm>
          <a:prstGeom prst="ellipse">
            <a:avLst/>
          </a:prstGeom>
          <a:solidFill>
            <a:srgbClr val="028090"/>
          </a:solidFill>
          <a:ln w="19050">
            <a:solidFill>
              <a:srgbClr val="FFFFFF"/>
            </a:solidFill>
            <a:prstDash val="solid"/>
          </a:ln>
        </p:spPr>
      </p:sp>
      <p:sp>
        <p:nvSpPr>
          <p:cNvPr id="35" name="Shape 33"/>
          <p:cNvSpPr/>
          <p:nvPr/>
        </p:nvSpPr>
        <p:spPr>
          <a:xfrm>
            <a:off x="8842248" y="3081528"/>
            <a:ext cx="237744" cy="237744"/>
          </a:xfrm>
          <a:prstGeom prst="ellipse">
            <a:avLst/>
          </a:prstGeom>
          <a:solidFill>
            <a:srgbClr val="028090"/>
          </a:solidFill>
          <a:ln w="19050">
            <a:solidFill>
              <a:srgbClr val="FFFFFF"/>
            </a:solidFill>
            <a:prstDash val="solid"/>
          </a:ln>
        </p:spPr>
      </p:sp>
      <p:sp>
        <p:nvSpPr>
          <p:cNvPr id="36" name="Shape 34"/>
          <p:cNvSpPr/>
          <p:nvPr/>
        </p:nvSpPr>
        <p:spPr>
          <a:xfrm>
            <a:off x="10076688" y="3401568"/>
            <a:ext cx="237744" cy="237744"/>
          </a:xfrm>
          <a:prstGeom prst="ellipse">
            <a:avLst/>
          </a:prstGeom>
          <a:solidFill>
            <a:srgbClr val="028090"/>
          </a:solidFill>
          <a:ln w="19050">
            <a:solidFill>
              <a:srgbClr val="FFFFFF"/>
            </a:solidFill>
            <a:prstDash val="solid"/>
          </a:ln>
        </p:spPr>
      </p:sp>
      <p:sp>
        <p:nvSpPr>
          <p:cNvPr id="37" name="Shape 35"/>
          <p:cNvSpPr/>
          <p:nvPr/>
        </p:nvSpPr>
        <p:spPr>
          <a:xfrm>
            <a:off x="10991088" y="3172968"/>
            <a:ext cx="237744" cy="237744"/>
          </a:xfrm>
          <a:prstGeom prst="ellipse">
            <a:avLst/>
          </a:prstGeom>
          <a:solidFill>
            <a:srgbClr val="028090"/>
          </a:solidFill>
          <a:ln w="19050">
            <a:solidFill>
              <a:srgbClr val="FFFFFF"/>
            </a:solidFill>
            <a:prstDash val="solid"/>
          </a:ln>
        </p:spPr>
      </p:sp>
      <p:sp>
        <p:nvSpPr>
          <p:cNvPr id="38" name="Shape 36"/>
          <p:cNvSpPr/>
          <p:nvPr/>
        </p:nvSpPr>
        <p:spPr>
          <a:xfrm>
            <a:off x="8110728" y="4224528"/>
            <a:ext cx="237744" cy="237744"/>
          </a:xfrm>
          <a:prstGeom prst="ellipse">
            <a:avLst/>
          </a:prstGeom>
          <a:solidFill>
            <a:srgbClr val="028090"/>
          </a:solidFill>
          <a:ln w="19050">
            <a:solidFill>
              <a:srgbClr val="FFFFFF"/>
            </a:solidFill>
            <a:prstDash val="solid"/>
          </a:ln>
        </p:spPr>
      </p:sp>
      <p:sp>
        <p:nvSpPr>
          <p:cNvPr id="39" name="Shape 37"/>
          <p:cNvSpPr/>
          <p:nvPr/>
        </p:nvSpPr>
        <p:spPr>
          <a:xfrm>
            <a:off x="9390888" y="4315968"/>
            <a:ext cx="237744" cy="237744"/>
          </a:xfrm>
          <a:prstGeom prst="ellipse">
            <a:avLst/>
          </a:prstGeom>
          <a:solidFill>
            <a:srgbClr val="028090"/>
          </a:solidFill>
          <a:ln w="19050">
            <a:solidFill>
              <a:srgbClr val="FFFFFF"/>
            </a:solidFill>
            <a:prstDash val="solid"/>
          </a:ln>
        </p:spPr>
      </p:sp>
      <p:sp>
        <p:nvSpPr>
          <p:cNvPr id="40" name="Shape 38"/>
          <p:cNvSpPr/>
          <p:nvPr/>
        </p:nvSpPr>
        <p:spPr>
          <a:xfrm>
            <a:off x="10488168" y="4178808"/>
            <a:ext cx="237744" cy="237744"/>
          </a:xfrm>
          <a:prstGeom prst="ellipse">
            <a:avLst/>
          </a:prstGeom>
          <a:solidFill>
            <a:srgbClr val="028090"/>
          </a:solidFill>
          <a:ln w="19050">
            <a:solidFill>
              <a:srgbClr val="FFFFFF"/>
            </a:solidFill>
            <a:prstDash val="solid"/>
          </a:ln>
        </p:spPr>
      </p:sp>
      <p:sp>
        <p:nvSpPr>
          <p:cNvPr id="41" name="Shape 39"/>
          <p:cNvSpPr/>
          <p:nvPr/>
        </p:nvSpPr>
        <p:spPr>
          <a:xfrm>
            <a:off x="9299448" y="5001768"/>
            <a:ext cx="237744" cy="237744"/>
          </a:xfrm>
          <a:prstGeom prst="ellipse">
            <a:avLst/>
          </a:prstGeom>
          <a:solidFill>
            <a:srgbClr val="028090"/>
          </a:solidFill>
          <a:ln w="19050">
            <a:solidFill>
              <a:srgbClr val="FFFFFF"/>
            </a:solidFill>
            <a:prstDash val="solid"/>
          </a:ln>
        </p:spPr>
      </p:sp>
      <p:sp>
        <p:nvSpPr>
          <p:cNvPr id="42" name="Text 40"/>
          <p:cNvSpPr txBox="1"/>
          <p:nvPr/>
        </p:nvSpPr>
        <p:spPr>
          <a:xfrm>
            <a:off x="7406640" y="5440680"/>
            <a:ext cx="3931920" cy="274320"/>
          </a:xfrm>
          <a:prstGeom prst="rect">
            <a:avLst/>
          </a:prstGeom>
          <a:noFill/>
          <a:ln/>
        </p:spPr>
        <p:txBody>
          <a:bodyPr wrap="square" lIns="0" tIns="0" rIns="0" bIns="0" rtlCol="0" anchor="ctr"/>
          <a:lstStyle/>
          <a:p>
            <a:pPr algn="ctr" indent="0" marL="0">
              <a:buNone/>
            </a:pPr>
            <a:r>
              <a:rPr lang="en-US" sz="1100" i="1" dirty="0">
                <a:solidFill>
                  <a:srgbClr val="5F6B76"/>
                </a:solidFill>
                <a:latin typeface="Calibri" pitchFamily="34" charset="0"/>
                <a:ea typeface="Calibri" pitchFamily="34" charset="-122"/>
                <a:cs typeface="Calibri" pitchFamily="34" charset="-120"/>
              </a:rPr>
              <a:t>TMFG — schematic (the real graph has 3,020 nodes)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REPRESENTATION · 3/3</a:t>
            </a:r>
            <a:endParaRPr lang="en-US" sz="12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The node features</a:t>
            </a:r>
            <a:endParaRPr lang="en-US" sz="3200" dirty="0"/>
          </a:p>
        </p:txBody>
      </p:sp>
      <p:sp>
        <p:nvSpPr>
          <p:cNvPr id="4" name="Shape 2"/>
          <p:cNvSpPr/>
          <p:nvPr/>
        </p:nvSpPr>
        <p:spPr>
          <a:xfrm>
            <a:off x="640080" y="1828800"/>
            <a:ext cx="566928" cy="566928"/>
          </a:xfrm>
          <a:prstGeom prst="ellipse">
            <a:avLst/>
          </a:prstGeom>
          <a:solidFill>
            <a:srgbClr val="028090"/>
          </a:solidFill>
          <a:ln w="12700">
            <a:solidFill>
              <a:srgbClr val="333333"/>
            </a:solidFill>
            <a:prstDash val="solid"/>
          </a:ln>
        </p:spPr>
      </p:sp>
      <p:sp>
        <p:nvSpPr>
          <p:cNvPr id="5" name="Text 3"/>
          <p:cNvSpPr txBox="1"/>
          <p:nvPr/>
        </p:nvSpPr>
        <p:spPr>
          <a:xfrm>
            <a:off x="640080" y="18288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463040" y="1783080"/>
            <a:ext cx="7040880" cy="320040"/>
          </a:xfrm>
          <a:prstGeom prst="rect">
            <a:avLst/>
          </a:prstGeom>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Price normalised against the mid</a:t>
            </a:r>
            <a:endParaRPr lang="en-US" sz="1600" dirty="0"/>
          </a:p>
        </p:txBody>
      </p:sp>
      <p:sp>
        <p:nvSpPr>
          <p:cNvPr id="7" name="Text 5"/>
          <p:cNvSpPr txBox="1"/>
          <p:nvPr/>
        </p:nvSpPr>
        <p:spPr>
          <a:xfrm>
            <a:off x="1463040" y="2130552"/>
            <a:ext cx="7040880" cy="685800"/>
          </a:xfrm>
          <a:prstGeom prst="rect">
            <a:avLst/>
          </a:prstGeom>
          <a:noFill/>
          <a:ln/>
        </p:spPr>
        <p:txBody>
          <a:bodyPr wrap="square" lIns="0" tIns="0" rIns="0" bIns="0" rtlCol="0" anchor="ctr"/>
          <a:lstStyle/>
          <a:p>
            <a:pPr indent="0" marL="0">
              <a:lnSpc>
                <a:spcPts val="1700"/>
              </a:lnSpc>
              <a:buNone/>
            </a:pPr>
            <a:r>
              <a:rPr lang="en-US" sz="1300" dirty="0">
                <a:solidFill>
                  <a:srgbClr val="5F6B76"/>
                </a:solidFill>
                <a:latin typeface="Calibri" pitchFamily="34" charset="0"/>
                <a:ea typeface="Calibri" pitchFamily="34" charset="-122"/>
                <a:cs typeface="Calibri" pitchFamily="34" charset="-120"/>
              </a:rPr>
              <a:t>(p − mid) / mid  —  invariant to the stock's absolute price level: the model sees the shape of the book, not Cisco's price</a:t>
            </a:r>
            <a:endParaRPr lang="en-US" sz="1300" dirty="0"/>
          </a:p>
        </p:txBody>
      </p:sp>
      <p:sp>
        <p:nvSpPr>
          <p:cNvPr id="8" name="Shape 6"/>
          <p:cNvSpPr/>
          <p:nvPr/>
        </p:nvSpPr>
        <p:spPr>
          <a:xfrm>
            <a:off x="640080" y="3401568"/>
            <a:ext cx="566928" cy="566928"/>
          </a:xfrm>
          <a:prstGeom prst="ellipse">
            <a:avLst/>
          </a:prstGeom>
          <a:solidFill>
            <a:srgbClr val="028090"/>
          </a:solidFill>
          <a:ln w="12700">
            <a:solidFill>
              <a:srgbClr val="333333"/>
            </a:solidFill>
            <a:prstDash val="solid"/>
          </a:ln>
        </p:spPr>
      </p:sp>
      <p:sp>
        <p:nvSpPr>
          <p:cNvPr id="9" name="Text 7"/>
          <p:cNvSpPr txBox="1"/>
          <p:nvPr/>
        </p:nvSpPr>
        <p:spPr>
          <a:xfrm>
            <a:off x="640080" y="340156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txBox="1"/>
          <p:nvPr/>
        </p:nvSpPr>
        <p:spPr>
          <a:xfrm>
            <a:off x="1463040" y="3355848"/>
            <a:ext cx="7040880" cy="320040"/>
          </a:xfrm>
          <a:prstGeom prst="rect">
            <a:avLst/>
          </a:prstGeom>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Discretised volume</a:t>
            </a:r>
            <a:endParaRPr lang="en-US" sz="1600" dirty="0"/>
          </a:p>
        </p:txBody>
      </p:sp>
      <p:sp>
        <p:nvSpPr>
          <p:cNvPr id="11" name="Text 9"/>
          <p:cNvSpPr txBox="1"/>
          <p:nvPr/>
        </p:nvSpPr>
        <p:spPr>
          <a:xfrm>
            <a:off x="1463040" y="3703320"/>
            <a:ext cx="7040880" cy="685800"/>
          </a:xfrm>
          <a:prstGeom prst="rect">
            <a:avLst/>
          </a:prstGeom>
          <a:noFill/>
          <a:ln/>
        </p:spPr>
        <p:txBody>
          <a:bodyPr wrap="square" lIns="0" tIns="0" rIns="0" bIns="0" rtlCol="0" anchor="ctr"/>
          <a:lstStyle/>
          <a:p>
            <a:pPr indent="0" marL="0">
              <a:lnSpc>
                <a:spcPts val="1700"/>
              </a:lnSpc>
              <a:buNone/>
            </a:pPr>
            <a:r>
              <a:rPr lang="en-US" sz="1300" dirty="0">
                <a:solidFill>
                  <a:srgbClr val="5F6B76"/>
                </a:solidFill>
                <a:latin typeface="Calibri" pitchFamily="34" charset="0"/>
                <a:ea typeface="Calibri" pitchFamily="34" charset="-122"/>
                <a:cs typeface="Calibri" pitchFamily="34" charset="-120"/>
              </a:rPr>
              <a:t>2,000 global quantile bins — robust to the heavy tails and outliers typical of market volumes</a:t>
            </a:r>
            <a:endParaRPr lang="en-US" sz="1300" dirty="0"/>
          </a:p>
        </p:txBody>
      </p:sp>
      <p:sp>
        <p:nvSpPr>
          <p:cNvPr id="12" name="Shape 10"/>
          <p:cNvSpPr/>
          <p:nvPr/>
        </p:nvSpPr>
        <p:spPr>
          <a:xfrm>
            <a:off x="640080" y="4974336"/>
            <a:ext cx="566928" cy="566928"/>
          </a:xfrm>
          <a:prstGeom prst="ellipse">
            <a:avLst/>
          </a:prstGeom>
          <a:solidFill>
            <a:srgbClr val="028090"/>
          </a:solidFill>
          <a:ln w="12700">
            <a:solidFill>
              <a:srgbClr val="333333"/>
            </a:solidFill>
            <a:prstDash val="solid"/>
          </a:ln>
        </p:spPr>
      </p:sp>
      <p:sp>
        <p:nvSpPr>
          <p:cNvPr id="13" name="Text 11"/>
          <p:cNvSpPr txBox="1"/>
          <p:nvPr/>
        </p:nvSpPr>
        <p:spPr>
          <a:xfrm>
            <a:off x="640080" y="4974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txBox="1"/>
          <p:nvPr/>
        </p:nvSpPr>
        <p:spPr>
          <a:xfrm>
            <a:off x="1463040" y="4928616"/>
            <a:ext cx="7040880" cy="320040"/>
          </a:xfrm>
          <a:prstGeom prst="rect">
            <a:avLst/>
          </a:prstGeom>
          <a:noFill/>
          <a:ln/>
        </p:spPr>
        <p:txBody>
          <a:bodyPr wrap="square" lIns="0" tIns="0" rIns="0" bIns="0" rtlCol="0" anchor="ctr"/>
          <a:lstStyle/>
          <a:p>
            <a:pPr indent="0" marL="0">
              <a:buNone/>
            </a:pPr>
            <a:r>
              <a:rPr lang="en-US" sz="1600" b="1" dirty="0">
                <a:solidFill>
                  <a:srgbClr val="14202B"/>
                </a:solidFill>
                <a:latin typeface="Calibri" pitchFamily="34" charset="0"/>
                <a:ea typeface="Calibri" pitchFamily="34" charset="-122"/>
                <a:cs typeface="Calibri" pitchFamily="34" charset="-120"/>
              </a:rPr>
              <a:t>Normalised lag ∈ [0,1]</a:t>
            </a:r>
            <a:endParaRPr lang="en-US" sz="1600" dirty="0"/>
          </a:p>
        </p:txBody>
      </p:sp>
      <p:sp>
        <p:nvSpPr>
          <p:cNvPr id="15" name="Text 13"/>
          <p:cNvSpPr txBox="1"/>
          <p:nvPr/>
        </p:nvSpPr>
        <p:spPr>
          <a:xfrm>
            <a:off x="1463040" y="5276088"/>
            <a:ext cx="7040880" cy="685800"/>
          </a:xfrm>
          <a:prstGeom prst="rect">
            <a:avLst/>
          </a:prstGeom>
          <a:noFill/>
          <a:ln/>
        </p:spPr>
        <p:txBody>
          <a:bodyPr wrap="square" lIns="0" tIns="0" rIns="0" bIns="0" rtlCol="0" anchor="ctr"/>
          <a:lstStyle/>
          <a:p>
            <a:pPr indent="0" marL="0">
              <a:lnSpc>
                <a:spcPts val="1700"/>
              </a:lnSpc>
              <a:buNone/>
            </a:pPr>
            <a:r>
              <a:rPr lang="en-US" sz="1300" dirty="0">
                <a:solidFill>
                  <a:srgbClr val="5F6B76"/>
                </a:solidFill>
                <a:latin typeface="Calibri" pitchFamily="34" charset="0"/>
                <a:ea typeface="Calibri" pitchFamily="34" charset="-122"/>
                <a:cs typeface="Calibri" pitchFamily="34" charset="-120"/>
              </a:rPr>
              <a:t>Positional encoding: it tells the model how old that node is. Without it, after pooling the 151 lags are indistinguishable</a:t>
            </a:r>
            <a:endParaRPr lang="en-US" sz="1300" dirty="0"/>
          </a:p>
        </p:txBody>
      </p:sp>
      <p:sp>
        <p:nvSpPr>
          <p:cNvPr id="16" name="Shape 14"/>
          <p:cNvSpPr/>
          <p:nvPr/>
        </p:nvSpPr>
        <p:spPr>
          <a:xfrm>
            <a:off x="8823960" y="1783080"/>
            <a:ext cx="2743200" cy="4114800"/>
          </a:xfrm>
          <a:prstGeom prst="roundRect">
            <a:avLst>
              <a:gd name="adj" fmla="val 2000"/>
            </a:avLst>
          </a:prstGeom>
          <a:solidFill>
            <a:srgbClr val="EEF3F5"/>
          </a:solidFill>
          <a:ln w="12700">
            <a:solidFill>
              <a:srgbClr val="EEF3F5"/>
            </a:solidFill>
            <a:prstDash val="solid"/>
          </a:ln>
        </p:spPr>
      </p:sp>
      <p:sp>
        <p:nvSpPr>
          <p:cNvPr id="17" name="Text 15"/>
          <p:cNvSpPr txBox="1"/>
          <p:nvPr/>
        </p:nvSpPr>
        <p:spPr>
          <a:xfrm>
            <a:off x="9052560" y="2011680"/>
            <a:ext cx="2331720" cy="3657600"/>
          </a:xfrm>
          <a:prstGeom prst="rect">
            <a:avLst/>
          </a:prstGeom>
          <a:noFill/>
          <a:ln/>
        </p:spPr>
        <p:txBody>
          <a:bodyPr wrap="square" lIns="0" tIns="0" rIns="0" bIns="0" rtlCol="0" anchor="ctr"/>
          <a:lstStyle/>
          <a:p>
            <a:pPr indent="0" marL="0">
              <a:lnSpc>
                <a:spcPts val="1700"/>
              </a:lnSpc>
              <a:buNone/>
            </a:pPr>
            <a:r>
              <a:rPr lang="en-US" sz="1400" b="1" dirty="0">
                <a:solidFill>
                  <a:srgbClr val="14202B"/>
                </a:solidFill>
                <a:latin typeface="Calibri" pitchFamily="34" charset="0"/>
                <a:ea typeface="Calibri" pitchFamily="34" charset="-122"/>
                <a:cs typeface="Calibri" pitchFamily="34" charset="-120"/>
              </a:rPr>
              <a:t>Storage cost</a:t>
            </a:r>
            <a:endParaRPr lang="en-US" sz="1400" dirty="0"/>
          </a:p>
          <a:p>
            <a:pPr indent="0" marL="0">
              <a:lnSpc>
                <a:spcPts val="1700"/>
              </a:lnSpc>
              <a:buNone/>
            </a:pPr>
            <a:r>
              <a:rPr lang="en-US" sz="600" dirty="0">
                <a:solidFill>
                  <a:srgbClr val="000000"/>
                </a:solidFill>
                <a:latin typeface="Calibri" pitchFamily="34" charset="0"/>
                <a:ea typeface="Calibri" pitchFamily="34" charset="-122"/>
                <a:cs typeface="Calibri" pitchFamily="34" charset="-120"/>
              </a:rPr>
              <a:t>
</a:t>
            </a:r>
            <a:endParaRPr lang="en-US" sz="1400" dirty="0"/>
          </a:p>
          <a:p>
            <a:pPr indent="0" marL="0">
              <a:lnSpc>
                <a:spcPts val="1700"/>
              </a:lnSpc>
              <a:buNone/>
            </a:pPr>
            <a:r>
              <a:rPr lang="en-US" sz="1250" dirty="0">
                <a:solidFill>
                  <a:srgbClr val="5F6B76"/>
                </a:solidFill>
                <a:latin typeface="Calibri" pitchFamily="34" charset="0"/>
                <a:ea typeface="Calibri" pitchFamily="34" charset="-122"/>
                <a:cs typeface="Calibri" pitchFamily="34" charset="-120"/>
              </a:rPr>
              <a:t>Only the first two features live on disk, as memory-mapped float16.</a:t>
            </a:r>
            <a:endParaRPr lang="en-US" sz="1400" dirty="0"/>
          </a:p>
          <a:p>
            <a:pPr indent="0" marL="0">
              <a:lnSpc>
                <a:spcPts val="1700"/>
              </a:lnSpc>
              <a:buNone/>
            </a:pPr>
            <a:r>
              <a:rPr lang="en-US" sz="600" dirty="0">
                <a:solidFill>
                  <a:srgbClr val="000000"/>
                </a:solidFill>
                <a:latin typeface="Calibri" pitchFamily="34" charset="0"/>
                <a:ea typeface="Calibri" pitchFamily="34" charset="-122"/>
                <a:cs typeface="Calibri" pitchFamily="34" charset="-120"/>
              </a:rPr>
              <a:t>
</a:t>
            </a:r>
            <a:endParaRPr lang="en-US" sz="1400" dirty="0"/>
          </a:p>
          <a:p>
            <a:pPr indent="0" marL="0">
              <a:lnSpc>
                <a:spcPts val="1700"/>
              </a:lnSpc>
              <a:buNone/>
            </a:pPr>
            <a:r>
              <a:rPr lang="en-US" sz="1250" dirty="0">
                <a:solidFill>
                  <a:srgbClr val="5F6B76"/>
                </a:solidFill>
                <a:latin typeface="Calibri" pitchFamily="34" charset="0"/>
                <a:ea typeface="Calibri" pitchFamily="34" charset="-122"/>
                <a:cs typeface="Calibri" pitchFamily="34" charset="-120"/>
              </a:rPr>
              <a:t>The third is generated inside the model as a deterministic function of the node index:</a:t>
            </a:r>
            <a:endParaRPr lang="en-US" sz="1400" dirty="0"/>
          </a:p>
          <a:p>
            <a:pPr indent="0" marL="0">
              <a:lnSpc>
                <a:spcPts val="1700"/>
              </a:lnSpc>
              <a:buNone/>
            </a:pPr>
            <a:r>
              <a:rPr lang="en-US" sz="600" dirty="0">
                <a:solidFill>
                  <a:srgbClr val="000000"/>
                </a:solidFill>
                <a:latin typeface="Calibri" pitchFamily="34" charset="0"/>
                <a:ea typeface="Calibri" pitchFamily="34" charset="-122"/>
                <a:cs typeface="Calibri" pitchFamily="34" charset="-120"/>
              </a:rPr>
              <a:t>
</a:t>
            </a:r>
            <a:endParaRPr lang="en-US" sz="1400" dirty="0"/>
          </a:p>
          <a:p>
            <a:pPr indent="0" marL="0">
              <a:lnSpc>
                <a:spcPts val="1700"/>
              </a:lnSpc>
              <a:buNone/>
            </a:pPr>
            <a:r>
              <a:rPr lang="en-US" sz="1300" b="1" dirty="0">
                <a:solidFill>
                  <a:srgbClr val="028090"/>
                </a:solidFill>
                <a:latin typeface="Calibri" pitchFamily="34" charset="0"/>
                <a:ea typeface="Calibri" pitchFamily="34" charset="-122"/>
                <a:cs typeface="Calibri" pitchFamily="34" charset="-120"/>
              </a:rPr>
              <a:t>zero extra bytes.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THE TASK · OPERATIONAL DEFINITION</a:t>
            </a:r>
            <a:endParaRPr lang="en-US" sz="12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The target: direction over k = 50 events</a:t>
            </a:r>
            <a:endParaRPr lang="en-US" sz="3200" dirty="0"/>
          </a:p>
        </p:txBody>
      </p:sp>
      <p:sp>
        <p:nvSpPr>
          <p:cNvPr id="4" name="Shape 2"/>
          <p:cNvSpPr/>
          <p:nvPr/>
        </p:nvSpPr>
        <p:spPr>
          <a:xfrm>
            <a:off x="640080" y="1645920"/>
            <a:ext cx="6126480" cy="1417320"/>
          </a:xfrm>
          <a:prstGeom prst="roundRect">
            <a:avLst>
              <a:gd name="adj" fmla="val 3871"/>
            </a:avLst>
          </a:prstGeom>
          <a:solidFill>
            <a:srgbClr val="EEF3F5"/>
          </a:solidFill>
          <a:ln w="12700">
            <a:solidFill>
              <a:srgbClr val="EEF3F5"/>
            </a:solidFill>
            <a:prstDash val="solid"/>
          </a:ln>
        </p:spPr>
      </p:sp>
      <p:sp>
        <p:nvSpPr>
          <p:cNvPr id="5" name="Text 3"/>
          <p:cNvSpPr txBox="1"/>
          <p:nvPr/>
        </p:nvSpPr>
        <p:spPr>
          <a:xfrm>
            <a:off x="914400" y="1810512"/>
            <a:ext cx="5577840" cy="1097280"/>
          </a:xfrm>
          <a:prstGeom prst="rect">
            <a:avLst/>
          </a:prstGeom>
          <a:noFill/>
          <a:ln/>
        </p:spPr>
        <p:txBody>
          <a:bodyPr wrap="square" lIns="0" tIns="0" rIns="0" bIns="0" rtlCol="0" anchor="ctr"/>
          <a:lstStyle/>
          <a:p>
            <a:pPr indent="0" marL="0">
              <a:lnSpc>
                <a:spcPts val="2100"/>
              </a:lnSpc>
              <a:buNone/>
            </a:pPr>
            <a:r>
              <a:rPr lang="en-US" sz="1600" b="1" dirty="0">
                <a:solidFill>
                  <a:srgbClr val="14202B"/>
                </a:solidFill>
                <a:latin typeface="Courier New" pitchFamily="34" charset="0"/>
                <a:ea typeface="Courier New" pitchFamily="34" charset="-122"/>
                <a:cs typeface="Courier New" pitchFamily="34" charset="-120"/>
              </a:rPr>
              <a:t>Δm = mid[t+50] − mid[t]</a:t>
            </a:r>
            <a:endParaRPr lang="en-US" sz="1600" dirty="0"/>
          </a:p>
          <a:p>
            <a:pPr indent="0" marL="0">
              <a:lnSpc>
                <a:spcPts val="2100"/>
              </a:lnSpc>
              <a:buNone/>
            </a:pPr>
            <a:r>
              <a:rPr lang="en-US" sz="1200" dirty="0">
                <a:solidFill>
                  <a:srgbClr val="5F6B76"/>
                </a:solidFill>
                <a:latin typeface="Courier New" pitchFamily="34" charset="0"/>
                <a:ea typeface="Courier New" pitchFamily="34" charset="-122"/>
                <a:cs typeface="Courier New" pitchFamily="34" charset="-120"/>
              </a:rPr>
              <a:t>down if Δm ≤ −1 tick   ·   up if Δm ≥ +1 tick</a:t>
            </a:r>
            <a:endParaRPr lang="en-US" sz="1600" dirty="0"/>
          </a:p>
          <a:p>
            <a:pPr indent="0" marL="0">
              <a:lnSpc>
                <a:spcPts val="2100"/>
              </a:lnSpc>
              <a:buNone/>
            </a:pPr>
            <a:r>
              <a:rPr lang="en-US" sz="1200" dirty="0">
                <a:solidFill>
                  <a:srgbClr val="5F6B76"/>
                </a:solidFill>
                <a:latin typeface="Courier New" pitchFamily="34" charset="0"/>
                <a:ea typeface="Courier New" pitchFamily="34" charset="-122"/>
                <a:cs typeface="Courier New" pitchFamily="34" charset="-120"/>
              </a:rPr>
              <a:t>flat otherwise</a:t>
            </a:r>
            <a:endParaRPr lang="en-US" sz="1600" dirty="0"/>
          </a:p>
        </p:txBody>
      </p:sp>
      <p:sp>
        <p:nvSpPr>
          <p:cNvPr id="6" name="Text 4"/>
          <p:cNvSpPr txBox="1"/>
          <p:nvPr/>
        </p:nvSpPr>
        <p:spPr>
          <a:xfrm>
            <a:off x="640080" y="3337560"/>
            <a:ext cx="6126480" cy="1792224"/>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350" dirty="0">
                <a:solidFill>
                  <a:srgbClr val="14202B"/>
                </a:solidFill>
                <a:latin typeface="Calibri" pitchFamily="34" charset="0"/>
                <a:ea typeface="Calibri" pitchFamily="34" charset="-122"/>
                <a:cs typeface="Calibri" pitchFamily="34" charset="-120"/>
              </a:rPr>
              <a:t>Absolute threshold of one tick ($0.01), not a percentage: a sub-tick move is not tradeable after spread and costs</a:t>
            </a:r>
            <a:endParaRPr lang="en-US" sz="1350" dirty="0"/>
          </a:p>
          <a:p>
            <a:pPr marL="342900" indent="-342900">
              <a:lnSpc>
                <a:spcPts val="2000"/>
              </a:lnSpc>
              <a:spcAft>
                <a:spcPts val="1000"/>
              </a:spcAft>
              <a:buSzPct val="100000"/>
              <a:buChar char="●"/>
            </a:pPr>
            <a:r>
              <a:rPr lang="en-US" sz="1350" dirty="0">
                <a:solidFill>
                  <a:srgbClr val="14202B"/>
                </a:solidFill>
                <a:latin typeface="Calibri" pitchFamily="34" charset="0"/>
                <a:ea typeface="Calibri" pitchFamily="34" charset="-122"/>
                <a:cs typeface="Calibri" pitchFamily="34" charset="-120"/>
              </a:rPr>
              <a:t>Same definition (Eq. 2) as the HLOB paper → the comparison with the state of the art is legitimate</a:t>
            </a:r>
            <a:endParaRPr lang="en-US" sz="1350" dirty="0"/>
          </a:p>
          <a:p>
            <a:pPr marL="342900" indent="-342900">
              <a:lnSpc>
                <a:spcPts val="2000"/>
              </a:lnSpc>
              <a:spcAft>
                <a:spcPts val="1000"/>
              </a:spcAft>
              <a:buSzPct val="100000"/>
              <a:buChar char="●"/>
            </a:pPr>
            <a:r>
              <a:rPr lang="en-US" sz="1350" dirty="0">
                <a:solidFill>
                  <a:srgbClr val="14202B"/>
                </a:solidFill>
                <a:latin typeface="Calibri" pitchFamily="34" charset="0"/>
                <a:ea typeface="Calibri" pitchFamily="34" charset="-122"/>
                <a:cs typeface="Calibri" pitchFamily="34" charset="-120"/>
              </a:rPr>
              <a:t>Implementation detail: LOBSTER prices are in $×10⁴, so one tick = 100 units</a:t>
            </a:r>
            <a:endParaRPr lang="en-US" sz="1350" dirty="0"/>
          </a:p>
        </p:txBody>
      </p:sp>
      <p:sp>
        <p:nvSpPr>
          <p:cNvPr id="7" name="Text 5"/>
          <p:cNvSpPr txBox="1"/>
          <p:nvPr/>
        </p:nvSpPr>
        <p:spPr>
          <a:xfrm>
            <a:off x="7406640" y="1691640"/>
            <a:ext cx="4206240" cy="274320"/>
          </a:xfrm>
          <a:prstGeom prst="rect">
            <a:avLst/>
          </a:prstGeom>
          <a:noFill/>
          <a:ln/>
        </p:spPr>
        <p:txBody>
          <a:bodyPr wrap="square" lIns="0" tIns="0" rIns="0" bIns="0" rtlCol="0" anchor="ctr"/>
          <a:lstStyle/>
          <a:p>
            <a:pPr indent="0" marL="0">
              <a:buNone/>
            </a:pPr>
            <a:r>
              <a:rPr lang="en-US" sz="1400" b="1" dirty="0">
                <a:solidFill>
                  <a:srgbClr val="14202B"/>
                </a:solidFill>
                <a:latin typeface="Calibri" pitchFamily="34" charset="0"/>
                <a:ea typeface="Calibri" pitchFamily="34" charset="-122"/>
                <a:cs typeface="Calibri" pitchFamily="34" charset="-120"/>
              </a:rPr>
              <a:t>Natural class distribution</a:t>
            </a:r>
            <a:endParaRPr lang="en-US" sz="1400" dirty="0"/>
          </a:p>
        </p:txBody>
      </p:sp>
      <p:sp>
        <p:nvSpPr>
          <p:cNvPr id="8" name="Shape 6"/>
          <p:cNvSpPr/>
          <p:nvPr/>
        </p:nvSpPr>
        <p:spPr>
          <a:xfrm>
            <a:off x="7406640" y="2148840"/>
            <a:ext cx="264993" cy="548640"/>
          </a:xfrm>
          <a:prstGeom prst="rect">
            <a:avLst/>
          </a:prstGeom>
          <a:solidFill>
            <a:srgbClr val="E5484D"/>
          </a:solidFill>
          <a:ln w="12700">
            <a:solidFill>
              <a:srgbClr val="FFFFFF"/>
            </a:solidFill>
            <a:prstDash val="solid"/>
          </a:ln>
        </p:spPr>
      </p:sp>
      <p:sp>
        <p:nvSpPr>
          <p:cNvPr id="9" name="Shape 7"/>
          <p:cNvSpPr/>
          <p:nvPr/>
        </p:nvSpPr>
        <p:spPr>
          <a:xfrm>
            <a:off x="7671633" y="2148840"/>
            <a:ext cx="3609091" cy="548640"/>
          </a:xfrm>
          <a:prstGeom prst="rect">
            <a:avLst/>
          </a:prstGeom>
          <a:solidFill>
            <a:srgbClr val="96A7B0"/>
          </a:solidFill>
          <a:ln w="12700">
            <a:solidFill>
              <a:srgbClr val="FFFFFF"/>
            </a:solidFill>
            <a:prstDash val="solid"/>
          </a:ln>
        </p:spPr>
      </p:sp>
      <p:sp>
        <p:nvSpPr>
          <p:cNvPr id="10" name="Shape 8"/>
          <p:cNvSpPr/>
          <p:nvPr/>
        </p:nvSpPr>
        <p:spPr>
          <a:xfrm>
            <a:off x="11280724" y="2148840"/>
            <a:ext cx="240716" cy="548640"/>
          </a:xfrm>
          <a:prstGeom prst="rect">
            <a:avLst/>
          </a:prstGeom>
          <a:solidFill>
            <a:srgbClr val="02C39A"/>
          </a:solidFill>
          <a:ln w="12700">
            <a:solidFill>
              <a:srgbClr val="FFFFFF"/>
            </a:solidFill>
            <a:prstDash val="solid"/>
          </a:ln>
        </p:spPr>
      </p:sp>
      <p:sp>
        <p:nvSpPr>
          <p:cNvPr id="11" name="Text 9"/>
          <p:cNvSpPr txBox="1"/>
          <p:nvPr/>
        </p:nvSpPr>
        <p:spPr>
          <a:xfrm>
            <a:off x="7406640" y="2834640"/>
            <a:ext cx="4114800" cy="914400"/>
          </a:xfrm>
          <a:prstGeom prst="rect">
            <a:avLst/>
          </a:prstGeom>
          <a:noFill/>
          <a:ln/>
        </p:spPr>
        <p:txBody>
          <a:bodyPr wrap="square" lIns="0" tIns="0" rIns="0" bIns="0" rtlCol="0" anchor="ctr"/>
          <a:lstStyle/>
          <a:p>
            <a:pPr indent="0" marL="0">
              <a:lnSpc>
                <a:spcPts val="1900"/>
              </a:lnSpc>
              <a:buNone/>
            </a:pPr>
            <a:r>
              <a:rPr lang="en-US" sz="1300" b="1" dirty="0">
                <a:solidFill>
                  <a:srgbClr val="E5484D"/>
                </a:solidFill>
                <a:latin typeface="Calibri" pitchFamily="34" charset="0"/>
                <a:ea typeface="Calibri" pitchFamily="34" charset="-122"/>
                <a:cs typeface="Calibri" pitchFamily="34" charset="-120"/>
              </a:rPr>
              <a:t>6.4%  down</a:t>
            </a:r>
            <a:endParaRPr lang="en-US" sz="1300" dirty="0"/>
          </a:p>
          <a:p>
            <a:pPr indent="0" marL="0">
              <a:lnSpc>
                <a:spcPts val="1900"/>
              </a:lnSpc>
              <a:buNone/>
            </a:pPr>
            <a:r>
              <a:rPr lang="en-US" sz="1300" b="1" dirty="0">
                <a:solidFill>
                  <a:srgbClr val="6E8290"/>
                </a:solidFill>
                <a:latin typeface="Calibri" pitchFamily="34" charset="0"/>
                <a:ea typeface="Calibri" pitchFamily="34" charset="-122"/>
                <a:cs typeface="Calibri" pitchFamily="34" charset="-120"/>
              </a:rPr>
              <a:t>87.7%  flat</a:t>
            </a:r>
            <a:endParaRPr lang="en-US" sz="1300" dirty="0"/>
          </a:p>
          <a:p>
            <a:pPr indent="0" marL="0">
              <a:lnSpc>
                <a:spcPts val="1900"/>
              </a:lnSpc>
              <a:buNone/>
            </a:pPr>
            <a:r>
              <a:rPr lang="en-US" sz="1300" b="1" dirty="0">
                <a:solidFill>
                  <a:srgbClr val="01916F"/>
                </a:solidFill>
                <a:latin typeface="Calibri" pitchFamily="34" charset="0"/>
                <a:ea typeface="Calibri" pitchFamily="34" charset="-122"/>
                <a:cs typeface="Calibri" pitchFamily="34" charset="-120"/>
              </a:rPr>
              <a:t>5.9%  up</a:t>
            </a:r>
            <a:endParaRPr lang="en-US" sz="1300" dirty="0"/>
          </a:p>
        </p:txBody>
      </p:sp>
      <p:sp>
        <p:nvSpPr>
          <p:cNvPr id="12" name="Shape 10"/>
          <p:cNvSpPr/>
          <p:nvPr/>
        </p:nvSpPr>
        <p:spPr>
          <a:xfrm>
            <a:off x="7406640" y="3977640"/>
            <a:ext cx="4160520" cy="1783080"/>
          </a:xfrm>
          <a:prstGeom prst="roundRect">
            <a:avLst>
              <a:gd name="adj" fmla="val 3077"/>
            </a:avLst>
          </a:prstGeom>
          <a:solidFill>
            <a:srgbClr val="FDF0F0"/>
          </a:solidFill>
          <a:ln w="12700">
            <a:solidFill>
              <a:srgbClr val="FDF0F0"/>
            </a:solidFill>
            <a:prstDash val="solid"/>
          </a:ln>
        </p:spPr>
      </p:sp>
      <p:sp>
        <p:nvSpPr>
          <p:cNvPr id="13" name="Text 11"/>
          <p:cNvSpPr txBox="1"/>
          <p:nvPr/>
        </p:nvSpPr>
        <p:spPr>
          <a:xfrm>
            <a:off x="7635240" y="4160520"/>
            <a:ext cx="3703320" cy="1463040"/>
          </a:xfrm>
          <a:prstGeom prst="rect">
            <a:avLst/>
          </a:prstGeom>
          <a:noFill/>
          <a:ln/>
        </p:spPr>
        <p:txBody>
          <a:bodyPr wrap="square" lIns="0" tIns="0" rIns="0" bIns="0" rtlCol="0" anchor="ctr"/>
          <a:lstStyle/>
          <a:p>
            <a:pPr indent="0" marL="0">
              <a:lnSpc>
                <a:spcPts val="1700"/>
              </a:lnSpc>
              <a:buNone/>
            </a:pPr>
            <a:r>
              <a:rPr lang="en-US" sz="1400" b="1" dirty="0">
                <a:solidFill>
                  <a:srgbClr val="E5484D"/>
                </a:solidFill>
                <a:latin typeface="Calibri" pitchFamily="34" charset="0"/>
                <a:ea typeface="Calibri" pitchFamily="34" charset="-122"/>
                <a:cs typeface="Calibri" pitchFamily="34" charset="-120"/>
              </a:rPr>
              <a:t>Accuracy is misleading</a:t>
            </a:r>
            <a:endParaRPr lang="en-US" sz="1400" dirty="0"/>
          </a:p>
          <a:p>
            <a:pPr indent="0" marL="0">
              <a:lnSpc>
                <a:spcPts val="1700"/>
              </a:lnSpc>
              <a:buNone/>
            </a:pPr>
            <a:r>
              <a:rPr lang="en-US" sz="1250" dirty="0">
                <a:solidFill>
                  <a:srgbClr val="14202B"/>
                </a:solidFill>
                <a:latin typeface="Calibri" pitchFamily="34" charset="0"/>
                <a:ea typeface="Calibri" pitchFamily="34" charset="-122"/>
                <a:cs typeface="Calibri" pitchFamily="34" charset="-120"/>
              </a:rPr>
              <a:t>«always predict flat» gives 88% accuracy but macro F1 ≈ 0.32.</a:t>
            </a:r>
            <a:endParaRPr lang="en-US" sz="1400" dirty="0"/>
          </a:p>
          <a:p>
            <a:pPr indent="0" marL="0">
              <a:lnSpc>
                <a:spcPts val="1700"/>
              </a:lnSpc>
              <a:buNone/>
            </a:pPr>
            <a:r>
              <a:rPr lang="en-US" sz="1250" dirty="0">
                <a:solidFill>
                  <a:srgbClr val="14202B"/>
                </a:solidFill>
                <a:latin typeface="Calibri" pitchFamily="34" charset="0"/>
                <a:ea typeface="Calibri" pitchFamily="34" charset="-122"/>
                <a:cs typeface="Calibri" pitchFamily="34" charset="-120"/>
              </a:rPr>
              <a:t>Reported metrics: macro F1 and MCC, the same as the benchmark.</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02B"/>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THE MODEL</a:t>
            </a:r>
            <a:endParaRPr lang="en-US" sz="12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final architecture: CGNN</a:t>
            </a:r>
            <a:endParaRPr lang="en-US" sz="3200" dirty="0"/>
          </a:p>
        </p:txBody>
      </p:sp>
      <p:sp>
        <p:nvSpPr>
          <p:cNvPr id="4" name="Shape 2"/>
          <p:cNvSpPr/>
          <p:nvPr/>
        </p:nvSpPr>
        <p:spPr>
          <a:xfrm>
            <a:off x="640080" y="1737360"/>
            <a:ext cx="5669280" cy="621792"/>
          </a:xfrm>
          <a:prstGeom prst="roundRect">
            <a:avLst>
              <a:gd name="adj" fmla="val 10294"/>
            </a:avLst>
          </a:prstGeom>
          <a:solidFill>
            <a:srgbClr val="1E2E3C"/>
          </a:solidFill>
          <a:ln w="12700">
            <a:solidFill>
              <a:srgbClr val="31465A"/>
            </a:solidFill>
            <a:prstDash val="solid"/>
          </a:ln>
        </p:spPr>
      </p:sp>
      <p:sp>
        <p:nvSpPr>
          <p:cNvPr id="5" name="Text 3"/>
          <p:cNvSpPr txBox="1"/>
          <p:nvPr/>
        </p:nvSpPr>
        <p:spPr>
          <a:xfrm>
            <a:off x="841248" y="1792224"/>
            <a:ext cx="5303520" cy="51206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Input — node features</a:t>
            </a:r>
            <a:pPr indent="0" marL="0">
              <a:buNone/>
            </a:pPr>
            <a:endParaRPr lang="en-US" sz="1250" dirty="0"/>
          </a:p>
        </p:txBody>
      </p:sp>
      <p:sp>
        <p:nvSpPr>
          <p:cNvPr id="6" name="Text 4"/>
          <p:cNvSpPr txBox="1"/>
          <p:nvPr/>
        </p:nvSpPr>
        <p:spPr>
          <a:xfrm>
            <a:off x="6629400" y="1737360"/>
            <a:ext cx="2468880" cy="621792"/>
          </a:xfrm>
          <a:prstGeom prst="rect">
            <a:avLst/>
          </a:prstGeom>
          <a:noFill/>
          <a:ln/>
        </p:spPr>
        <p:txBody>
          <a:bodyPr wrap="square" lIns="0" tIns="0" rIns="0" bIns="0" rtlCol="0" anchor="ctr"/>
          <a:lstStyle/>
          <a:p>
            <a:pPr indent="0" marL="0">
              <a:buNone/>
            </a:pPr>
            <a:r>
              <a:rPr lang="en-US" sz="1150" dirty="0">
                <a:solidFill>
                  <a:srgbClr val="C9D6DE"/>
                </a:solidFill>
                <a:latin typeface="Courier New" pitchFamily="34" charset="0"/>
                <a:ea typeface="Courier New" pitchFamily="34" charset="-122"/>
                <a:cs typeface="Courier New" pitchFamily="34" charset="-120"/>
              </a:rPr>
              <a:t>[B, 3020, 3]</a:t>
            </a:r>
            <a:endParaRPr lang="en-US" sz="1150" dirty="0"/>
          </a:p>
        </p:txBody>
      </p:sp>
      <p:sp>
        <p:nvSpPr>
          <p:cNvPr id="7" name="Shape 5"/>
          <p:cNvSpPr/>
          <p:nvPr/>
        </p:nvSpPr>
        <p:spPr>
          <a:xfrm>
            <a:off x="1143000" y="2377440"/>
            <a:ext cx="0" cy="100584"/>
          </a:xfrm>
          <a:prstGeom prst="line">
            <a:avLst/>
          </a:prstGeom>
          <a:noFill/>
          <a:ln w="19050">
            <a:solidFill>
              <a:srgbClr val="4A6376"/>
            </a:solidFill>
            <a:prstDash val="solid"/>
            <a:tailEnd type="triangle"/>
          </a:ln>
        </p:spPr>
      </p:sp>
      <p:sp>
        <p:nvSpPr>
          <p:cNvPr id="8" name="Shape 6"/>
          <p:cNvSpPr/>
          <p:nvPr/>
        </p:nvSpPr>
        <p:spPr>
          <a:xfrm>
            <a:off x="640080" y="2496312"/>
            <a:ext cx="5669280" cy="621792"/>
          </a:xfrm>
          <a:prstGeom prst="roundRect">
            <a:avLst>
              <a:gd name="adj" fmla="val 10294"/>
            </a:avLst>
          </a:prstGeom>
          <a:solidFill>
            <a:srgbClr val="1E2E3C"/>
          </a:solidFill>
          <a:ln w="12700">
            <a:solidFill>
              <a:srgbClr val="31465A"/>
            </a:solidFill>
            <a:prstDash val="solid"/>
          </a:ln>
        </p:spPr>
      </p:sp>
      <p:sp>
        <p:nvSpPr>
          <p:cNvPr id="9" name="Text 7"/>
          <p:cNvSpPr txBox="1"/>
          <p:nvPr/>
        </p:nvSpPr>
        <p:spPr>
          <a:xfrm>
            <a:off x="841248" y="2551176"/>
            <a:ext cx="5303520" cy="51206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Reshape along the temporal axis</a:t>
            </a:r>
            <a:endParaRPr lang="en-US" sz="1250" dirty="0"/>
          </a:p>
          <a:p>
            <a:pPr indent="0" marL="0">
              <a:buNone/>
            </a:pPr>
            <a:r>
              <a:rPr lang="en-US" sz="1050" dirty="0">
                <a:solidFill>
                  <a:srgbClr val="C9D6DE"/>
                </a:solidFill>
                <a:latin typeface="Calibri" pitchFamily="34" charset="0"/>
                <a:ea typeface="Calibri" pitchFamily="34" charset="-122"/>
                <a:cs typeface="Calibri" pitchFamily="34" charset="-120"/>
              </a:rPr>
              <a:t>20 groups (side × level) × 151 lags</a:t>
            </a:r>
            <a:endParaRPr lang="en-US" sz="1250" dirty="0"/>
          </a:p>
        </p:txBody>
      </p:sp>
      <p:sp>
        <p:nvSpPr>
          <p:cNvPr id="10" name="Text 8"/>
          <p:cNvSpPr txBox="1"/>
          <p:nvPr/>
        </p:nvSpPr>
        <p:spPr>
          <a:xfrm>
            <a:off x="6629400" y="2496312"/>
            <a:ext cx="2468880" cy="621792"/>
          </a:xfrm>
          <a:prstGeom prst="rect">
            <a:avLst/>
          </a:prstGeom>
          <a:noFill/>
          <a:ln/>
        </p:spPr>
        <p:txBody>
          <a:bodyPr wrap="square" lIns="0" tIns="0" rIns="0" bIns="0" rtlCol="0" anchor="ctr"/>
          <a:lstStyle/>
          <a:p>
            <a:pPr indent="0" marL="0">
              <a:buNone/>
            </a:pPr>
            <a:r>
              <a:rPr lang="en-US" sz="1150" dirty="0">
                <a:solidFill>
                  <a:srgbClr val="C9D6DE"/>
                </a:solidFill>
                <a:latin typeface="Courier New" pitchFamily="34" charset="0"/>
                <a:ea typeface="Courier New" pitchFamily="34" charset="-122"/>
                <a:cs typeface="Courier New" pitchFamily="34" charset="-120"/>
              </a:rPr>
              <a:t>[B, 20, 151, 3]</a:t>
            </a:r>
            <a:endParaRPr lang="en-US" sz="1150" dirty="0"/>
          </a:p>
        </p:txBody>
      </p:sp>
      <p:sp>
        <p:nvSpPr>
          <p:cNvPr id="11" name="Shape 9"/>
          <p:cNvSpPr/>
          <p:nvPr/>
        </p:nvSpPr>
        <p:spPr>
          <a:xfrm>
            <a:off x="1143000" y="3136392"/>
            <a:ext cx="0" cy="100584"/>
          </a:xfrm>
          <a:prstGeom prst="line">
            <a:avLst/>
          </a:prstGeom>
          <a:noFill/>
          <a:ln w="19050">
            <a:solidFill>
              <a:srgbClr val="4A6376"/>
            </a:solidFill>
            <a:prstDash val="solid"/>
            <a:tailEnd type="triangle"/>
          </a:ln>
        </p:spPr>
      </p:sp>
      <p:sp>
        <p:nvSpPr>
          <p:cNvPr id="12" name="Shape 10"/>
          <p:cNvSpPr/>
          <p:nvPr/>
        </p:nvSpPr>
        <p:spPr>
          <a:xfrm>
            <a:off x="640080" y="3255264"/>
            <a:ext cx="5669280" cy="621792"/>
          </a:xfrm>
          <a:prstGeom prst="roundRect">
            <a:avLst>
              <a:gd name="adj" fmla="val 10294"/>
            </a:avLst>
          </a:prstGeom>
          <a:solidFill>
            <a:srgbClr val="0A3B45"/>
          </a:solidFill>
          <a:ln w="12700">
            <a:solidFill>
              <a:srgbClr val="028090"/>
            </a:solidFill>
            <a:prstDash val="solid"/>
          </a:ln>
        </p:spPr>
      </p:sp>
      <p:sp>
        <p:nvSpPr>
          <p:cNvPr id="13" name="Text 11"/>
          <p:cNvSpPr txBox="1"/>
          <p:nvPr/>
        </p:nvSpPr>
        <p:spPr>
          <a:xfrm>
            <a:off x="841248" y="3310128"/>
            <a:ext cx="5303520" cy="51206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1D CNN over the lags</a:t>
            </a:r>
            <a:endParaRPr lang="en-US" sz="1250" dirty="0"/>
          </a:p>
          <a:p>
            <a:pPr indent="0" marL="0">
              <a:buNone/>
            </a:pPr>
            <a:r>
              <a:rPr lang="en-US" sz="1050" dirty="0">
                <a:solidFill>
                  <a:srgbClr val="C9D6DE"/>
                </a:solidFill>
                <a:latin typeface="Calibri" pitchFamily="34" charset="0"/>
                <a:ea typeface="Calibri" pitchFamily="34" charset="-122"/>
                <a:cs typeface="Calibri" pitchFamily="34" charset="-120"/>
              </a:rPr>
              <a:t>Conv1d(3→64, k=5) → ReLU → Conv1d(64→175, k=5) → ReLU</a:t>
            </a:r>
            <a:endParaRPr lang="en-US" sz="1250" dirty="0"/>
          </a:p>
        </p:txBody>
      </p:sp>
      <p:sp>
        <p:nvSpPr>
          <p:cNvPr id="14" name="Text 12"/>
          <p:cNvSpPr txBox="1"/>
          <p:nvPr/>
        </p:nvSpPr>
        <p:spPr>
          <a:xfrm>
            <a:off x="6629400" y="3255264"/>
            <a:ext cx="2468880" cy="621792"/>
          </a:xfrm>
          <a:prstGeom prst="rect">
            <a:avLst/>
          </a:prstGeom>
          <a:noFill/>
          <a:ln/>
        </p:spPr>
        <p:txBody>
          <a:bodyPr wrap="square" lIns="0" tIns="0" rIns="0" bIns="0" rtlCol="0" anchor="ctr"/>
          <a:lstStyle/>
          <a:p>
            <a:pPr indent="0" marL="0">
              <a:buNone/>
            </a:pPr>
            <a:r>
              <a:rPr lang="en-US" sz="1150" dirty="0">
                <a:solidFill>
                  <a:srgbClr val="02C39A"/>
                </a:solidFill>
                <a:latin typeface="Courier New" pitchFamily="34" charset="0"/>
                <a:ea typeface="Courier New" pitchFamily="34" charset="-122"/>
                <a:cs typeface="Courier New" pitchFamily="34" charset="-120"/>
              </a:rPr>
              <a:t>[B, 20, 151, 175]</a:t>
            </a:r>
            <a:endParaRPr lang="en-US" sz="1150" dirty="0"/>
          </a:p>
        </p:txBody>
      </p:sp>
      <p:sp>
        <p:nvSpPr>
          <p:cNvPr id="15" name="Shape 13"/>
          <p:cNvSpPr/>
          <p:nvPr/>
        </p:nvSpPr>
        <p:spPr>
          <a:xfrm>
            <a:off x="1143000" y="3895344"/>
            <a:ext cx="0" cy="100584"/>
          </a:xfrm>
          <a:prstGeom prst="line">
            <a:avLst/>
          </a:prstGeom>
          <a:noFill/>
          <a:ln w="19050">
            <a:solidFill>
              <a:srgbClr val="4A6376"/>
            </a:solidFill>
            <a:prstDash val="solid"/>
            <a:tailEnd type="triangle"/>
          </a:ln>
        </p:spPr>
      </p:sp>
      <p:sp>
        <p:nvSpPr>
          <p:cNvPr id="16" name="Shape 14"/>
          <p:cNvSpPr/>
          <p:nvPr/>
        </p:nvSpPr>
        <p:spPr>
          <a:xfrm>
            <a:off x="640080" y="4014216"/>
            <a:ext cx="5669280" cy="621792"/>
          </a:xfrm>
          <a:prstGeom prst="roundRect">
            <a:avLst>
              <a:gd name="adj" fmla="val 10294"/>
            </a:avLst>
          </a:prstGeom>
          <a:solidFill>
            <a:srgbClr val="0A3B45"/>
          </a:solidFill>
          <a:ln w="12700">
            <a:solidFill>
              <a:srgbClr val="028090"/>
            </a:solidFill>
            <a:prstDash val="solid"/>
          </a:ln>
        </p:spPr>
      </p:sp>
      <p:sp>
        <p:nvSpPr>
          <p:cNvPr id="17" name="Text 15"/>
          <p:cNvSpPr txBox="1"/>
          <p:nvPr/>
        </p:nvSpPr>
        <p:spPr>
          <a:xfrm>
            <a:off x="841248" y="4069080"/>
            <a:ext cx="5303520" cy="51206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3 × GCNConv(175→175) over the TMFG edges</a:t>
            </a:r>
            <a:endParaRPr lang="en-US" sz="1250" dirty="0"/>
          </a:p>
          <a:p>
            <a:pPr indent="0" marL="0">
              <a:buNone/>
            </a:pPr>
            <a:r>
              <a:rPr lang="en-US" sz="1050" dirty="0">
                <a:solidFill>
                  <a:srgbClr val="C9D6DE"/>
                </a:solidFill>
                <a:latin typeface="Calibri" pitchFamily="34" charset="0"/>
                <a:ea typeface="Calibri" pitchFamily="34" charset="-122"/>
                <a:cs typeface="Calibri" pitchFamily="34" charset="-120"/>
              </a:rPr>
              <a:t>+ LayerNorm → ReLU → Dropout 0.3</a:t>
            </a:r>
            <a:endParaRPr lang="en-US" sz="1250" dirty="0"/>
          </a:p>
        </p:txBody>
      </p:sp>
      <p:sp>
        <p:nvSpPr>
          <p:cNvPr id="18" name="Text 16"/>
          <p:cNvSpPr txBox="1"/>
          <p:nvPr/>
        </p:nvSpPr>
        <p:spPr>
          <a:xfrm>
            <a:off x="6629400" y="4014216"/>
            <a:ext cx="2468880" cy="621792"/>
          </a:xfrm>
          <a:prstGeom prst="rect">
            <a:avLst/>
          </a:prstGeom>
          <a:noFill/>
          <a:ln/>
        </p:spPr>
        <p:txBody>
          <a:bodyPr wrap="square" lIns="0" tIns="0" rIns="0" bIns="0" rtlCol="0" anchor="ctr"/>
          <a:lstStyle/>
          <a:p>
            <a:pPr indent="0" marL="0">
              <a:buNone/>
            </a:pPr>
            <a:r>
              <a:rPr lang="en-US" sz="1150" dirty="0">
                <a:solidFill>
                  <a:srgbClr val="02C39A"/>
                </a:solidFill>
                <a:latin typeface="Courier New" pitchFamily="34" charset="0"/>
                <a:ea typeface="Courier New" pitchFamily="34" charset="-122"/>
                <a:cs typeface="Courier New" pitchFamily="34" charset="-120"/>
              </a:rPr>
              <a:t>[B, 3020, 175]</a:t>
            </a:r>
            <a:endParaRPr lang="en-US" sz="1150" dirty="0"/>
          </a:p>
        </p:txBody>
      </p:sp>
      <p:sp>
        <p:nvSpPr>
          <p:cNvPr id="19" name="Shape 17"/>
          <p:cNvSpPr/>
          <p:nvPr/>
        </p:nvSpPr>
        <p:spPr>
          <a:xfrm>
            <a:off x="1143000" y="4654296"/>
            <a:ext cx="0" cy="100584"/>
          </a:xfrm>
          <a:prstGeom prst="line">
            <a:avLst/>
          </a:prstGeom>
          <a:noFill/>
          <a:ln w="19050">
            <a:solidFill>
              <a:srgbClr val="4A6376"/>
            </a:solidFill>
            <a:prstDash val="solid"/>
            <a:tailEnd type="triangle"/>
          </a:ln>
        </p:spPr>
      </p:sp>
      <p:sp>
        <p:nvSpPr>
          <p:cNvPr id="20" name="Shape 18"/>
          <p:cNvSpPr/>
          <p:nvPr/>
        </p:nvSpPr>
        <p:spPr>
          <a:xfrm>
            <a:off x="640080" y="4773168"/>
            <a:ext cx="5669280" cy="621792"/>
          </a:xfrm>
          <a:prstGeom prst="roundRect">
            <a:avLst>
              <a:gd name="adj" fmla="val 10294"/>
            </a:avLst>
          </a:prstGeom>
          <a:solidFill>
            <a:srgbClr val="1E2E3C"/>
          </a:solidFill>
          <a:ln w="12700">
            <a:solidFill>
              <a:srgbClr val="31465A"/>
            </a:solidFill>
            <a:prstDash val="solid"/>
          </a:ln>
        </p:spPr>
      </p:sp>
      <p:sp>
        <p:nvSpPr>
          <p:cNvPr id="21" name="Text 19"/>
          <p:cNvSpPr txBox="1"/>
          <p:nvPr/>
        </p:nvSpPr>
        <p:spPr>
          <a:xfrm>
            <a:off x="841248" y="4828032"/>
            <a:ext cx="5303520" cy="51206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Pooling — mean ⊕ max over nodes</a:t>
            </a:r>
            <a:pPr indent="0" marL="0">
              <a:buNone/>
            </a:pPr>
            <a:endParaRPr lang="en-US" sz="1250" dirty="0"/>
          </a:p>
        </p:txBody>
      </p:sp>
      <p:sp>
        <p:nvSpPr>
          <p:cNvPr id="22" name="Text 20"/>
          <p:cNvSpPr txBox="1"/>
          <p:nvPr/>
        </p:nvSpPr>
        <p:spPr>
          <a:xfrm>
            <a:off x="6629400" y="4773168"/>
            <a:ext cx="2468880" cy="621792"/>
          </a:xfrm>
          <a:prstGeom prst="rect">
            <a:avLst/>
          </a:prstGeom>
          <a:noFill/>
          <a:ln/>
        </p:spPr>
        <p:txBody>
          <a:bodyPr wrap="square" lIns="0" tIns="0" rIns="0" bIns="0" rtlCol="0" anchor="ctr"/>
          <a:lstStyle/>
          <a:p>
            <a:pPr indent="0" marL="0">
              <a:buNone/>
            </a:pPr>
            <a:r>
              <a:rPr lang="en-US" sz="1150" dirty="0">
                <a:solidFill>
                  <a:srgbClr val="C9D6DE"/>
                </a:solidFill>
                <a:latin typeface="Courier New" pitchFamily="34" charset="0"/>
                <a:ea typeface="Courier New" pitchFamily="34" charset="-122"/>
                <a:cs typeface="Courier New" pitchFamily="34" charset="-120"/>
              </a:rPr>
              <a:t>[B, 350]</a:t>
            </a:r>
            <a:endParaRPr lang="en-US" sz="1150" dirty="0"/>
          </a:p>
        </p:txBody>
      </p:sp>
      <p:sp>
        <p:nvSpPr>
          <p:cNvPr id="23" name="Shape 21"/>
          <p:cNvSpPr/>
          <p:nvPr/>
        </p:nvSpPr>
        <p:spPr>
          <a:xfrm>
            <a:off x="1143000" y="5413248"/>
            <a:ext cx="0" cy="100584"/>
          </a:xfrm>
          <a:prstGeom prst="line">
            <a:avLst/>
          </a:prstGeom>
          <a:noFill/>
          <a:ln w="19050">
            <a:solidFill>
              <a:srgbClr val="4A6376"/>
            </a:solidFill>
            <a:prstDash val="solid"/>
            <a:tailEnd type="triangle"/>
          </a:ln>
        </p:spPr>
      </p:sp>
      <p:sp>
        <p:nvSpPr>
          <p:cNvPr id="24" name="Shape 22"/>
          <p:cNvSpPr/>
          <p:nvPr/>
        </p:nvSpPr>
        <p:spPr>
          <a:xfrm>
            <a:off x="640080" y="5532120"/>
            <a:ext cx="5669280" cy="621792"/>
          </a:xfrm>
          <a:prstGeom prst="roundRect">
            <a:avLst>
              <a:gd name="adj" fmla="val 10294"/>
            </a:avLst>
          </a:prstGeom>
          <a:solidFill>
            <a:srgbClr val="1E2E3C"/>
          </a:solidFill>
          <a:ln w="12700">
            <a:solidFill>
              <a:srgbClr val="31465A"/>
            </a:solidFill>
            <a:prstDash val="solid"/>
          </a:ln>
        </p:spPr>
      </p:sp>
      <p:sp>
        <p:nvSpPr>
          <p:cNvPr id="25" name="Text 23"/>
          <p:cNvSpPr txBox="1"/>
          <p:nvPr/>
        </p:nvSpPr>
        <p:spPr>
          <a:xfrm>
            <a:off x="841248" y="5586984"/>
            <a:ext cx="5303520" cy="51206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MLP  350 → 87 → 3</a:t>
            </a:r>
            <a:endParaRPr lang="en-US" sz="1250" dirty="0"/>
          </a:p>
          <a:p>
            <a:pPr indent="0" marL="0">
              <a:buNone/>
            </a:pPr>
            <a:r>
              <a:rPr lang="en-US" sz="1050" dirty="0">
                <a:solidFill>
                  <a:srgbClr val="C9D6DE"/>
                </a:solidFill>
                <a:latin typeface="Calibri" pitchFamily="34" charset="0"/>
                <a:ea typeface="Calibri" pitchFamily="34" charset="-122"/>
                <a:cs typeface="Calibri" pitchFamily="34" charset="-120"/>
              </a:rPr>
              <a:t>logits down / flat / up</a:t>
            </a:r>
            <a:endParaRPr lang="en-US" sz="1250" dirty="0"/>
          </a:p>
        </p:txBody>
      </p:sp>
      <p:sp>
        <p:nvSpPr>
          <p:cNvPr id="26" name="Text 24"/>
          <p:cNvSpPr txBox="1"/>
          <p:nvPr/>
        </p:nvSpPr>
        <p:spPr>
          <a:xfrm>
            <a:off x="6629400" y="5532120"/>
            <a:ext cx="2468880" cy="621792"/>
          </a:xfrm>
          <a:prstGeom prst="rect">
            <a:avLst/>
          </a:prstGeom>
          <a:noFill/>
          <a:ln/>
        </p:spPr>
        <p:txBody>
          <a:bodyPr wrap="square" lIns="0" tIns="0" rIns="0" bIns="0" rtlCol="0" anchor="ctr"/>
          <a:lstStyle/>
          <a:p>
            <a:pPr indent="0" marL="0">
              <a:buNone/>
            </a:pPr>
            <a:r>
              <a:rPr lang="en-US" sz="1150" dirty="0">
                <a:solidFill>
                  <a:srgbClr val="C9D6DE"/>
                </a:solidFill>
                <a:latin typeface="Courier New" pitchFamily="34" charset="0"/>
                <a:ea typeface="Courier New" pitchFamily="34" charset="-122"/>
                <a:cs typeface="Courier New" pitchFamily="34" charset="-120"/>
              </a:rPr>
              <a:t>[B, 3]</a:t>
            </a:r>
            <a:endParaRPr lang="en-US" sz="1150" dirty="0"/>
          </a:p>
        </p:txBody>
      </p:sp>
      <p:sp>
        <p:nvSpPr>
          <p:cNvPr id="27" name="Shape 25"/>
          <p:cNvSpPr/>
          <p:nvPr/>
        </p:nvSpPr>
        <p:spPr>
          <a:xfrm>
            <a:off x="9372600" y="1737360"/>
            <a:ext cx="2194560" cy="1417320"/>
          </a:xfrm>
          <a:prstGeom prst="roundRect">
            <a:avLst>
              <a:gd name="adj" fmla="val 4516"/>
            </a:avLst>
          </a:prstGeom>
          <a:solidFill>
            <a:srgbClr val="1E2E3C"/>
          </a:solidFill>
          <a:ln w="12700">
            <a:solidFill>
              <a:srgbClr val="028090"/>
            </a:solidFill>
            <a:prstDash val="solid"/>
          </a:ln>
        </p:spPr>
      </p:sp>
      <p:sp>
        <p:nvSpPr>
          <p:cNvPr id="28" name="Text 26"/>
          <p:cNvSpPr txBox="1"/>
          <p:nvPr/>
        </p:nvSpPr>
        <p:spPr>
          <a:xfrm>
            <a:off x="9555480" y="1920240"/>
            <a:ext cx="1828800" cy="1051560"/>
          </a:xfrm>
          <a:prstGeom prst="rect">
            <a:avLst/>
          </a:prstGeom>
          <a:noFill/>
          <a:ln/>
        </p:spPr>
        <p:txBody>
          <a:bodyPr wrap="square" lIns="0" tIns="0" rIns="0" bIns="0" rtlCol="0" anchor="ctr"/>
          <a:lstStyle/>
          <a:p>
            <a:pPr indent="0" marL="0">
              <a:buNone/>
            </a:pPr>
            <a:r>
              <a:rPr lang="en-US" sz="2600" b="1" dirty="0">
                <a:solidFill>
                  <a:srgbClr val="02C39A"/>
                </a:solidFill>
                <a:latin typeface="Cambria" pitchFamily="34" charset="0"/>
                <a:ea typeface="Cambria" pitchFamily="34" charset="-122"/>
                <a:cs typeface="Cambria" pitchFamily="34" charset="-120"/>
              </a:rPr>
              <a:t>181,450</a:t>
            </a:r>
            <a:endParaRPr lang="en-US" sz="2600" dirty="0"/>
          </a:p>
          <a:p>
            <a:pPr indent="0" marL="0">
              <a:buNone/>
            </a:pPr>
            <a:r>
              <a:rPr lang="en-US" sz="1100" dirty="0">
                <a:solidFill>
                  <a:srgbClr val="C9D6DE"/>
                </a:solidFill>
                <a:latin typeface="Calibri" pitchFamily="34" charset="0"/>
                <a:ea typeface="Calibri" pitchFamily="34" charset="-122"/>
                <a:cs typeface="Calibri" pitchFamily="34" charset="-120"/>
              </a:rPr>
              <a:t>trainable parameters</a:t>
            </a:r>
            <a:endParaRPr lang="en-US" sz="2600" dirty="0"/>
          </a:p>
        </p:txBody>
      </p:sp>
      <p:sp>
        <p:nvSpPr>
          <p:cNvPr id="29" name="Text 27"/>
          <p:cNvSpPr txBox="1"/>
          <p:nvPr/>
        </p:nvSpPr>
        <p:spPr>
          <a:xfrm>
            <a:off x="9372600" y="3429000"/>
            <a:ext cx="2194560" cy="2468880"/>
          </a:xfrm>
          <a:prstGeom prst="rect">
            <a:avLst/>
          </a:prstGeom>
          <a:noFill/>
          <a:ln/>
        </p:spPr>
        <p:txBody>
          <a:bodyPr wrap="square" lIns="0" tIns="0" rIns="0" bIns="0" rtlCol="0" anchor="ctr"/>
          <a:lstStyle/>
          <a:p>
            <a:pPr indent="0" marL="0">
              <a:lnSpc>
                <a:spcPts val="1600"/>
              </a:lnSpc>
              <a:buNone/>
            </a:pPr>
            <a:r>
              <a:rPr lang="en-US" sz="1300" b="1" dirty="0">
                <a:solidFill>
                  <a:srgbClr val="FFFFFF"/>
                </a:solidFill>
                <a:latin typeface="Calibri" pitchFamily="34" charset="0"/>
                <a:ea typeface="Calibri" pitchFamily="34" charset="-122"/>
                <a:cs typeface="Calibri" pitchFamily="34" charset="-120"/>
              </a:rPr>
              <a:t>Two axes, two operators.</a:t>
            </a:r>
            <a:endParaRPr lang="en-US" sz="1300" dirty="0"/>
          </a:p>
          <a:p>
            <a:pPr indent="0" marL="0">
              <a:lnSpc>
                <a:spcPts val="1600"/>
              </a:lnSpc>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lnSpc>
                <a:spcPts val="1600"/>
              </a:lnSpc>
              <a:buNone/>
            </a:pPr>
            <a:r>
              <a:rPr lang="en-US" sz="1200" dirty="0">
                <a:solidFill>
                  <a:srgbClr val="C9D6DE"/>
                </a:solidFill>
                <a:latin typeface="Calibri" pitchFamily="34" charset="0"/>
                <a:ea typeface="Calibri" pitchFamily="34" charset="-122"/>
                <a:cs typeface="Calibri" pitchFamily="34" charset="-120"/>
              </a:rPr>
              <a:t>The CNN reads how one level evolves over time; the GNN reads how the levels talk to each other.</a:t>
            </a:r>
            <a:endParaRPr lang="en-US" sz="1300" dirty="0"/>
          </a:p>
          <a:p>
            <a:pPr indent="0" marL="0">
              <a:lnSpc>
                <a:spcPts val="1600"/>
              </a:lnSpc>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lnSpc>
                <a:spcPts val="1600"/>
              </a:lnSpc>
              <a:buNone/>
            </a:pPr>
            <a:r>
              <a:rPr lang="en-US" sz="1200" dirty="0">
                <a:solidFill>
                  <a:srgbClr val="C9D6DE"/>
                </a:solidFill>
                <a:latin typeface="Calibri" pitchFamily="34" charset="0"/>
                <a:ea typeface="Calibri" pitchFamily="34" charset="-122"/>
                <a:cs typeface="Calibri" pitchFamily="34" charset="-120"/>
              </a:rPr>
              <a:t>Padding preserves length, so all 3,020 nodes reach the message passing.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THE KEY DESIGN CHOICE</a:t>
            </a:r>
            <a:endParaRPr lang="en-US" sz="12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Why spatio-temporal, and not a plain GNN</a:t>
            </a:r>
            <a:endParaRPr lang="en-US" sz="3200" dirty="0"/>
          </a:p>
        </p:txBody>
      </p:sp>
      <p:sp>
        <p:nvSpPr>
          <p:cNvPr id="4" name="Text 2"/>
          <p:cNvSpPr txBox="1"/>
          <p:nvPr/>
        </p:nvSpPr>
        <p:spPr>
          <a:xfrm>
            <a:off x="640080" y="1645920"/>
            <a:ext cx="5943600" cy="2359152"/>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400" dirty="0">
                <a:solidFill>
                  <a:srgbClr val="14202B"/>
                </a:solidFill>
                <a:latin typeface="Calibri" pitchFamily="34" charset="0"/>
                <a:ea typeface="Calibri" pitchFamily="34" charset="-122"/>
                <a:cs typeface="Calibri" pitchFamily="34" charset="-120"/>
              </a:rPr>
              <a:t>Static GNNs know where a node sits in time (the lag feature) but do not model the sequence: message passing and global pooling flatten the 151 lags</a:t>
            </a:r>
            <a:endParaRPr lang="en-US" sz="1400" dirty="0"/>
          </a:p>
          <a:p>
            <a:pPr marL="342900" indent="-342900">
              <a:lnSpc>
                <a:spcPts val="2000"/>
              </a:lnSpc>
              <a:spcAft>
                <a:spcPts val="1000"/>
              </a:spcAft>
              <a:buSzPct val="100000"/>
              <a:buChar char="●"/>
            </a:pPr>
            <a:r>
              <a:rPr lang="en-US" sz="1400" dirty="0">
                <a:solidFill>
                  <a:srgbClr val="14202B"/>
                </a:solidFill>
                <a:latin typeface="Calibri" pitchFamily="34" charset="0"/>
                <a:ea typeface="Calibri" pitchFamily="34" charset="-122"/>
                <a:cs typeface="Calibri" pitchFamily="34" charset="-120"/>
              </a:rPr>
              <a:t>Adding a temporal convolution moves macro F1 from 0.57–0.61 to ~0.62, at the same parameter budget (~180k)</a:t>
            </a:r>
            <a:endParaRPr lang="en-US" sz="1400" dirty="0"/>
          </a:p>
          <a:p>
            <a:pPr marL="342900" indent="-342900">
              <a:lnSpc>
                <a:spcPts val="2000"/>
              </a:lnSpc>
              <a:spcAft>
                <a:spcPts val="1000"/>
              </a:spcAft>
              <a:buSzPct val="100000"/>
              <a:buChar char="●"/>
            </a:pPr>
            <a:r>
              <a:rPr lang="en-US" sz="1400" dirty="0">
                <a:solidFill>
                  <a:srgbClr val="14202B"/>
                </a:solidFill>
                <a:latin typeface="Calibri" pitchFamily="34" charset="0"/>
                <a:ea typeface="Calibri" pitchFamily="34" charset="-122"/>
                <a:cs typeface="Calibri" pitchFamily="34" charset="-120"/>
              </a:rPr>
              <a:t>The sharpest case: GCN, the weakest operator, becomes the best one — and with fewer parameters</a:t>
            </a:r>
            <a:endParaRPr lang="en-US" sz="1400" dirty="0"/>
          </a:p>
          <a:p>
            <a:pPr marL="342900" indent="-342900">
              <a:lnSpc>
                <a:spcPts val="2000"/>
              </a:lnSpc>
              <a:spcAft>
                <a:spcPts val="1000"/>
              </a:spcAft>
              <a:buSzPct val="100000"/>
              <a:buChar char="●"/>
            </a:pPr>
            <a:r>
              <a:rPr lang="en-US" sz="1400" dirty="0">
                <a:solidFill>
                  <a:srgbClr val="14202B"/>
                </a:solidFill>
                <a:latin typeface="Calibri" pitchFamily="34" charset="0"/>
                <a:ea typeface="Calibri" pitchFamily="34" charset="-122"/>
                <a:cs typeface="Calibri" pitchFamily="34" charset="-120"/>
              </a:rPr>
              <a:t>Design conclusion: the decisive ingredient is the explicit temporal dimension, not the graph operator</a:t>
            </a:r>
            <a:endParaRPr lang="en-US" sz="1400" dirty="0"/>
          </a:p>
        </p:txBody>
      </p:sp>
      <p:sp>
        <p:nvSpPr>
          <p:cNvPr id="5" name="Text 3"/>
          <p:cNvSpPr txBox="1"/>
          <p:nvPr/>
        </p:nvSpPr>
        <p:spPr>
          <a:xfrm>
            <a:off x="6903720" y="1737360"/>
            <a:ext cx="4663440" cy="320040"/>
          </a:xfrm>
          <a:prstGeom prst="rect">
            <a:avLst/>
          </a:prstGeom>
          <a:noFill/>
          <a:ln/>
        </p:spPr>
        <p:txBody>
          <a:bodyPr wrap="square" lIns="0" tIns="0" rIns="0" bIns="0" rtlCol="0" anchor="ctr"/>
          <a:lstStyle/>
          <a:p>
            <a:pPr algn="ctr" indent="0" marL="0">
              <a:buNone/>
            </a:pPr>
            <a:r>
              <a:rPr lang="en-US" sz="1400" b="1" dirty="0">
                <a:solidFill>
                  <a:srgbClr val="14202B"/>
                </a:solidFill>
                <a:latin typeface="Calibri" pitchFamily="34" charset="0"/>
                <a:ea typeface="Calibri" pitchFamily="34" charset="-122"/>
                <a:cs typeface="Calibri" pitchFamily="34" charset="-120"/>
              </a:rPr>
              <a:t>Same budget, +0.053 macro F1</a:t>
            </a:r>
            <a:endParaRPr lang="en-US" sz="1400" dirty="0"/>
          </a:p>
        </p:txBody>
      </p:sp>
      <p:sp>
        <p:nvSpPr>
          <p:cNvPr id="6" name="Shape 4"/>
          <p:cNvSpPr/>
          <p:nvPr/>
        </p:nvSpPr>
        <p:spPr>
          <a:xfrm>
            <a:off x="7589520" y="3941064"/>
            <a:ext cx="1417320" cy="1316736"/>
          </a:xfrm>
          <a:prstGeom prst="rect">
            <a:avLst/>
          </a:prstGeom>
          <a:solidFill>
            <a:srgbClr val="5F6B76"/>
          </a:solidFill>
          <a:ln w="12700">
            <a:solidFill>
              <a:srgbClr val="333333"/>
            </a:solidFill>
            <a:prstDash val="solid"/>
          </a:ln>
        </p:spPr>
      </p:sp>
      <p:sp>
        <p:nvSpPr>
          <p:cNvPr id="7" name="Text 5"/>
          <p:cNvSpPr txBox="1"/>
          <p:nvPr/>
        </p:nvSpPr>
        <p:spPr>
          <a:xfrm>
            <a:off x="7406640" y="3465576"/>
            <a:ext cx="1783080" cy="411480"/>
          </a:xfrm>
          <a:prstGeom prst="rect">
            <a:avLst/>
          </a:prstGeom>
          <a:noFill/>
          <a:ln/>
        </p:spPr>
        <p:txBody>
          <a:bodyPr wrap="square" lIns="0" tIns="0" rIns="0" bIns="0" rtlCol="0" anchor="ctr"/>
          <a:lstStyle/>
          <a:p>
            <a:pPr algn="ctr" indent="0" marL="0">
              <a:buNone/>
            </a:pPr>
            <a:r>
              <a:rPr lang="en-US" sz="2000" b="1" dirty="0">
                <a:solidFill>
                  <a:srgbClr val="5F6B76"/>
                </a:solidFill>
                <a:latin typeface="Cambria" pitchFamily="34" charset="0"/>
                <a:ea typeface="Cambria" pitchFamily="34" charset="-122"/>
                <a:cs typeface="Cambria" pitchFamily="34" charset="-120"/>
              </a:rPr>
              <a:t>0.572</a:t>
            </a:r>
            <a:endParaRPr lang="en-US" sz="2000" dirty="0"/>
          </a:p>
        </p:txBody>
      </p:sp>
      <p:sp>
        <p:nvSpPr>
          <p:cNvPr id="8" name="Text 6"/>
          <p:cNvSpPr txBox="1"/>
          <p:nvPr/>
        </p:nvSpPr>
        <p:spPr>
          <a:xfrm>
            <a:off x="7315200" y="5385816"/>
            <a:ext cx="1965960" cy="594360"/>
          </a:xfrm>
          <a:prstGeom prst="rect">
            <a:avLst/>
          </a:prstGeom>
          <a:noFill/>
          <a:ln/>
        </p:spPr>
        <p:txBody>
          <a:bodyPr wrap="square" lIns="0" tIns="0" rIns="0" bIns="0" rtlCol="0" anchor="ctr"/>
          <a:lstStyle/>
          <a:p>
            <a:pPr algn="ctr" indent="0" marL="0">
              <a:buNone/>
            </a:pPr>
            <a:r>
              <a:rPr lang="en-US" sz="1400" b="1" dirty="0">
                <a:solidFill>
                  <a:srgbClr val="14202B"/>
                </a:solidFill>
                <a:latin typeface="Calibri" pitchFamily="34" charset="0"/>
                <a:ea typeface="Calibri" pitchFamily="34" charset="-122"/>
                <a:cs typeface="Calibri" pitchFamily="34" charset="-120"/>
              </a:rPr>
              <a:t>GCN</a:t>
            </a:r>
            <a:endParaRPr lang="en-US" sz="1400" dirty="0"/>
          </a:p>
          <a:p>
            <a:pPr algn="ctr" indent="0" marL="0">
              <a:buNone/>
            </a:pPr>
            <a:r>
              <a:rPr lang="en-US" sz="1100" dirty="0">
                <a:solidFill>
                  <a:srgbClr val="5F6B76"/>
                </a:solidFill>
                <a:latin typeface="Calibri" pitchFamily="34" charset="0"/>
                <a:ea typeface="Calibri" pitchFamily="34" charset="-122"/>
                <a:cs typeface="Calibri" pitchFamily="34" charset="-120"/>
              </a:rPr>
              <a:t>206k parameters</a:t>
            </a:r>
            <a:endParaRPr lang="en-US" sz="1400" dirty="0"/>
          </a:p>
        </p:txBody>
      </p:sp>
      <p:sp>
        <p:nvSpPr>
          <p:cNvPr id="9" name="Shape 7"/>
          <p:cNvSpPr/>
          <p:nvPr/>
        </p:nvSpPr>
        <p:spPr>
          <a:xfrm>
            <a:off x="9738360" y="2971800"/>
            <a:ext cx="1417320" cy="2286000"/>
          </a:xfrm>
          <a:prstGeom prst="rect">
            <a:avLst/>
          </a:prstGeom>
          <a:solidFill>
            <a:srgbClr val="028090"/>
          </a:solidFill>
          <a:ln w="12700">
            <a:solidFill>
              <a:srgbClr val="333333"/>
            </a:solidFill>
            <a:prstDash val="solid"/>
          </a:ln>
        </p:spPr>
      </p:sp>
      <p:sp>
        <p:nvSpPr>
          <p:cNvPr id="10" name="Text 8"/>
          <p:cNvSpPr txBox="1"/>
          <p:nvPr/>
        </p:nvSpPr>
        <p:spPr>
          <a:xfrm>
            <a:off x="9555480" y="2496312"/>
            <a:ext cx="1783080" cy="411480"/>
          </a:xfrm>
          <a:prstGeom prst="rect">
            <a:avLst/>
          </a:prstGeom>
          <a:noFill/>
          <a:ln/>
        </p:spPr>
        <p:txBody>
          <a:bodyPr wrap="square" lIns="0" tIns="0" rIns="0" bIns="0" rtlCol="0" anchor="ctr"/>
          <a:lstStyle/>
          <a:p>
            <a:pPr algn="ctr" indent="0" marL="0">
              <a:buNone/>
            </a:pPr>
            <a:r>
              <a:rPr lang="en-US" sz="2000" b="1" dirty="0">
                <a:solidFill>
                  <a:srgbClr val="028090"/>
                </a:solidFill>
                <a:latin typeface="Cambria" pitchFamily="34" charset="0"/>
                <a:ea typeface="Cambria" pitchFamily="34" charset="-122"/>
                <a:cs typeface="Cambria" pitchFamily="34" charset="-120"/>
              </a:rPr>
              <a:t>0.625</a:t>
            </a:r>
            <a:endParaRPr lang="en-US" sz="2000" dirty="0"/>
          </a:p>
        </p:txBody>
      </p:sp>
      <p:sp>
        <p:nvSpPr>
          <p:cNvPr id="11" name="Text 9"/>
          <p:cNvSpPr txBox="1"/>
          <p:nvPr/>
        </p:nvSpPr>
        <p:spPr>
          <a:xfrm>
            <a:off x="9464040" y="5385816"/>
            <a:ext cx="1965960" cy="594360"/>
          </a:xfrm>
          <a:prstGeom prst="rect">
            <a:avLst/>
          </a:prstGeom>
          <a:noFill/>
          <a:ln/>
        </p:spPr>
        <p:txBody>
          <a:bodyPr wrap="square" lIns="0" tIns="0" rIns="0" bIns="0" rtlCol="0" anchor="ctr"/>
          <a:lstStyle/>
          <a:p>
            <a:pPr algn="ctr" indent="0" marL="0">
              <a:buNone/>
            </a:pPr>
            <a:r>
              <a:rPr lang="en-US" sz="1400" b="1" dirty="0">
                <a:solidFill>
                  <a:srgbClr val="14202B"/>
                </a:solidFill>
                <a:latin typeface="Calibri" pitchFamily="34" charset="0"/>
                <a:ea typeface="Calibri" pitchFamily="34" charset="-122"/>
                <a:cs typeface="Calibri" pitchFamily="34" charset="-120"/>
              </a:rPr>
              <a:t>CGNN</a:t>
            </a:r>
            <a:endParaRPr lang="en-US" sz="1400" dirty="0"/>
          </a:p>
          <a:p>
            <a:pPr algn="ctr" indent="0" marL="0">
              <a:buNone/>
            </a:pPr>
            <a:r>
              <a:rPr lang="en-US" sz="1100" dirty="0">
                <a:solidFill>
                  <a:srgbClr val="5F6B76"/>
                </a:solidFill>
                <a:latin typeface="Calibri" pitchFamily="34" charset="0"/>
                <a:ea typeface="Calibri" pitchFamily="34" charset="-122"/>
                <a:cs typeface="Calibri" pitchFamily="34" charset="-120"/>
              </a:rPr>
              <a:t>181k parameters</a:t>
            </a:r>
            <a:endParaRPr lang="en-US" sz="1400" dirty="0"/>
          </a:p>
        </p:txBody>
      </p:sp>
      <p:sp>
        <p:nvSpPr>
          <p:cNvPr id="12" name="Shape 10"/>
          <p:cNvSpPr/>
          <p:nvPr/>
        </p:nvSpPr>
        <p:spPr>
          <a:xfrm>
            <a:off x="7086600" y="5257800"/>
            <a:ext cx="4297680" cy="0"/>
          </a:xfrm>
          <a:prstGeom prst="line">
            <a:avLst/>
          </a:prstGeom>
          <a:noFill/>
          <a:ln w="19050">
            <a:solidFill>
              <a:srgbClr val="AFC0C8"/>
            </a:solidFill>
            <a:prstDash val="solid"/>
          </a:ln>
        </p:spPr>
      </p:sp>
      <p:sp>
        <p:nvSpPr>
          <p:cNvPr id="13" name="Text 11"/>
          <p:cNvSpPr txBox="1"/>
          <p:nvPr/>
        </p:nvSpPr>
        <p:spPr>
          <a:xfrm>
            <a:off x="6903720" y="5943600"/>
            <a:ext cx="4663440" cy="274320"/>
          </a:xfrm>
          <a:prstGeom prst="rect">
            <a:avLst/>
          </a:prstGeom>
          <a:noFill/>
          <a:ln/>
        </p:spPr>
        <p:txBody>
          <a:bodyPr wrap="square" lIns="0" tIns="0" rIns="0" bIns="0" rtlCol="0" anchor="ctr"/>
          <a:lstStyle/>
          <a:p>
            <a:pPr algn="ctr" indent="0" marL="0">
              <a:buNone/>
            </a:pPr>
            <a:r>
              <a:rPr lang="en-US" sz="1050" i="1" dirty="0">
                <a:solidFill>
                  <a:srgbClr val="5F6B76"/>
                </a:solidFill>
                <a:latin typeface="Calibri" pitchFamily="34" charset="0"/>
                <a:ea typeface="Calibri" pitchFamily="34" charset="-122"/>
                <a:cs typeface="Calibri" pitchFamily="34" charset="-120"/>
              </a:rPr>
              <a:t>macro F1 on test · vertical axis truncated at 0.50</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THE MODEL · VARIANT</a:t>
            </a:r>
            <a:endParaRPr lang="en-US" sz="12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STGCN: same principle, more interleaved</a:t>
            </a:r>
            <a:endParaRPr lang="en-US" sz="3200" dirty="0"/>
          </a:p>
        </p:txBody>
      </p:sp>
      <p:sp>
        <p:nvSpPr>
          <p:cNvPr id="4" name="Shape 2"/>
          <p:cNvSpPr/>
          <p:nvPr/>
        </p:nvSpPr>
        <p:spPr>
          <a:xfrm>
            <a:off x="640080" y="1645920"/>
            <a:ext cx="5257800" cy="3063240"/>
          </a:xfrm>
          <a:prstGeom prst="roundRect">
            <a:avLst>
              <a:gd name="adj" fmla="val 1791"/>
            </a:avLst>
          </a:prstGeom>
          <a:solidFill>
            <a:srgbClr val="FFFFFF"/>
          </a:solidFill>
          <a:ln w="15875">
            <a:solidFill>
              <a:srgbClr val="D6E0E5"/>
            </a:solidFill>
            <a:prstDash val="solid"/>
          </a:ln>
          <a:effectLst>
            <a:outerShdw sx="100000" sy="100000" kx="0" ky="0" algn="bl" rotWithShape="0" blurRad="101600" dist="25400" dir="5400000">
              <a:srgbClr val="9AA8B2">
                <a:alpha val="25000"/>
              </a:srgbClr>
            </a:outerShdw>
          </a:effectLst>
        </p:spPr>
      </p:sp>
      <p:sp>
        <p:nvSpPr>
          <p:cNvPr id="5" name="Text 3"/>
          <p:cNvSpPr txBox="1"/>
          <p:nvPr/>
        </p:nvSpPr>
        <p:spPr>
          <a:xfrm>
            <a:off x="960120" y="1874520"/>
            <a:ext cx="4617720" cy="411480"/>
          </a:xfrm>
          <a:prstGeom prst="rect">
            <a:avLst/>
          </a:prstGeom>
          <a:noFill/>
          <a:ln/>
        </p:spPr>
        <p:txBody>
          <a:bodyPr wrap="square" lIns="0" tIns="0" rIns="0" bIns="0" rtlCol="0" anchor="ctr"/>
          <a:lstStyle/>
          <a:p>
            <a:pPr indent="0" marL="0">
              <a:buNone/>
            </a:pPr>
            <a:r>
              <a:rPr lang="en-US" sz="2400" b="1" dirty="0">
                <a:solidFill>
                  <a:srgbClr val="028090"/>
                </a:solidFill>
                <a:latin typeface="Cambria" pitchFamily="34" charset="0"/>
                <a:ea typeface="Cambria" pitchFamily="34" charset="-122"/>
                <a:cs typeface="Cambria" pitchFamily="34" charset="-120"/>
              </a:rPr>
              <a:t>CGNN</a:t>
            </a:r>
            <a:endParaRPr lang="en-US" sz="2400" dirty="0"/>
          </a:p>
        </p:txBody>
      </p:sp>
      <p:sp>
        <p:nvSpPr>
          <p:cNvPr id="6" name="Text 4"/>
          <p:cNvSpPr txBox="1"/>
          <p:nvPr/>
        </p:nvSpPr>
        <p:spPr>
          <a:xfrm>
            <a:off x="960120" y="2331720"/>
            <a:ext cx="4617720" cy="320040"/>
          </a:xfrm>
          <a:prstGeom prst="rect">
            <a:avLst/>
          </a:prstGeom>
          <a:noFill/>
          <a:ln/>
        </p:spPr>
        <p:txBody>
          <a:bodyPr wrap="square" lIns="0" tIns="0" rIns="0" bIns="0" rtlCol="0" anchor="ctr"/>
          <a:lstStyle/>
          <a:p>
            <a:pPr indent="0" marL="0">
              <a:buNone/>
            </a:pPr>
            <a:r>
              <a:rPr lang="en-US" sz="1400" b="1" dirty="0">
                <a:solidFill>
                  <a:srgbClr val="14202B"/>
                </a:solidFill>
                <a:latin typeface="Calibri" pitchFamily="34" charset="0"/>
                <a:ea typeface="Calibri" pitchFamily="34" charset="-122"/>
                <a:cs typeface="Calibri" pitchFamily="34" charset="-120"/>
              </a:rPr>
              <a:t>CNN once → GNN once</a:t>
            </a:r>
            <a:endParaRPr lang="en-US" sz="1400" dirty="0"/>
          </a:p>
        </p:txBody>
      </p:sp>
      <p:sp>
        <p:nvSpPr>
          <p:cNvPr id="7" name="Text 5"/>
          <p:cNvSpPr txBox="1"/>
          <p:nvPr/>
        </p:nvSpPr>
        <p:spPr>
          <a:xfrm>
            <a:off x="960120" y="2697480"/>
            <a:ext cx="4617720" cy="914400"/>
          </a:xfrm>
          <a:prstGeom prst="rect">
            <a:avLst/>
          </a:prstGeom>
          <a:noFill/>
          <a:ln/>
        </p:spPr>
        <p:txBody>
          <a:bodyPr wrap="square" lIns="0" tIns="0" rIns="0" bIns="0" rtlCol="0" anchor="ctr"/>
          <a:lstStyle/>
          <a:p>
            <a:pPr indent="0" marL="0">
              <a:lnSpc>
                <a:spcPts val="1700"/>
              </a:lnSpc>
              <a:buNone/>
            </a:pPr>
            <a:r>
              <a:rPr lang="en-US" sz="1250" dirty="0">
                <a:solidFill>
                  <a:srgbClr val="5F6B76"/>
                </a:solidFill>
                <a:latin typeface="Calibri" pitchFamily="34" charset="0"/>
                <a:ea typeface="Calibri" pitchFamily="34" charset="-122"/>
                <a:cs typeface="Calibri" pitchFamily="34" charset="-120"/>
              </a:rPr>
              <a:t>The two axes in cascade: all the temporal processing first, all the message passing after.</a:t>
            </a:r>
            <a:endParaRPr lang="en-US" sz="1250" dirty="0"/>
          </a:p>
        </p:txBody>
      </p:sp>
      <p:sp>
        <p:nvSpPr>
          <p:cNvPr id="8" name="Shape 6"/>
          <p:cNvSpPr/>
          <p:nvPr/>
        </p:nvSpPr>
        <p:spPr>
          <a:xfrm>
            <a:off x="960120" y="3749040"/>
            <a:ext cx="4617720" cy="0"/>
          </a:xfrm>
          <a:prstGeom prst="line">
            <a:avLst/>
          </a:prstGeom>
          <a:noFill/>
          <a:ln w="12700">
            <a:solidFill>
              <a:srgbClr val="D6E0E5"/>
            </a:solidFill>
            <a:prstDash val="solid"/>
          </a:ln>
        </p:spPr>
      </p:sp>
      <p:sp>
        <p:nvSpPr>
          <p:cNvPr id="9" name="Text 7"/>
          <p:cNvSpPr txBox="1"/>
          <p:nvPr/>
        </p:nvSpPr>
        <p:spPr>
          <a:xfrm>
            <a:off x="960120" y="3886200"/>
            <a:ext cx="2308860" cy="365760"/>
          </a:xfrm>
          <a:prstGeom prst="rect">
            <a:avLst/>
          </a:prstGeom>
          <a:noFill/>
          <a:ln/>
        </p:spPr>
        <p:txBody>
          <a:bodyPr wrap="square" lIns="0" tIns="0" rIns="0" bIns="0" rtlCol="0" anchor="ctr"/>
          <a:lstStyle/>
          <a:p>
            <a:pPr indent="0" marL="0">
              <a:buNone/>
            </a:pPr>
            <a:r>
              <a:rPr lang="en-US" sz="1800" b="1" dirty="0">
                <a:solidFill>
                  <a:srgbClr val="14202B"/>
                </a:solidFill>
                <a:latin typeface="Cambria" pitchFamily="34" charset="0"/>
                <a:ea typeface="Cambria" pitchFamily="34" charset="-122"/>
                <a:cs typeface="Cambria" pitchFamily="34" charset="-120"/>
              </a:rPr>
              <a:t>181,450  </a:t>
            </a:r>
            <a:pPr indent="0" marL="0">
              <a:buNone/>
            </a:pPr>
            <a:r>
              <a:rPr lang="en-US" sz="1200" dirty="0">
                <a:solidFill>
                  <a:srgbClr val="5F6B76"/>
                </a:solidFill>
                <a:latin typeface="Calibri" pitchFamily="34" charset="0"/>
                <a:ea typeface="Calibri" pitchFamily="34" charset="-122"/>
                <a:cs typeface="Calibri" pitchFamily="34" charset="-120"/>
              </a:rPr>
              <a:t>parameters</a:t>
            </a:r>
            <a:endParaRPr lang="en-US" sz="1800" dirty="0"/>
          </a:p>
        </p:txBody>
      </p:sp>
      <p:sp>
        <p:nvSpPr>
          <p:cNvPr id="10" name="Text 8"/>
          <p:cNvSpPr txBox="1"/>
          <p:nvPr/>
        </p:nvSpPr>
        <p:spPr>
          <a:xfrm>
            <a:off x="3268980" y="3886200"/>
            <a:ext cx="2308860" cy="365760"/>
          </a:xfrm>
          <a:prstGeom prst="rect">
            <a:avLst/>
          </a:prstGeom>
          <a:noFill/>
          <a:ln/>
        </p:spPr>
        <p:txBody>
          <a:bodyPr wrap="square" lIns="0" tIns="0" rIns="0" bIns="0" rtlCol="0" anchor="ctr"/>
          <a:lstStyle/>
          <a:p>
            <a:pPr indent="0" marL="0">
              <a:buNone/>
            </a:pPr>
            <a:r>
              <a:rPr lang="en-US" sz="1800" b="1" dirty="0">
                <a:solidFill>
                  <a:srgbClr val="028090"/>
                </a:solidFill>
                <a:latin typeface="Cambria" pitchFamily="34" charset="0"/>
                <a:ea typeface="Cambria" pitchFamily="34" charset="-122"/>
                <a:cs typeface="Cambria" pitchFamily="34" charset="-120"/>
              </a:rPr>
              <a:t>0.625  </a:t>
            </a:r>
            <a:pPr indent="0" marL="0">
              <a:buNone/>
            </a:pPr>
            <a:r>
              <a:rPr lang="en-US" sz="1200" dirty="0">
                <a:solidFill>
                  <a:srgbClr val="5F6B76"/>
                </a:solidFill>
                <a:latin typeface="Calibri" pitchFamily="34" charset="0"/>
                <a:ea typeface="Calibri" pitchFamily="34" charset="-122"/>
                <a:cs typeface="Calibri" pitchFamily="34" charset="-120"/>
              </a:rPr>
              <a:t>macro F1</a:t>
            </a:r>
            <a:endParaRPr lang="en-US" sz="1800" dirty="0"/>
          </a:p>
        </p:txBody>
      </p:sp>
      <p:sp>
        <p:nvSpPr>
          <p:cNvPr id="11" name="Shape 9"/>
          <p:cNvSpPr/>
          <p:nvPr/>
        </p:nvSpPr>
        <p:spPr>
          <a:xfrm>
            <a:off x="6291072" y="1645920"/>
            <a:ext cx="5257800" cy="3063240"/>
          </a:xfrm>
          <a:prstGeom prst="roundRect">
            <a:avLst>
              <a:gd name="adj" fmla="val 1791"/>
            </a:avLst>
          </a:prstGeom>
          <a:solidFill>
            <a:srgbClr val="FFFFFF"/>
          </a:solidFill>
          <a:ln w="15875">
            <a:solidFill>
              <a:srgbClr val="D6E0E5"/>
            </a:solidFill>
            <a:prstDash val="solid"/>
          </a:ln>
          <a:effectLst>
            <a:outerShdw sx="100000" sy="100000" kx="0" ky="0" algn="bl" rotWithShape="0" blurRad="101600" dist="25400" dir="5400000">
              <a:srgbClr val="9AA8B2">
                <a:alpha val="25000"/>
              </a:srgbClr>
            </a:outerShdw>
          </a:effectLst>
        </p:spPr>
      </p:sp>
      <p:sp>
        <p:nvSpPr>
          <p:cNvPr id="12" name="Text 10"/>
          <p:cNvSpPr txBox="1"/>
          <p:nvPr/>
        </p:nvSpPr>
        <p:spPr>
          <a:xfrm>
            <a:off x="6611112" y="1874520"/>
            <a:ext cx="4617720" cy="411480"/>
          </a:xfrm>
          <a:prstGeom prst="rect">
            <a:avLst/>
          </a:prstGeom>
          <a:noFill/>
          <a:ln/>
        </p:spPr>
        <p:txBody>
          <a:bodyPr wrap="square" lIns="0" tIns="0" rIns="0" bIns="0" rtlCol="0" anchor="ctr"/>
          <a:lstStyle/>
          <a:p>
            <a:pPr indent="0" marL="0">
              <a:buNone/>
            </a:pPr>
            <a:r>
              <a:rPr lang="en-US" sz="2400" b="1" dirty="0">
                <a:solidFill>
                  <a:srgbClr val="1C7293"/>
                </a:solidFill>
                <a:latin typeface="Cambria" pitchFamily="34" charset="0"/>
                <a:ea typeface="Cambria" pitchFamily="34" charset="-122"/>
                <a:cs typeface="Cambria" pitchFamily="34" charset="-120"/>
              </a:rPr>
              <a:t>STGCN</a:t>
            </a:r>
            <a:endParaRPr lang="en-US" sz="2400" dirty="0"/>
          </a:p>
        </p:txBody>
      </p:sp>
      <p:sp>
        <p:nvSpPr>
          <p:cNvPr id="13" name="Text 11"/>
          <p:cNvSpPr txBox="1"/>
          <p:nvPr/>
        </p:nvSpPr>
        <p:spPr>
          <a:xfrm>
            <a:off x="6611112" y="2331720"/>
            <a:ext cx="4617720" cy="320040"/>
          </a:xfrm>
          <a:prstGeom prst="rect">
            <a:avLst/>
          </a:prstGeom>
          <a:noFill/>
          <a:ln/>
        </p:spPr>
        <p:txBody>
          <a:bodyPr wrap="square" lIns="0" tIns="0" rIns="0" bIns="0" rtlCol="0" anchor="ctr"/>
          <a:lstStyle/>
          <a:p>
            <a:pPr indent="0" marL="0">
              <a:buNone/>
            </a:pPr>
            <a:r>
              <a:rPr lang="en-US" sz="1400" b="1" dirty="0">
                <a:solidFill>
                  <a:srgbClr val="14202B"/>
                </a:solidFill>
                <a:latin typeface="Calibri" pitchFamily="34" charset="0"/>
                <a:ea typeface="Calibri" pitchFamily="34" charset="-122"/>
                <a:cs typeface="Calibri" pitchFamily="34" charset="-120"/>
              </a:rPr>
              <a:t>Interleaved spatio-temporal blocks × 2</a:t>
            </a:r>
            <a:endParaRPr lang="en-US" sz="1400" dirty="0"/>
          </a:p>
        </p:txBody>
      </p:sp>
      <p:sp>
        <p:nvSpPr>
          <p:cNvPr id="14" name="Text 12"/>
          <p:cNvSpPr txBox="1"/>
          <p:nvPr/>
        </p:nvSpPr>
        <p:spPr>
          <a:xfrm>
            <a:off x="6611112" y="2697480"/>
            <a:ext cx="4617720" cy="914400"/>
          </a:xfrm>
          <a:prstGeom prst="rect">
            <a:avLst/>
          </a:prstGeom>
          <a:noFill/>
          <a:ln/>
        </p:spPr>
        <p:txBody>
          <a:bodyPr wrap="square" lIns="0" tIns="0" rIns="0" bIns="0" rtlCol="0" anchor="ctr"/>
          <a:lstStyle/>
          <a:p>
            <a:pPr indent="0" marL="0">
              <a:lnSpc>
                <a:spcPts val="1700"/>
              </a:lnSpc>
              <a:buNone/>
            </a:pPr>
            <a:r>
              <a:rPr lang="en-US" sz="1250" dirty="0">
                <a:solidFill>
                  <a:srgbClr val="5F6B76"/>
                </a:solidFill>
                <a:latin typeface="Calibri" pitchFamily="34" charset="0"/>
                <a:ea typeface="Calibri" pitchFamily="34" charset="-122"/>
                <a:cs typeface="Calibri" pitchFamily="34" charset="-120"/>
              </a:rPr>
              <a:t>[ temporal conv → graph conv → temporal conv ] + residual + LayerNorm. Space and time mix at several scales.</a:t>
            </a:r>
            <a:endParaRPr lang="en-US" sz="1250" dirty="0"/>
          </a:p>
        </p:txBody>
      </p:sp>
      <p:sp>
        <p:nvSpPr>
          <p:cNvPr id="15" name="Shape 13"/>
          <p:cNvSpPr/>
          <p:nvPr/>
        </p:nvSpPr>
        <p:spPr>
          <a:xfrm>
            <a:off x="6611112" y="3749040"/>
            <a:ext cx="4617720" cy="0"/>
          </a:xfrm>
          <a:prstGeom prst="line">
            <a:avLst/>
          </a:prstGeom>
          <a:noFill/>
          <a:ln w="12700">
            <a:solidFill>
              <a:srgbClr val="D6E0E5"/>
            </a:solidFill>
            <a:prstDash val="solid"/>
          </a:ln>
        </p:spPr>
      </p:sp>
      <p:sp>
        <p:nvSpPr>
          <p:cNvPr id="16" name="Text 14"/>
          <p:cNvSpPr txBox="1"/>
          <p:nvPr/>
        </p:nvSpPr>
        <p:spPr>
          <a:xfrm>
            <a:off x="6611112" y="3886200"/>
            <a:ext cx="2308860" cy="365760"/>
          </a:xfrm>
          <a:prstGeom prst="rect">
            <a:avLst/>
          </a:prstGeom>
          <a:noFill/>
          <a:ln/>
        </p:spPr>
        <p:txBody>
          <a:bodyPr wrap="square" lIns="0" tIns="0" rIns="0" bIns="0" rtlCol="0" anchor="ctr"/>
          <a:lstStyle/>
          <a:p>
            <a:pPr indent="0" marL="0">
              <a:buNone/>
            </a:pPr>
            <a:r>
              <a:rPr lang="en-US" sz="1800" b="1" dirty="0">
                <a:solidFill>
                  <a:srgbClr val="14202B"/>
                </a:solidFill>
                <a:latin typeface="Cambria" pitchFamily="34" charset="0"/>
                <a:ea typeface="Cambria" pitchFamily="34" charset="-122"/>
                <a:cs typeface="Cambria" pitchFamily="34" charset="-120"/>
              </a:rPr>
              <a:t>183,263  </a:t>
            </a:r>
            <a:pPr indent="0" marL="0">
              <a:buNone/>
            </a:pPr>
            <a:r>
              <a:rPr lang="en-US" sz="1200" dirty="0">
                <a:solidFill>
                  <a:srgbClr val="5F6B76"/>
                </a:solidFill>
                <a:latin typeface="Calibri" pitchFamily="34" charset="0"/>
                <a:ea typeface="Calibri" pitchFamily="34" charset="-122"/>
                <a:cs typeface="Calibri" pitchFamily="34" charset="-120"/>
              </a:rPr>
              <a:t>parameters</a:t>
            </a:r>
            <a:endParaRPr lang="en-US" sz="1800" dirty="0"/>
          </a:p>
        </p:txBody>
      </p:sp>
      <p:sp>
        <p:nvSpPr>
          <p:cNvPr id="17" name="Text 15"/>
          <p:cNvSpPr txBox="1"/>
          <p:nvPr/>
        </p:nvSpPr>
        <p:spPr>
          <a:xfrm>
            <a:off x="8919972" y="3886200"/>
            <a:ext cx="2308860" cy="365760"/>
          </a:xfrm>
          <a:prstGeom prst="rect">
            <a:avLst/>
          </a:prstGeom>
          <a:noFill/>
          <a:ln/>
        </p:spPr>
        <p:txBody>
          <a:bodyPr wrap="square" lIns="0" tIns="0" rIns="0" bIns="0" rtlCol="0" anchor="ctr"/>
          <a:lstStyle/>
          <a:p>
            <a:pPr indent="0" marL="0">
              <a:buNone/>
            </a:pPr>
            <a:r>
              <a:rPr lang="en-US" sz="1800" b="1" dirty="0">
                <a:solidFill>
                  <a:srgbClr val="1C7293"/>
                </a:solidFill>
                <a:latin typeface="Cambria" pitchFamily="34" charset="0"/>
                <a:ea typeface="Cambria" pitchFamily="34" charset="-122"/>
                <a:cs typeface="Cambria" pitchFamily="34" charset="-120"/>
              </a:rPr>
              <a:t>0.620  </a:t>
            </a:r>
            <a:pPr indent="0" marL="0">
              <a:buNone/>
            </a:pPr>
            <a:r>
              <a:rPr lang="en-US" sz="1200" dirty="0">
                <a:solidFill>
                  <a:srgbClr val="5F6B76"/>
                </a:solidFill>
                <a:latin typeface="Calibri" pitchFamily="34" charset="0"/>
                <a:ea typeface="Calibri" pitchFamily="34" charset="-122"/>
                <a:cs typeface="Calibri" pitchFamily="34" charset="-120"/>
              </a:rPr>
              <a:t>macro F1</a:t>
            </a:r>
            <a:endParaRPr lang="en-US" sz="1800" dirty="0"/>
          </a:p>
        </p:txBody>
      </p:sp>
      <p:sp>
        <p:nvSpPr>
          <p:cNvPr id="18" name="Shape 16"/>
          <p:cNvSpPr/>
          <p:nvPr/>
        </p:nvSpPr>
        <p:spPr>
          <a:xfrm>
            <a:off x="640080" y="5029200"/>
            <a:ext cx="10908792" cy="1143000"/>
          </a:xfrm>
          <a:prstGeom prst="roundRect">
            <a:avLst>
              <a:gd name="adj" fmla="val 4800"/>
            </a:avLst>
          </a:prstGeom>
          <a:solidFill>
            <a:srgbClr val="EEF3F5"/>
          </a:solidFill>
          <a:ln w="12700">
            <a:solidFill>
              <a:srgbClr val="EEF3F5"/>
            </a:solidFill>
            <a:prstDash val="solid"/>
          </a:ln>
        </p:spPr>
      </p:sp>
      <p:sp>
        <p:nvSpPr>
          <p:cNvPr id="19" name="Text 17"/>
          <p:cNvSpPr txBox="1"/>
          <p:nvPr/>
        </p:nvSpPr>
        <p:spPr>
          <a:xfrm>
            <a:off x="960120" y="5212080"/>
            <a:ext cx="10241280" cy="822960"/>
          </a:xfrm>
          <a:prstGeom prst="rect">
            <a:avLst/>
          </a:prstGeom>
          <a:noFill/>
          <a:ln/>
        </p:spPr>
        <p:txBody>
          <a:bodyPr wrap="square" lIns="0" tIns="0" rIns="0" bIns="0" rtlCol="0" anchor="ctr"/>
          <a:lstStyle/>
          <a:p>
            <a:pPr indent="0" marL="0">
              <a:lnSpc>
                <a:spcPts val="1800"/>
              </a:lnSpc>
              <a:buNone/>
            </a:pPr>
            <a:r>
              <a:rPr lang="en-US" sz="1400" b="1" dirty="0">
                <a:solidFill>
                  <a:srgbClr val="14202B"/>
                </a:solidFill>
                <a:latin typeface="Calibri" pitchFamily="34" charset="0"/>
                <a:ea typeface="Calibri" pitchFamily="34" charset="-122"/>
                <a:cs typeface="Calibri" pitchFamily="34" charset="-120"/>
              </a:rPr>
              <a:t>Two different architectures with the same ingredient land in the same place: what matters is time, not the way you interleave it.</a:t>
            </a:r>
            <a:endParaRPr lang="en-US" sz="1400" dirty="0"/>
          </a:p>
          <a:p>
            <a:pPr indent="0" marL="0">
              <a:lnSpc>
                <a:spcPts val="1800"/>
              </a:lnSpc>
              <a:buNone/>
            </a:pPr>
            <a:r>
              <a:rPr lang="en-US" sz="1250" dirty="0">
                <a:solidFill>
                  <a:srgbClr val="5F6B76"/>
                </a:solidFill>
                <a:latin typeface="Calibri" pitchFamily="34" charset="0"/>
                <a:ea typeface="Calibri" pitchFamily="34" charset="-122"/>
                <a:cs typeface="Calibri" pitchFamily="34" charset="-120"/>
              </a:rPr>
              <a:t>The base is shared, so the graph operator — GCN / SAGE / GAT — stays an interchangeable flag in both.</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IMPLEMENTATION</a:t>
            </a:r>
            <a:endParaRPr lang="en-US" sz="12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The choices that made training stable</a:t>
            </a:r>
            <a:endParaRPr lang="en-US" sz="3200" dirty="0"/>
          </a:p>
        </p:txBody>
      </p:sp>
      <p:sp>
        <p:nvSpPr>
          <p:cNvPr id="4" name="Shape 2"/>
          <p:cNvSpPr/>
          <p:nvPr/>
        </p:nvSpPr>
        <p:spPr>
          <a:xfrm>
            <a:off x="640080" y="1645920"/>
            <a:ext cx="5349240" cy="1920240"/>
          </a:xfrm>
          <a:prstGeom prst="roundRect">
            <a:avLst>
              <a:gd name="adj" fmla="val 2857"/>
            </a:avLst>
          </a:prstGeom>
          <a:solidFill>
            <a:srgbClr val="FFFFFF"/>
          </a:solidFill>
          <a:ln w="15875">
            <a:solidFill>
              <a:srgbClr val="D6E0E5"/>
            </a:solidFill>
            <a:prstDash val="solid"/>
          </a:ln>
          <a:effectLst>
            <a:outerShdw sx="100000" sy="100000" kx="0" ky="0" algn="bl" rotWithShape="0" blurRad="101600" dist="25400" dir="5400000">
              <a:srgbClr val="9AA8B2">
                <a:alpha val="25000"/>
              </a:srgbClr>
            </a:outerShdw>
          </a:effectLst>
        </p:spPr>
      </p:sp>
      <p:sp>
        <p:nvSpPr>
          <p:cNvPr id="5" name="Shape 3"/>
          <p:cNvSpPr/>
          <p:nvPr/>
        </p:nvSpPr>
        <p:spPr>
          <a:xfrm>
            <a:off x="960120" y="1938528"/>
            <a:ext cx="310896" cy="310896"/>
          </a:xfrm>
          <a:prstGeom prst="ellipse">
            <a:avLst/>
          </a:prstGeom>
          <a:solidFill>
            <a:srgbClr val="02C39A"/>
          </a:solidFill>
          <a:ln w="12700">
            <a:solidFill>
              <a:srgbClr val="333333"/>
            </a:solidFill>
            <a:prstDash val="solid"/>
          </a:ln>
        </p:spPr>
      </p:sp>
      <p:sp>
        <p:nvSpPr>
          <p:cNvPr id="6" name="Text 4"/>
          <p:cNvSpPr txBox="1"/>
          <p:nvPr/>
        </p:nvSpPr>
        <p:spPr>
          <a:xfrm>
            <a:off x="1417320" y="1901952"/>
            <a:ext cx="4297680" cy="365760"/>
          </a:xfrm>
          <a:prstGeom prst="rect">
            <a:avLst/>
          </a:prstGeom>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LayerNorm, not BatchNorm</a:t>
            </a:r>
            <a:endParaRPr lang="en-US" sz="1500" dirty="0"/>
          </a:p>
        </p:txBody>
      </p:sp>
      <p:sp>
        <p:nvSpPr>
          <p:cNvPr id="7" name="Text 5"/>
          <p:cNvSpPr txBox="1"/>
          <p:nvPr/>
        </p:nvSpPr>
        <p:spPr>
          <a:xfrm>
            <a:off x="1417320" y="2331720"/>
            <a:ext cx="4297680" cy="1051560"/>
          </a:xfrm>
          <a:prstGeom prst="rect">
            <a:avLst/>
          </a:prstGeom>
          <a:noFill/>
          <a:ln/>
        </p:spPr>
        <p:txBody>
          <a:bodyPr wrap="square" lIns="0" tIns="0" rIns="0" bIns="0" rtlCol="0" anchor="ctr"/>
          <a:lstStyle/>
          <a:p>
            <a:pPr indent="0" marL="0">
              <a:lnSpc>
                <a:spcPts val="1700"/>
              </a:lnSpc>
              <a:buNone/>
            </a:pPr>
            <a:r>
              <a:rPr lang="en-US" sz="1250" dirty="0">
                <a:solidFill>
                  <a:srgbClr val="5F6B76"/>
                </a:solidFill>
                <a:latin typeface="Calibri" pitchFamily="34" charset="0"/>
                <a:ea typeface="Calibri" pitchFamily="34" charset="-122"/>
                <a:cs typeface="Calibri" pitchFamily="34" charset="-120"/>
              </a:rPr>
              <a:t>BatchNorm's running statistics lag behind a fast-moving model → unstable validation. LayerNorm has no train/eval discrepancy.</a:t>
            </a:r>
            <a:endParaRPr lang="en-US" sz="1250" dirty="0"/>
          </a:p>
        </p:txBody>
      </p:sp>
      <p:sp>
        <p:nvSpPr>
          <p:cNvPr id="8" name="Shape 6"/>
          <p:cNvSpPr/>
          <p:nvPr/>
        </p:nvSpPr>
        <p:spPr>
          <a:xfrm>
            <a:off x="6199632" y="1645920"/>
            <a:ext cx="5349240" cy="1920240"/>
          </a:xfrm>
          <a:prstGeom prst="roundRect">
            <a:avLst>
              <a:gd name="adj" fmla="val 2857"/>
            </a:avLst>
          </a:prstGeom>
          <a:solidFill>
            <a:srgbClr val="FFFFFF"/>
          </a:solidFill>
          <a:ln w="15875">
            <a:solidFill>
              <a:srgbClr val="D6E0E5"/>
            </a:solidFill>
            <a:prstDash val="solid"/>
          </a:ln>
          <a:effectLst>
            <a:outerShdw sx="100000" sy="100000" kx="0" ky="0" algn="bl" rotWithShape="0" blurRad="101600" dist="25400" dir="5400000">
              <a:srgbClr val="9AA8B2">
                <a:alpha val="25000"/>
              </a:srgbClr>
            </a:outerShdw>
          </a:effectLst>
        </p:spPr>
      </p:sp>
      <p:sp>
        <p:nvSpPr>
          <p:cNvPr id="9" name="Shape 7"/>
          <p:cNvSpPr/>
          <p:nvPr/>
        </p:nvSpPr>
        <p:spPr>
          <a:xfrm>
            <a:off x="6519672" y="1938528"/>
            <a:ext cx="310896" cy="310896"/>
          </a:xfrm>
          <a:prstGeom prst="ellipse">
            <a:avLst/>
          </a:prstGeom>
          <a:solidFill>
            <a:srgbClr val="02C39A"/>
          </a:solidFill>
          <a:ln w="12700">
            <a:solidFill>
              <a:srgbClr val="333333"/>
            </a:solidFill>
            <a:prstDash val="solid"/>
          </a:ln>
        </p:spPr>
      </p:sp>
      <p:sp>
        <p:nvSpPr>
          <p:cNvPr id="10" name="Text 8"/>
          <p:cNvSpPr txBox="1"/>
          <p:nvPr/>
        </p:nvSpPr>
        <p:spPr>
          <a:xfrm>
            <a:off x="6976872" y="1901952"/>
            <a:ext cx="4297680" cy="365760"/>
          </a:xfrm>
          <a:prstGeom prst="rect">
            <a:avLst/>
          </a:prstGeom>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mean ⊕ max pooling</a:t>
            </a:r>
            <a:endParaRPr lang="en-US" sz="1500" dirty="0"/>
          </a:p>
        </p:txBody>
      </p:sp>
      <p:sp>
        <p:nvSpPr>
          <p:cNvPr id="11" name="Text 9"/>
          <p:cNvSpPr txBox="1"/>
          <p:nvPr/>
        </p:nvSpPr>
        <p:spPr>
          <a:xfrm>
            <a:off x="6976872" y="2331720"/>
            <a:ext cx="4297680" cy="1051560"/>
          </a:xfrm>
          <a:prstGeom prst="rect">
            <a:avLst/>
          </a:prstGeom>
          <a:noFill/>
          <a:ln/>
        </p:spPr>
        <p:txBody>
          <a:bodyPr wrap="square" lIns="0" tIns="0" rIns="0" bIns="0" rtlCol="0" anchor="ctr"/>
          <a:lstStyle/>
          <a:p>
            <a:pPr indent="0" marL="0">
              <a:lnSpc>
                <a:spcPts val="1700"/>
              </a:lnSpc>
              <a:buNone/>
            </a:pPr>
            <a:r>
              <a:rPr lang="en-US" sz="1250" dirty="0">
                <a:solidFill>
                  <a:srgbClr val="5F6B76"/>
                </a:solidFill>
                <a:latin typeface="Calibri" pitchFamily="34" charset="0"/>
                <a:ea typeface="Calibri" pitchFamily="34" charset="-122"/>
                <a:cs typeface="Calibri" pitchFamily="34" charset="-120"/>
              </a:rPr>
              <a:t>Over 3,020 nodes the mean washes out the salient node while the max preserves it: both, concatenated, before the MLP head.</a:t>
            </a:r>
            <a:endParaRPr lang="en-US" sz="1250" dirty="0"/>
          </a:p>
        </p:txBody>
      </p:sp>
      <p:sp>
        <p:nvSpPr>
          <p:cNvPr id="12" name="Shape 10"/>
          <p:cNvSpPr/>
          <p:nvPr/>
        </p:nvSpPr>
        <p:spPr>
          <a:xfrm>
            <a:off x="640080" y="3794760"/>
            <a:ext cx="5349240" cy="1920240"/>
          </a:xfrm>
          <a:prstGeom prst="roundRect">
            <a:avLst>
              <a:gd name="adj" fmla="val 2857"/>
            </a:avLst>
          </a:prstGeom>
          <a:solidFill>
            <a:srgbClr val="FFFFFF"/>
          </a:solidFill>
          <a:ln w="15875">
            <a:solidFill>
              <a:srgbClr val="D6E0E5"/>
            </a:solidFill>
            <a:prstDash val="solid"/>
          </a:ln>
          <a:effectLst>
            <a:outerShdw sx="100000" sy="100000" kx="0" ky="0" algn="bl" rotWithShape="0" blurRad="101600" dist="25400" dir="5400000">
              <a:srgbClr val="9AA8B2">
                <a:alpha val="25000"/>
              </a:srgbClr>
            </a:outerShdw>
          </a:effectLst>
        </p:spPr>
      </p:sp>
      <p:sp>
        <p:nvSpPr>
          <p:cNvPr id="13" name="Shape 11"/>
          <p:cNvSpPr/>
          <p:nvPr/>
        </p:nvSpPr>
        <p:spPr>
          <a:xfrm>
            <a:off x="960120" y="4087368"/>
            <a:ext cx="310896" cy="310896"/>
          </a:xfrm>
          <a:prstGeom prst="ellipse">
            <a:avLst/>
          </a:prstGeom>
          <a:solidFill>
            <a:srgbClr val="02C39A"/>
          </a:solidFill>
          <a:ln w="12700">
            <a:solidFill>
              <a:srgbClr val="333333"/>
            </a:solidFill>
            <a:prstDash val="solid"/>
          </a:ln>
        </p:spPr>
      </p:sp>
      <p:sp>
        <p:nvSpPr>
          <p:cNvPr id="14" name="Text 12"/>
          <p:cNvSpPr txBox="1"/>
          <p:nvPr/>
        </p:nvSpPr>
        <p:spPr>
          <a:xfrm>
            <a:off x="1417320" y="4050792"/>
            <a:ext cx="4297680" cy="365760"/>
          </a:xfrm>
          <a:prstGeom prst="rect">
            <a:avLst/>
          </a:prstGeom>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Static graph batching</a:t>
            </a:r>
            <a:endParaRPr lang="en-US" sz="1500" dirty="0"/>
          </a:p>
        </p:txBody>
      </p:sp>
      <p:sp>
        <p:nvSpPr>
          <p:cNvPr id="15" name="Text 13"/>
          <p:cNvSpPr txBox="1"/>
          <p:nvPr/>
        </p:nvSpPr>
        <p:spPr>
          <a:xfrm>
            <a:off x="1417320" y="4480560"/>
            <a:ext cx="4297680" cy="1051560"/>
          </a:xfrm>
          <a:prstGeom prst="rect">
            <a:avLst/>
          </a:prstGeom>
          <a:noFill/>
          <a:ln/>
        </p:spPr>
        <p:txBody>
          <a:bodyPr wrap="square" lIns="0" tIns="0" rIns="0" bIns="0" rtlCol="0" anchor="ctr"/>
          <a:lstStyle/>
          <a:p>
            <a:pPr indent="0" marL="0">
              <a:lnSpc>
                <a:spcPts val="1700"/>
              </a:lnSpc>
              <a:buNone/>
            </a:pPr>
            <a:r>
              <a:rPr lang="en-US" sz="1250" dirty="0">
                <a:solidFill>
                  <a:srgbClr val="5F6B76"/>
                </a:solidFill>
                <a:latin typeface="Calibri" pitchFamily="34" charset="0"/>
                <a:ea typeface="Calibri" pitchFamily="34" charset="-122"/>
                <a:cs typeface="Calibri" pitchFamily="34" charset="-120"/>
              </a:rPr>
              <a:t>The graph is identical for every sample: one edge_index and [B, N, F] tensors, instead of rebuilding a graph per sample. Verified equivalent to the PyG path.</a:t>
            </a:r>
            <a:endParaRPr lang="en-US" sz="1250" dirty="0"/>
          </a:p>
        </p:txBody>
      </p:sp>
      <p:sp>
        <p:nvSpPr>
          <p:cNvPr id="16" name="Shape 14"/>
          <p:cNvSpPr/>
          <p:nvPr/>
        </p:nvSpPr>
        <p:spPr>
          <a:xfrm>
            <a:off x="6199632" y="3794760"/>
            <a:ext cx="5349240" cy="1920240"/>
          </a:xfrm>
          <a:prstGeom prst="roundRect">
            <a:avLst>
              <a:gd name="adj" fmla="val 2857"/>
            </a:avLst>
          </a:prstGeom>
          <a:solidFill>
            <a:srgbClr val="FFFFFF"/>
          </a:solidFill>
          <a:ln w="15875">
            <a:solidFill>
              <a:srgbClr val="D6E0E5"/>
            </a:solidFill>
            <a:prstDash val="solid"/>
          </a:ln>
          <a:effectLst>
            <a:outerShdw sx="100000" sy="100000" kx="0" ky="0" algn="bl" rotWithShape="0" blurRad="101600" dist="25400" dir="5400000">
              <a:srgbClr val="9AA8B2">
                <a:alpha val="25000"/>
              </a:srgbClr>
            </a:outerShdw>
          </a:effectLst>
        </p:spPr>
      </p:sp>
      <p:sp>
        <p:nvSpPr>
          <p:cNvPr id="17" name="Shape 15"/>
          <p:cNvSpPr/>
          <p:nvPr/>
        </p:nvSpPr>
        <p:spPr>
          <a:xfrm>
            <a:off x="6519672" y="4087368"/>
            <a:ext cx="310896" cy="310896"/>
          </a:xfrm>
          <a:prstGeom prst="ellipse">
            <a:avLst/>
          </a:prstGeom>
          <a:solidFill>
            <a:srgbClr val="02C39A"/>
          </a:solidFill>
          <a:ln w="12700">
            <a:solidFill>
              <a:srgbClr val="333333"/>
            </a:solidFill>
            <a:prstDash val="solid"/>
          </a:ln>
        </p:spPr>
      </p:sp>
      <p:sp>
        <p:nvSpPr>
          <p:cNvPr id="18" name="Text 16"/>
          <p:cNvSpPr txBox="1"/>
          <p:nvPr/>
        </p:nvSpPr>
        <p:spPr>
          <a:xfrm>
            <a:off x="6976872" y="4050792"/>
            <a:ext cx="4297680" cy="365760"/>
          </a:xfrm>
          <a:prstGeom prst="rect">
            <a:avLst/>
          </a:prstGeom>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Offline preprocessing</a:t>
            </a:r>
            <a:endParaRPr lang="en-US" sz="1500" dirty="0"/>
          </a:p>
        </p:txBody>
      </p:sp>
      <p:sp>
        <p:nvSpPr>
          <p:cNvPr id="19" name="Text 17"/>
          <p:cNvSpPr txBox="1"/>
          <p:nvPr/>
        </p:nvSpPr>
        <p:spPr>
          <a:xfrm>
            <a:off x="6976872" y="4480560"/>
            <a:ext cx="4297680" cy="1051560"/>
          </a:xfrm>
          <a:prstGeom prst="rect">
            <a:avLst/>
          </a:prstGeom>
          <a:noFill/>
          <a:ln/>
        </p:spPr>
        <p:txBody>
          <a:bodyPr wrap="square" lIns="0" tIns="0" rIns="0" bIns="0" rtlCol="0" anchor="ctr"/>
          <a:lstStyle/>
          <a:p>
            <a:pPr indent="0" marL="0">
              <a:lnSpc>
                <a:spcPts val="1700"/>
              </a:lnSpc>
              <a:buNone/>
            </a:pPr>
            <a:r>
              <a:rPr lang="en-US" sz="1250" dirty="0">
                <a:solidFill>
                  <a:srgbClr val="5F6B76"/>
                </a:solidFill>
                <a:latin typeface="Calibri" pitchFamily="34" charset="0"/>
                <a:ea typeface="Calibri" pitchFamily="34" charset="-122"/>
                <a:cs typeface="Calibri" pitchFamily="34" charset="-120"/>
              </a:rPr>
              <a:t>Features materialised as memory-mapped float16 .npy: CPU overhead ≈ 0 during training, cache invalidated automatically when the configuration changes.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PROTOCOL</a:t>
            </a:r>
            <a:endParaRPr lang="en-US" sz="12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How we trained and evaluated</a:t>
            </a:r>
            <a:endParaRPr lang="en-US" sz="3200" dirty="0"/>
          </a:p>
        </p:txBody>
      </p:sp>
      <p:sp>
        <p:nvSpPr>
          <p:cNvPr id="4" name="Shape 2"/>
          <p:cNvSpPr/>
          <p:nvPr/>
        </p:nvSpPr>
        <p:spPr>
          <a:xfrm>
            <a:off x="640080" y="1783080"/>
            <a:ext cx="1051560" cy="868680"/>
          </a:xfrm>
          <a:prstGeom prst="roundRect">
            <a:avLst>
              <a:gd name="adj" fmla="val 7368"/>
            </a:avLst>
          </a:prstGeom>
          <a:solidFill>
            <a:srgbClr val="028090"/>
          </a:solidFill>
          <a:ln w="12700">
            <a:solidFill>
              <a:srgbClr val="333333"/>
            </a:solidFill>
            <a:prstDash val="solid"/>
          </a:ln>
        </p:spPr>
      </p:sp>
      <p:sp>
        <p:nvSpPr>
          <p:cNvPr id="5" name="Text 3"/>
          <p:cNvSpPr txBox="1"/>
          <p:nvPr/>
        </p:nvSpPr>
        <p:spPr>
          <a:xfrm>
            <a:off x="640080" y="1783080"/>
            <a:ext cx="1051560"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D1</a:t>
            </a:r>
            <a:endParaRPr lang="en-US" sz="2000" dirty="0"/>
          </a:p>
        </p:txBody>
      </p:sp>
      <p:sp>
        <p:nvSpPr>
          <p:cNvPr id="6" name="Shape 4"/>
          <p:cNvSpPr/>
          <p:nvPr/>
        </p:nvSpPr>
        <p:spPr>
          <a:xfrm>
            <a:off x="1837944" y="1783080"/>
            <a:ext cx="1051560" cy="868680"/>
          </a:xfrm>
          <a:prstGeom prst="roundRect">
            <a:avLst>
              <a:gd name="adj" fmla="val 7368"/>
            </a:avLst>
          </a:prstGeom>
          <a:solidFill>
            <a:srgbClr val="028090"/>
          </a:solidFill>
          <a:ln w="12700">
            <a:solidFill>
              <a:srgbClr val="333333"/>
            </a:solidFill>
            <a:prstDash val="solid"/>
          </a:ln>
        </p:spPr>
      </p:sp>
      <p:sp>
        <p:nvSpPr>
          <p:cNvPr id="7" name="Text 5"/>
          <p:cNvSpPr txBox="1"/>
          <p:nvPr/>
        </p:nvSpPr>
        <p:spPr>
          <a:xfrm>
            <a:off x="1837944" y="1783080"/>
            <a:ext cx="1051560"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D2</a:t>
            </a:r>
            <a:endParaRPr lang="en-US" sz="2000" dirty="0"/>
          </a:p>
        </p:txBody>
      </p:sp>
      <p:sp>
        <p:nvSpPr>
          <p:cNvPr id="8" name="Shape 6"/>
          <p:cNvSpPr/>
          <p:nvPr/>
        </p:nvSpPr>
        <p:spPr>
          <a:xfrm>
            <a:off x="3035808" y="1783080"/>
            <a:ext cx="1051560" cy="868680"/>
          </a:xfrm>
          <a:prstGeom prst="roundRect">
            <a:avLst>
              <a:gd name="adj" fmla="val 7368"/>
            </a:avLst>
          </a:prstGeom>
          <a:solidFill>
            <a:srgbClr val="028090"/>
          </a:solidFill>
          <a:ln w="12700">
            <a:solidFill>
              <a:srgbClr val="333333"/>
            </a:solidFill>
            <a:prstDash val="solid"/>
          </a:ln>
        </p:spPr>
      </p:sp>
      <p:sp>
        <p:nvSpPr>
          <p:cNvPr id="9" name="Text 7"/>
          <p:cNvSpPr txBox="1"/>
          <p:nvPr/>
        </p:nvSpPr>
        <p:spPr>
          <a:xfrm>
            <a:off x="3035808" y="1783080"/>
            <a:ext cx="1051560"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D3</a:t>
            </a:r>
            <a:endParaRPr lang="en-US" sz="2000" dirty="0"/>
          </a:p>
        </p:txBody>
      </p:sp>
      <p:sp>
        <p:nvSpPr>
          <p:cNvPr id="10" name="Shape 8"/>
          <p:cNvSpPr/>
          <p:nvPr/>
        </p:nvSpPr>
        <p:spPr>
          <a:xfrm>
            <a:off x="4233672" y="1783080"/>
            <a:ext cx="1051560" cy="868680"/>
          </a:xfrm>
          <a:prstGeom prst="roundRect">
            <a:avLst>
              <a:gd name="adj" fmla="val 7368"/>
            </a:avLst>
          </a:prstGeom>
          <a:solidFill>
            <a:srgbClr val="1C7293"/>
          </a:solidFill>
          <a:ln w="12700">
            <a:solidFill>
              <a:srgbClr val="333333"/>
            </a:solidFill>
            <a:prstDash val="solid"/>
          </a:ln>
        </p:spPr>
      </p:sp>
      <p:sp>
        <p:nvSpPr>
          <p:cNvPr id="11" name="Text 9"/>
          <p:cNvSpPr txBox="1"/>
          <p:nvPr/>
        </p:nvSpPr>
        <p:spPr>
          <a:xfrm>
            <a:off x="4233672" y="1783080"/>
            <a:ext cx="1051560"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D4</a:t>
            </a:r>
            <a:endParaRPr lang="en-US" sz="2000" dirty="0"/>
          </a:p>
        </p:txBody>
      </p:sp>
      <p:sp>
        <p:nvSpPr>
          <p:cNvPr id="12" name="Shape 10"/>
          <p:cNvSpPr/>
          <p:nvPr/>
        </p:nvSpPr>
        <p:spPr>
          <a:xfrm>
            <a:off x="5431536" y="1783080"/>
            <a:ext cx="1051560" cy="868680"/>
          </a:xfrm>
          <a:prstGeom prst="roundRect">
            <a:avLst>
              <a:gd name="adj" fmla="val 7368"/>
            </a:avLst>
          </a:prstGeom>
          <a:solidFill>
            <a:srgbClr val="E5484D"/>
          </a:solidFill>
          <a:ln w="12700">
            <a:solidFill>
              <a:srgbClr val="333333"/>
            </a:solidFill>
            <a:prstDash val="solid"/>
          </a:ln>
        </p:spPr>
      </p:sp>
      <p:sp>
        <p:nvSpPr>
          <p:cNvPr id="13" name="Text 11"/>
          <p:cNvSpPr txBox="1"/>
          <p:nvPr/>
        </p:nvSpPr>
        <p:spPr>
          <a:xfrm>
            <a:off x="5431536" y="1783080"/>
            <a:ext cx="1051560" cy="8686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D5</a:t>
            </a:r>
            <a:endParaRPr lang="en-US" sz="2000" dirty="0"/>
          </a:p>
        </p:txBody>
      </p:sp>
      <p:sp>
        <p:nvSpPr>
          <p:cNvPr id="14" name="Text 12"/>
          <p:cNvSpPr txBox="1"/>
          <p:nvPr/>
        </p:nvSpPr>
        <p:spPr>
          <a:xfrm>
            <a:off x="640080" y="2743200"/>
            <a:ext cx="3447288" cy="274320"/>
          </a:xfrm>
          <a:prstGeom prst="rect">
            <a:avLst/>
          </a:prstGeom>
          <a:noFill/>
          <a:ln/>
        </p:spPr>
        <p:txBody>
          <a:bodyPr wrap="square" lIns="0" tIns="0" rIns="0" bIns="0" rtlCol="0" anchor="ctr"/>
          <a:lstStyle/>
          <a:p>
            <a:pPr algn="ctr" indent="0" marL="0">
              <a:buNone/>
            </a:pPr>
            <a:r>
              <a:rPr lang="en-US" sz="1200" b="1" dirty="0">
                <a:solidFill>
                  <a:srgbClr val="028090"/>
                </a:solidFill>
                <a:latin typeface="Calibri" pitchFamily="34" charset="0"/>
                <a:ea typeface="Calibri" pitchFamily="34" charset="-122"/>
                <a:cs typeface="Calibri" pitchFamily="34" charset="-120"/>
              </a:rPr>
              <a:t>training</a:t>
            </a:r>
            <a:endParaRPr lang="en-US" sz="1200" dirty="0"/>
          </a:p>
        </p:txBody>
      </p:sp>
      <p:sp>
        <p:nvSpPr>
          <p:cNvPr id="15" name="Text 13"/>
          <p:cNvSpPr txBox="1"/>
          <p:nvPr/>
        </p:nvSpPr>
        <p:spPr>
          <a:xfrm>
            <a:off x="4233672" y="2743200"/>
            <a:ext cx="1051560" cy="274320"/>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validation</a:t>
            </a:r>
            <a:endParaRPr lang="en-US" sz="1100" dirty="0"/>
          </a:p>
        </p:txBody>
      </p:sp>
      <p:sp>
        <p:nvSpPr>
          <p:cNvPr id="16" name="Text 14"/>
          <p:cNvSpPr txBox="1"/>
          <p:nvPr/>
        </p:nvSpPr>
        <p:spPr>
          <a:xfrm>
            <a:off x="5431536" y="2743200"/>
            <a:ext cx="1051560" cy="274320"/>
          </a:xfrm>
          <a:prstGeom prst="rect">
            <a:avLst/>
          </a:prstGeom>
          <a:noFill/>
          <a:ln/>
        </p:spPr>
        <p:txBody>
          <a:bodyPr wrap="square" lIns="0" tIns="0" rIns="0" bIns="0" rtlCol="0" anchor="ctr"/>
          <a:lstStyle/>
          <a:p>
            <a:pPr algn="ctr" indent="0" marL="0">
              <a:buNone/>
            </a:pPr>
            <a:r>
              <a:rPr lang="en-US" sz="1100" b="1" dirty="0">
                <a:solidFill>
                  <a:srgbClr val="E5484D"/>
                </a:solidFill>
                <a:latin typeface="Calibri" pitchFamily="34" charset="0"/>
                <a:ea typeface="Calibri" pitchFamily="34" charset="-122"/>
                <a:cs typeface="Calibri" pitchFamily="34" charset="-120"/>
              </a:rPr>
              <a:t>test</a:t>
            </a:r>
            <a:endParaRPr lang="en-US" sz="1100" dirty="0"/>
          </a:p>
        </p:txBody>
      </p:sp>
      <p:sp>
        <p:nvSpPr>
          <p:cNvPr id="17" name="Text 15"/>
          <p:cNvSpPr txBox="1"/>
          <p:nvPr/>
        </p:nvSpPr>
        <p:spPr>
          <a:xfrm>
            <a:off x="640080" y="3108960"/>
            <a:ext cx="5852160" cy="502920"/>
          </a:xfrm>
          <a:prstGeom prst="rect">
            <a:avLst/>
          </a:prstGeom>
          <a:noFill/>
          <a:ln/>
        </p:spPr>
        <p:txBody>
          <a:bodyPr wrap="square" lIns="0" tIns="0" rIns="0" bIns="0" rtlCol="0" anchor="ctr"/>
          <a:lstStyle/>
          <a:p>
            <a:pPr indent="0" marL="0">
              <a:lnSpc>
                <a:spcPts val="1700"/>
              </a:lnSpc>
              <a:buNone/>
            </a:pPr>
            <a:r>
              <a:rPr lang="en-US" sz="1250" i="1" dirty="0">
                <a:solidFill>
                  <a:srgbClr val="5F6B76"/>
                </a:solidFill>
                <a:latin typeface="Calibri" pitchFamily="34" charset="0"/>
                <a:ea typeface="Calibri" pitchFamily="34" charset="-122"/>
                <a:cs typeface="Calibri" pitchFamily="34" charset="-120"/>
              </a:rPr>
              <a:t>by_file split: whole, disjoint trading days, no intra-day leakage — the analogue of the HLOB protocol.</a:t>
            </a:r>
            <a:endParaRPr lang="en-US" sz="1250" dirty="0"/>
          </a:p>
        </p:txBody>
      </p:sp>
      <p:sp>
        <p:nvSpPr>
          <p:cNvPr id="18" name="Text 16"/>
          <p:cNvSpPr txBox="1"/>
          <p:nvPr/>
        </p:nvSpPr>
        <p:spPr>
          <a:xfrm>
            <a:off x="640080" y="3840480"/>
            <a:ext cx="5852160" cy="1792224"/>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350" dirty="0">
                <a:solidFill>
                  <a:srgbClr val="14202B"/>
                </a:solidFill>
                <a:latin typeface="Calibri" pitchFamily="34" charset="0"/>
                <a:ea typeface="Calibri" pitchFamily="34" charset="-122"/>
                <a:cs typeface="Calibri" pitchFamily="34" charset="-120"/>
              </a:rPr>
              <a:t>Balanced training: 50k samples per class (150k total) — the flat class cannot dominate the gradient</a:t>
            </a:r>
            <a:endParaRPr lang="en-US" sz="1350" dirty="0"/>
          </a:p>
          <a:p>
            <a:pPr marL="342900" indent="-342900">
              <a:lnSpc>
                <a:spcPts val="2000"/>
              </a:lnSpc>
              <a:spcAft>
                <a:spcPts val="1000"/>
              </a:spcAft>
              <a:buSzPct val="100000"/>
              <a:buChar char="●"/>
            </a:pPr>
            <a:r>
              <a:rPr lang="en-US" sz="1350" dirty="0">
                <a:solidFill>
                  <a:srgbClr val="14202B"/>
                </a:solidFill>
                <a:latin typeface="Calibri" pitchFamily="34" charset="0"/>
                <a:ea typeface="Calibri" pitchFamily="34" charset="-122"/>
                <a:cs typeface="Calibri" pitchFamily="34" charset="-120"/>
              </a:rPr>
              <a:t>Validation and test on the natural distribution (~88% flat): evaluated on the world as it is</a:t>
            </a:r>
            <a:endParaRPr lang="en-US" sz="1350" dirty="0"/>
          </a:p>
          <a:p>
            <a:pPr marL="342900" indent="-342900">
              <a:lnSpc>
                <a:spcPts val="2000"/>
              </a:lnSpc>
              <a:spcAft>
                <a:spcPts val="1000"/>
              </a:spcAft>
              <a:buSzPct val="100000"/>
              <a:buChar char="●"/>
            </a:pPr>
            <a:r>
              <a:rPr lang="en-US" sz="1350" dirty="0">
                <a:solidFill>
                  <a:srgbClr val="14202B"/>
                </a:solidFill>
                <a:latin typeface="Calibri" pitchFamily="34" charset="0"/>
                <a:ea typeface="Calibri" pitchFamily="34" charset="-122"/>
                <a:cs typeface="Calibri" pitchFamily="34" charset="-120"/>
              </a:rPr>
              <a:t>Early stopping and checkpointing on validation macro F1, not on the loss</a:t>
            </a:r>
            <a:endParaRPr lang="en-US" sz="1350" dirty="0"/>
          </a:p>
        </p:txBody>
      </p:sp>
      <p:sp>
        <p:nvSpPr>
          <p:cNvPr id="19" name="Shape 17"/>
          <p:cNvSpPr/>
          <p:nvPr/>
        </p:nvSpPr>
        <p:spPr>
          <a:xfrm>
            <a:off x="6949440" y="1783080"/>
            <a:ext cx="4617720" cy="4023360"/>
          </a:xfrm>
          <a:prstGeom prst="roundRect">
            <a:avLst>
              <a:gd name="adj" fmla="val 1364"/>
            </a:avLst>
          </a:prstGeom>
          <a:solidFill>
            <a:srgbClr val="FFFFFF"/>
          </a:solidFill>
          <a:ln w="15875">
            <a:solidFill>
              <a:srgbClr val="D6E0E5"/>
            </a:solidFill>
            <a:prstDash val="solid"/>
          </a:ln>
          <a:effectLst>
            <a:outerShdw sx="100000" sy="100000" kx="0" ky="0" algn="bl" rotWithShape="0" blurRad="101600" dist="25400" dir="5400000">
              <a:srgbClr val="9AA8B2">
                <a:alpha val="25000"/>
              </a:srgbClr>
            </a:outerShdw>
          </a:effectLst>
        </p:spPr>
      </p:sp>
      <p:sp>
        <p:nvSpPr>
          <p:cNvPr id="20" name="Text 18"/>
          <p:cNvSpPr txBox="1"/>
          <p:nvPr/>
        </p:nvSpPr>
        <p:spPr>
          <a:xfrm>
            <a:off x="7269480" y="2011680"/>
            <a:ext cx="4023360" cy="320040"/>
          </a:xfrm>
          <a:prstGeom prst="rect">
            <a:avLst/>
          </a:prstGeom>
          <a:noFill/>
          <a:ln/>
        </p:spPr>
        <p:txBody>
          <a:bodyPr wrap="square" lIns="0" tIns="0" rIns="0" bIns="0" rtlCol="0" anchor="ctr"/>
          <a:lstStyle/>
          <a:p>
            <a:pPr indent="0" marL="0">
              <a:buNone/>
            </a:pPr>
            <a:r>
              <a:rPr lang="en-US" sz="1500" b="1" dirty="0">
                <a:solidFill>
                  <a:srgbClr val="14202B"/>
                </a:solidFill>
                <a:latin typeface="Calibri" pitchFamily="34" charset="0"/>
                <a:ea typeface="Calibri" pitchFamily="34" charset="-122"/>
                <a:cs typeface="Calibri" pitchFamily="34" charset="-120"/>
              </a:rPr>
              <a:t>Hyperparameters</a:t>
            </a:r>
            <a:endParaRPr lang="en-US" sz="1500" dirty="0"/>
          </a:p>
        </p:txBody>
      </p:sp>
      <p:sp>
        <p:nvSpPr>
          <p:cNvPr id="21" name="Text 19"/>
          <p:cNvSpPr txBox="1"/>
          <p:nvPr/>
        </p:nvSpPr>
        <p:spPr>
          <a:xfrm>
            <a:off x="7269480" y="2487168"/>
            <a:ext cx="1691640" cy="320040"/>
          </a:xfrm>
          <a:prstGeom prst="rect">
            <a:avLst/>
          </a:prstGeom>
          <a:noFill/>
          <a:ln/>
        </p:spPr>
        <p:txBody>
          <a:bodyPr wrap="square" lIns="0" tIns="0" rIns="0" bIns="0" rtlCol="0" anchor="ctr"/>
          <a:lstStyle/>
          <a:p>
            <a:pPr indent="0" marL="0">
              <a:buNone/>
            </a:pPr>
            <a:r>
              <a:rPr lang="en-US" sz="1200" dirty="0">
                <a:solidFill>
                  <a:srgbClr val="5F6B76"/>
                </a:solidFill>
                <a:latin typeface="Calibri" pitchFamily="34" charset="0"/>
                <a:ea typeface="Calibri" pitchFamily="34" charset="-122"/>
                <a:cs typeface="Calibri" pitchFamily="34" charset="-120"/>
              </a:rPr>
              <a:t>optimiser</a:t>
            </a:r>
            <a:endParaRPr lang="en-US" sz="1200" dirty="0"/>
          </a:p>
        </p:txBody>
      </p:sp>
      <p:sp>
        <p:nvSpPr>
          <p:cNvPr id="22" name="Text 20"/>
          <p:cNvSpPr txBox="1"/>
          <p:nvPr/>
        </p:nvSpPr>
        <p:spPr>
          <a:xfrm>
            <a:off x="8961120" y="2487168"/>
            <a:ext cx="2377440" cy="320040"/>
          </a:xfrm>
          <a:prstGeom prst="rect">
            <a:avLst/>
          </a:prstGeom>
          <a:noFill/>
          <a:ln/>
        </p:spPr>
        <p:txBody>
          <a:bodyPr wrap="square" lIns="0" tIns="0" rIns="0" bIns="0" rtlCol="0" anchor="ctr"/>
          <a:lstStyle/>
          <a:p>
            <a:pPr indent="0" marL="0">
              <a:buNone/>
            </a:pPr>
            <a:r>
              <a:rPr lang="en-US" sz="1200" b="1" dirty="0">
                <a:solidFill>
                  <a:srgbClr val="14202B"/>
                </a:solidFill>
                <a:latin typeface="Calibri" pitchFamily="34" charset="0"/>
                <a:ea typeface="Calibri" pitchFamily="34" charset="-122"/>
                <a:cs typeface="Calibri" pitchFamily="34" charset="-120"/>
              </a:rPr>
              <a:t>AdamW  (β 0.90 / 0.95)</a:t>
            </a:r>
            <a:endParaRPr lang="en-US" sz="1200" dirty="0"/>
          </a:p>
        </p:txBody>
      </p:sp>
      <p:sp>
        <p:nvSpPr>
          <p:cNvPr id="23" name="Shape 21"/>
          <p:cNvSpPr/>
          <p:nvPr/>
        </p:nvSpPr>
        <p:spPr>
          <a:xfrm>
            <a:off x="7269480" y="2871216"/>
            <a:ext cx="4069080" cy="0"/>
          </a:xfrm>
          <a:prstGeom prst="line">
            <a:avLst/>
          </a:prstGeom>
          <a:noFill/>
          <a:ln w="9525">
            <a:solidFill>
              <a:srgbClr val="D6E0E5"/>
            </a:solidFill>
            <a:prstDash val="solid"/>
          </a:ln>
        </p:spPr>
      </p:sp>
      <p:sp>
        <p:nvSpPr>
          <p:cNvPr id="24" name="Text 22"/>
          <p:cNvSpPr txBox="1"/>
          <p:nvPr/>
        </p:nvSpPr>
        <p:spPr>
          <a:xfrm>
            <a:off x="7269480" y="2999232"/>
            <a:ext cx="1691640" cy="320040"/>
          </a:xfrm>
          <a:prstGeom prst="rect">
            <a:avLst/>
          </a:prstGeom>
          <a:noFill/>
          <a:ln/>
        </p:spPr>
        <p:txBody>
          <a:bodyPr wrap="square" lIns="0" tIns="0" rIns="0" bIns="0" rtlCol="0" anchor="ctr"/>
          <a:lstStyle/>
          <a:p>
            <a:pPr indent="0" marL="0">
              <a:buNone/>
            </a:pPr>
            <a:r>
              <a:rPr lang="en-US" sz="1200" dirty="0">
                <a:solidFill>
                  <a:srgbClr val="5F6B76"/>
                </a:solidFill>
                <a:latin typeface="Calibri" pitchFamily="34" charset="0"/>
                <a:ea typeface="Calibri" pitchFamily="34" charset="-122"/>
                <a:cs typeface="Calibri" pitchFamily="34" charset="-120"/>
              </a:rPr>
              <a:t>learning rate</a:t>
            </a:r>
            <a:endParaRPr lang="en-US" sz="1200" dirty="0"/>
          </a:p>
        </p:txBody>
      </p:sp>
      <p:sp>
        <p:nvSpPr>
          <p:cNvPr id="25" name="Text 23"/>
          <p:cNvSpPr txBox="1"/>
          <p:nvPr/>
        </p:nvSpPr>
        <p:spPr>
          <a:xfrm>
            <a:off x="8961120" y="2999232"/>
            <a:ext cx="2377440" cy="320040"/>
          </a:xfrm>
          <a:prstGeom prst="rect">
            <a:avLst/>
          </a:prstGeom>
          <a:noFill/>
          <a:ln/>
        </p:spPr>
        <p:txBody>
          <a:bodyPr wrap="square" lIns="0" tIns="0" rIns="0" bIns="0" rtlCol="0" anchor="ctr"/>
          <a:lstStyle/>
          <a:p>
            <a:pPr indent="0" marL="0">
              <a:buNone/>
            </a:pPr>
            <a:r>
              <a:rPr lang="en-US" sz="1200" b="1" dirty="0">
                <a:solidFill>
                  <a:srgbClr val="14202B"/>
                </a:solidFill>
                <a:latin typeface="Calibri" pitchFamily="34" charset="0"/>
                <a:ea typeface="Calibri" pitchFamily="34" charset="-122"/>
                <a:cs typeface="Calibri" pitchFamily="34" charset="-120"/>
              </a:rPr>
              <a:t>3·10⁻⁴  ·  weight decay 10⁻⁴</a:t>
            </a:r>
            <a:endParaRPr lang="en-US" sz="1200" dirty="0"/>
          </a:p>
        </p:txBody>
      </p:sp>
      <p:sp>
        <p:nvSpPr>
          <p:cNvPr id="26" name="Shape 24"/>
          <p:cNvSpPr/>
          <p:nvPr/>
        </p:nvSpPr>
        <p:spPr>
          <a:xfrm>
            <a:off x="7269480" y="3383280"/>
            <a:ext cx="4069080" cy="0"/>
          </a:xfrm>
          <a:prstGeom prst="line">
            <a:avLst/>
          </a:prstGeom>
          <a:noFill/>
          <a:ln w="9525">
            <a:solidFill>
              <a:srgbClr val="D6E0E5"/>
            </a:solidFill>
            <a:prstDash val="solid"/>
          </a:ln>
        </p:spPr>
      </p:sp>
      <p:sp>
        <p:nvSpPr>
          <p:cNvPr id="27" name="Text 25"/>
          <p:cNvSpPr txBox="1"/>
          <p:nvPr/>
        </p:nvSpPr>
        <p:spPr>
          <a:xfrm>
            <a:off x="7269480" y="3511296"/>
            <a:ext cx="1691640" cy="320040"/>
          </a:xfrm>
          <a:prstGeom prst="rect">
            <a:avLst/>
          </a:prstGeom>
          <a:noFill/>
          <a:ln/>
        </p:spPr>
        <p:txBody>
          <a:bodyPr wrap="square" lIns="0" tIns="0" rIns="0" bIns="0" rtlCol="0" anchor="ctr"/>
          <a:lstStyle/>
          <a:p>
            <a:pPr indent="0" marL="0">
              <a:buNone/>
            </a:pPr>
            <a:r>
              <a:rPr lang="en-US" sz="1200" dirty="0">
                <a:solidFill>
                  <a:srgbClr val="5F6B76"/>
                </a:solidFill>
                <a:latin typeface="Calibri" pitchFamily="34" charset="0"/>
                <a:ea typeface="Calibri" pitchFamily="34" charset="-122"/>
                <a:cs typeface="Calibri" pitchFamily="34" charset="-120"/>
              </a:rPr>
              <a:t>batch size</a:t>
            </a:r>
            <a:endParaRPr lang="en-US" sz="1200" dirty="0"/>
          </a:p>
        </p:txBody>
      </p:sp>
      <p:sp>
        <p:nvSpPr>
          <p:cNvPr id="28" name="Text 26"/>
          <p:cNvSpPr txBox="1"/>
          <p:nvPr/>
        </p:nvSpPr>
        <p:spPr>
          <a:xfrm>
            <a:off x="8961120" y="3511296"/>
            <a:ext cx="2377440" cy="320040"/>
          </a:xfrm>
          <a:prstGeom prst="rect">
            <a:avLst/>
          </a:prstGeom>
          <a:noFill/>
          <a:ln/>
        </p:spPr>
        <p:txBody>
          <a:bodyPr wrap="square" lIns="0" tIns="0" rIns="0" bIns="0" rtlCol="0" anchor="ctr"/>
          <a:lstStyle/>
          <a:p>
            <a:pPr indent="0" marL="0">
              <a:buNone/>
            </a:pPr>
            <a:r>
              <a:rPr lang="en-US" sz="1200" b="1" dirty="0">
                <a:solidFill>
                  <a:srgbClr val="14202B"/>
                </a:solidFill>
                <a:latin typeface="Calibri" pitchFamily="34" charset="0"/>
                <a:ea typeface="Calibri" pitchFamily="34" charset="-122"/>
                <a:cs typeface="Calibri" pitchFamily="34" charset="-120"/>
              </a:rPr>
              <a:t>128  ·  grad clip 1.0</a:t>
            </a:r>
            <a:endParaRPr lang="en-US" sz="1200" dirty="0"/>
          </a:p>
        </p:txBody>
      </p:sp>
      <p:sp>
        <p:nvSpPr>
          <p:cNvPr id="29" name="Shape 27"/>
          <p:cNvSpPr/>
          <p:nvPr/>
        </p:nvSpPr>
        <p:spPr>
          <a:xfrm>
            <a:off x="7269480" y="3895344"/>
            <a:ext cx="4069080" cy="0"/>
          </a:xfrm>
          <a:prstGeom prst="line">
            <a:avLst/>
          </a:prstGeom>
          <a:noFill/>
          <a:ln w="9525">
            <a:solidFill>
              <a:srgbClr val="D6E0E5"/>
            </a:solidFill>
            <a:prstDash val="solid"/>
          </a:ln>
        </p:spPr>
      </p:sp>
      <p:sp>
        <p:nvSpPr>
          <p:cNvPr id="30" name="Text 28"/>
          <p:cNvSpPr txBox="1"/>
          <p:nvPr/>
        </p:nvSpPr>
        <p:spPr>
          <a:xfrm>
            <a:off x="7269480" y="4023360"/>
            <a:ext cx="1691640" cy="320040"/>
          </a:xfrm>
          <a:prstGeom prst="rect">
            <a:avLst/>
          </a:prstGeom>
          <a:noFill/>
          <a:ln/>
        </p:spPr>
        <p:txBody>
          <a:bodyPr wrap="square" lIns="0" tIns="0" rIns="0" bIns="0" rtlCol="0" anchor="ctr"/>
          <a:lstStyle/>
          <a:p>
            <a:pPr indent="0" marL="0">
              <a:buNone/>
            </a:pPr>
            <a:r>
              <a:rPr lang="en-US" sz="1200" dirty="0">
                <a:solidFill>
                  <a:srgbClr val="5F6B76"/>
                </a:solidFill>
                <a:latin typeface="Calibri" pitchFamily="34" charset="0"/>
                <a:ea typeface="Calibri" pitchFamily="34" charset="-122"/>
                <a:cs typeface="Calibri" pitchFamily="34" charset="-120"/>
              </a:rPr>
              <a:t>scheduler</a:t>
            </a:r>
            <a:endParaRPr lang="en-US" sz="1200" dirty="0"/>
          </a:p>
        </p:txBody>
      </p:sp>
      <p:sp>
        <p:nvSpPr>
          <p:cNvPr id="31" name="Text 29"/>
          <p:cNvSpPr txBox="1"/>
          <p:nvPr/>
        </p:nvSpPr>
        <p:spPr>
          <a:xfrm>
            <a:off x="8961120" y="4023360"/>
            <a:ext cx="2377440" cy="320040"/>
          </a:xfrm>
          <a:prstGeom prst="rect">
            <a:avLst/>
          </a:prstGeom>
          <a:noFill/>
          <a:ln/>
        </p:spPr>
        <p:txBody>
          <a:bodyPr wrap="square" lIns="0" tIns="0" rIns="0" bIns="0" rtlCol="0" anchor="ctr"/>
          <a:lstStyle/>
          <a:p>
            <a:pPr indent="0" marL="0">
              <a:buNone/>
            </a:pPr>
            <a:r>
              <a:rPr lang="en-US" sz="1200" b="1" dirty="0">
                <a:solidFill>
                  <a:srgbClr val="14202B"/>
                </a:solidFill>
                <a:latin typeface="Calibri" pitchFamily="34" charset="0"/>
                <a:ea typeface="Calibri" pitchFamily="34" charset="-122"/>
                <a:cs typeface="Calibri" pitchFamily="34" charset="-120"/>
              </a:rPr>
              <a:t>ReduceLROnPlateau (×0.5)</a:t>
            </a:r>
            <a:endParaRPr lang="en-US" sz="1200" dirty="0"/>
          </a:p>
        </p:txBody>
      </p:sp>
      <p:sp>
        <p:nvSpPr>
          <p:cNvPr id="32" name="Shape 30"/>
          <p:cNvSpPr/>
          <p:nvPr/>
        </p:nvSpPr>
        <p:spPr>
          <a:xfrm>
            <a:off x="7269480" y="4407408"/>
            <a:ext cx="4069080" cy="0"/>
          </a:xfrm>
          <a:prstGeom prst="line">
            <a:avLst/>
          </a:prstGeom>
          <a:noFill/>
          <a:ln w="9525">
            <a:solidFill>
              <a:srgbClr val="D6E0E5"/>
            </a:solidFill>
            <a:prstDash val="solid"/>
          </a:ln>
        </p:spPr>
      </p:sp>
      <p:sp>
        <p:nvSpPr>
          <p:cNvPr id="33" name="Text 31"/>
          <p:cNvSpPr txBox="1"/>
          <p:nvPr/>
        </p:nvSpPr>
        <p:spPr>
          <a:xfrm>
            <a:off x="7269480" y="4535424"/>
            <a:ext cx="1691640" cy="320040"/>
          </a:xfrm>
          <a:prstGeom prst="rect">
            <a:avLst/>
          </a:prstGeom>
          <a:noFill/>
          <a:ln/>
        </p:spPr>
        <p:txBody>
          <a:bodyPr wrap="square" lIns="0" tIns="0" rIns="0" bIns="0" rtlCol="0" anchor="ctr"/>
          <a:lstStyle/>
          <a:p>
            <a:pPr indent="0" marL="0">
              <a:buNone/>
            </a:pPr>
            <a:r>
              <a:rPr lang="en-US" sz="1200" dirty="0">
                <a:solidFill>
                  <a:srgbClr val="5F6B76"/>
                </a:solidFill>
                <a:latin typeface="Calibri" pitchFamily="34" charset="0"/>
                <a:ea typeface="Calibri" pitchFamily="34" charset="-122"/>
                <a:cs typeface="Calibri" pitchFamily="34" charset="-120"/>
              </a:rPr>
              <a:t>early stopping</a:t>
            </a:r>
            <a:endParaRPr lang="en-US" sz="1200" dirty="0"/>
          </a:p>
        </p:txBody>
      </p:sp>
      <p:sp>
        <p:nvSpPr>
          <p:cNvPr id="34" name="Text 32"/>
          <p:cNvSpPr txBox="1"/>
          <p:nvPr/>
        </p:nvSpPr>
        <p:spPr>
          <a:xfrm>
            <a:off x="8961120" y="4535424"/>
            <a:ext cx="2377440" cy="320040"/>
          </a:xfrm>
          <a:prstGeom prst="rect">
            <a:avLst/>
          </a:prstGeom>
          <a:noFill/>
          <a:ln/>
        </p:spPr>
        <p:txBody>
          <a:bodyPr wrap="square" lIns="0" tIns="0" rIns="0" bIns="0" rtlCol="0" anchor="ctr"/>
          <a:lstStyle/>
          <a:p>
            <a:pPr indent="0" marL="0">
              <a:buNone/>
            </a:pPr>
            <a:r>
              <a:rPr lang="en-US" sz="1200" b="1" dirty="0">
                <a:solidFill>
                  <a:srgbClr val="14202B"/>
                </a:solidFill>
                <a:latin typeface="Calibri" pitchFamily="34" charset="0"/>
                <a:ea typeface="Calibri" pitchFamily="34" charset="-122"/>
                <a:cs typeface="Calibri" pitchFamily="34" charset="-120"/>
              </a:rPr>
              <a:t>patience 8  ·  max 50 epochs</a:t>
            </a:r>
            <a:endParaRPr lang="en-US" sz="1200" dirty="0"/>
          </a:p>
        </p:txBody>
      </p:sp>
      <p:sp>
        <p:nvSpPr>
          <p:cNvPr id="35" name="Shape 33"/>
          <p:cNvSpPr/>
          <p:nvPr/>
        </p:nvSpPr>
        <p:spPr>
          <a:xfrm>
            <a:off x="7269480" y="4919472"/>
            <a:ext cx="4069080" cy="0"/>
          </a:xfrm>
          <a:prstGeom prst="line">
            <a:avLst/>
          </a:prstGeom>
          <a:noFill/>
          <a:ln w="9525">
            <a:solidFill>
              <a:srgbClr val="D6E0E5"/>
            </a:solidFill>
            <a:prstDash val="solid"/>
          </a:ln>
        </p:spPr>
      </p:sp>
      <p:sp>
        <p:nvSpPr>
          <p:cNvPr id="36" name="Text 34"/>
          <p:cNvSpPr txBox="1"/>
          <p:nvPr/>
        </p:nvSpPr>
        <p:spPr>
          <a:xfrm>
            <a:off x="7269480" y="5047488"/>
            <a:ext cx="1691640" cy="320040"/>
          </a:xfrm>
          <a:prstGeom prst="rect">
            <a:avLst/>
          </a:prstGeom>
          <a:noFill/>
          <a:ln/>
        </p:spPr>
        <p:txBody>
          <a:bodyPr wrap="square" lIns="0" tIns="0" rIns="0" bIns="0" rtlCol="0" anchor="ctr"/>
          <a:lstStyle/>
          <a:p>
            <a:pPr indent="0" marL="0">
              <a:buNone/>
            </a:pPr>
            <a:r>
              <a:rPr lang="en-US" sz="1200" dirty="0">
                <a:solidFill>
                  <a:srgbClr val="5F6B76"/>
                </a:solidFill>
                <a:latin typeface="Calibri" pitchFamily="34" charset="0"/>
                <a:ea typeface="Calibri" pitchFamily="34" charset="-122"/>
                <a:cs typeface="Calibri" pitchFamily="34" charset="-120"/>
              </a:rPr>
              <a:t>seed</a:t>
            </a:r>
            <a:endParaRPr lang="en-US" sz="1200" dirty="0"/>
          </a:p>
        </p:txBody>
      </p:sp>
      <p:sp>
        <p:nvSpPr>
          <p:cNvPr id="37" name="Text 35"/>
          <p:cNvSpPr txBox="1"/>
          <p:nvPr/>
        </p:nvSpPr>
        <p:spPr>
          <a:xfrm>
            <a:off x="8961120" y="5047488"/>
            <a:ext cx="2377440" cy="320040"/>
          </a:xfrm>
          <a:prstGeom prst="rect">
            <a:avLst/>
          </a:prstGeom>
          <a:noFill/>
          <a:ln/>
        </p:spPr>
        <p:txBody>
          <a:bodyPr wrap="square" lIns="0" tIns="0" rIns="0" bIns="0" rtlCol="0" anchor="ctr"/>
          <a:lstStyle/>
          <a:p>
            <a:pPr indent="0" marL="0">
              <a:buNone/>
            </a:pPr>
            <a:r>
              <a:rPr lang="en-US" sz="1200" b="1" dirty="0">
                <a:solidFill>
                  <a:srgbClr val="14202B"/>
                </a:solidFill>
                <a:latin typeface="Calibri" pitchFamily="34" charset="0"/>
                <a:ea typeface="Calibri" pitchFamily="34" charset="-122"/>
                <a:cs typeface="Calibri" pitchFamily="34" charset="-120"/>
              </a:rPr>
              <a:t>42  —  multi-seed in progress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THE LAST PIECE OF THE SOLUTION</a:t>
            </a:r>
            <a:endParaRPr lang="en-US" sz="12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The decision rule: threshold tuning</a:t>
            </a:r>
            <a:endParaRPr lang="en-US" sz="3200" dirty="0"/>
          </a:p>
        </p:txBody>
      </p:sp>
      <p:sp>
        <p:nvSpPr>
          <p:cNvPr id="4" name="Text 2"/>
          <p:cNvSpPr txBox="1"/>
          <p:nvPr/>
        </p:nvSpPr>
        <p:spPr>
          <a:xfrm>
            <a:off x="640080" y="1645920"/>
            <a:ext cx="5852160" cy="2359152"/>
          </a:xfrm>
          <a:prstGeom prst="rect">
            <a:avLst/>
          </a:prstGeom>
          <a:noFill/>
          <a:ln/>
        </p:spPr>
        <p:txBody>
          <a:bodyPr wrap="square" lIns="0" tIns="0" rIns="0" bIns="0" rtlCol="0" anchor="ctr"/>
          <a:lstStyle/>
          <a:p>
            <a:pPr marL="342900" indent="-342900">
              <a:lnSpc>
                <a:spcPts val="2000"/>
              </a:lnSpc>
              <a:spcAft>
                <a:spcPts val="1000"/>
              </a:spcAft>
              <a:buSzPct val="100000"/>
              <a:buChar char="●"/>
            </a:pPr>
            <a:r>
              <a:rPr lang="en-US" sz="1400" dirty="0">
                <a:solidFill>
                  <a:srgbClr val="14202B"/>
                </a:solidFill>
                <a:latin typeface="Calibri" pitchFamily="34" charset="0"/>
                <a:ea typeface="Calibri" pitchFamily="34" charset="-122"/>
                <a:cs typeface="Calibri" pitchFamily="34" charset="-120"/>
              </a:rPr>
              <a:t>A model trained on balanced classes over-predicts the rare ones when the evaluation set is imbalanced</a:t>
            </a:r>
            <a:endParaRPr lang="en-US" sz="1400" dirty="0"/>
          </a:p>
          <a:p>
            <a:pPr marL="342900" indent="-342900">
              <a:lnSpc>
                <a:spcPts val="2000"/>
              </a:lnSpc>
              <a:spcAft>
                <a:spcPts val="1000"/>
              </a:spcAft>
              <a:buSzPct val="100000"/>
              <a:buChar char="●"/>
            </a:pPr>
            <a:r>
              <a:rPr lang="en-US" sz="1400" dirty="0">
                <a:solidFill>
                  <a:srgbClr val="14202B"/>
                </a:solidFill>
                <a:latin typeface="Calibri" pitchFamily="34" charset="0"/>
                <a:ea typeface="Calibri" pitchFamily="34" charset="-122"/>
                <a:cs typeface="Calibri" pitchFamily="34" charset="-120"/>
              </a:rPr>
              <a:t>Argmax minimises the error rate, not macro F1 → we change the decision rule, not the model</a:t>
            </a:r>
            <a:endParaRPr lang="en-US" sz="1400" dirty="0"/>
          </a:p>
          <a:p>
            <a:pPr marL="342900" indent="-342900">
              <a:lnSpc>
                <a:spcPts val="2000"/>
              </a:lnSpc>
              <a:spcAft>
                <a:spcPts val="1000"/>
              </a:spcAft>
              <a:buSzPct val="100000"/>
              <a:buChar char="●"/>
            </a:pPr>
            <a:r>
              <a:rPr lang="en-US" sz="1400" dirty="0">
                <a:solidFill>
                  <a:srgbClr val="14202B"/>
                </a:solidFill>
                <a:latin typeface="Calibri" pitchFamily="34" charset="0"/>
                <a:ea typeface="Calibri" pitchFamily="34" charset="-122"/>
                <a:cs typeface="Calibri" pitchFamily="34" charset="-120"/>
              </a:rPr>
              <a:t>Predict down/up only when the probability clears a threshold, otherwise flat</a:t>
            </a:r>
            <a:endParaRPr lang="en-US" sz="1400" dirty="0"/>
          </a:p>
          <a:p>
            <a:pPr marL="342900" indent="-342900">
              <a:lnSpc>
                <a:spcPts val="2000"/>
              </a:lnSpc>
              <a:spcAft>
                <a:spcPts val="1000"/>
              </a:spcAft>
              <a:buSzPct val="100000"/>
              <a:buChar char="●"/>
            </a:pPr>
            <a:r>
              <a:rPr lang="en-US" sz="1400" dirty="0">
                <a:solidFill>
                  <a:srgbClr val="14202B"/>
                </a:solidFill>
                <a:latin typeface="Calibri" pitchFamily="34" charset="0"/>
                <a:ea typeface="Calibri" pitchFamily="34" charset="-122"/>
                <a:cs typeface="Calibri" pitchFamily="34" charset="-120"/>
              </a:rPr>
              <a:t>Thresholds grid-searched on validation and applied unchanged to test → no leakage</a:t>
            </a:r>
            <a:endParaRPr lang="en-US" sz="1400" dirty="0"/>
          </a:p>
        </p:txBody>
      </p:sp>
      <p:sp>
        <p:nvSpPr>
          <p:cNvPr id="5" name="Shape 3"/>
          <p:cNvSpPr/>
          <p:nvPr/>
        </p:nvSpPr>
        <p:spPr>
          <a:xfrm>
            <a:off x="640080" y="4892040"/>
            <a:ext cx="5852160" cy="1005840"/>
          </a:xfrm>
          <a:prstGeom prst="roundRect">
            <a:avLst>
              <a:gd name="adj" fmla="val 5455"/>
            </a:avLst>
          </a:prstGeom>
          <a:solidFill>
            <a:srgbClr val="EEF3F5"/>
          </a:solidFill>
          <a:ln w="12700">
            <a:solidFill>
              <a:srgbClr val="EEF3F5"/>
            </a:solidFill>
            <a:prstDash val="solid"/>
          </a:ln>
        </p:spPr>
      </p:sp>
      <p:sp>
        <p:nvSpPr>
          <p:cNvPr id="6" name="Text 4"/>
          <p:cNvSpPr txBox="1"/>
          <p:nvPr/>
        </p:nvSpPr>
        <p:spPr>
          <a:xfrm>
            <a:off x="914400" y="5120640"/>
            <a:ext cx="5394960" cy="548640"/>
          </a:xfrm>
          <a:prstGeom prst="rect">
            <a:avLst/>
          </a:prstGeom>
          <a:noFill/>
          <a:ln/>
        </p:spPr>
        <p:txBody>
          <a:bodyPr wrap="square" lIns="0" tIns="0" rIns="0" bIns="0" rtlCol="0" anchor="ctr"/>
          <a:lstStyle/>
          <a:p>
            <a:pPr indent="0" marL="0">
              <a:buNone/>
            </a:pPr>
            <a:r>
              <a:rPr lang="en-US" sz="1300" i="1" dirty="0">
                <a:solidFill>
                  <a:srgbClr val="5F6B76"/>
                </a:solidFill>
                <a:latin typeface="Calibri" pitchFamily="34" charset="0"/>
                <a:ea typeface="Calibri" pitchFamily="34" charset="-122"/>
                <a:cs typeface="Calibri" pitchFamily="34" charset="-120"/>
              </a:rPr>
              <a:t>We always report both rules: argmax and tuned thresholds.</a:t>
            </a:r>
            <a:endParaRPr lang="en-US" sz="1300" dirty="0"/>
          </a:p>
        </p:txBody>
      </p:sp>
      <p:sp>
        <p:nvSpPr>
          <p:cNvPr id="7" name="Shape 5"/>
          <p:cNvSpPr/>
          <p:nvPr/>
        </p:nvSpPr>
        <p:spPr>
          <a:xfrm>
            <a:off x="6949440" y="1737360"/>
            <a:ext cx="4617720" cy="3200400"/>
          </a:xfrm>
          <a:prstGeom prst="roundRect">
            <a:avLst>
              <a:gd name="adj" fmla="val 1714"/>
            </a:avLst>
          </a:prstGeom>
          <a:solidFill>
            <a:srgbClr val="FFFFFF"/>
          </a:solidFill>
          <a:ln w="15875">
            <a:solidFill>
              <a:srgbClr val="D6E0E5"/>
            </a:solidFill>
            <a:prstDash val="solid"/>
          </a:ln>
          <a:effectLst>
            <a:outerShdw sx="100000" sy="100000" kx="0" ky="0" algn="bl" rotWithShape="0" blurRad="101600" dist="25400" dir="5400000">
              <a:srgbClr val="9AA8B2">
                <a:alpha val="25000"/>
              </a:srgbClr>
            </a:outerShdw>
          </a:effectLst>
        </p:spPr>
      </p:sp>
      <p:sp>
        <p:nvSpPr>
          <p:cNvPr id="8" name="Text 6"/>
          <p:cNvSpPr txBox="1"/>
          <p:nvPr/>
        </p:nvSpPr>
        <p:spPr>
          <a:xfrm>
            <a:off x="7223760" y="1965960"/>
            <a:ext cx="4069080" cy="320040"/>
          </a:xfrm>
          <a:prstGeom prst="rect">
            <a:avLst/>
          </a:prstGeom>
          <a:noFill/>
          <a:ln/>
        </p:spPr>
        <p:txBody>
          <a:bodyPr wrap="square" lIns="0" tIns="0" rIns="0" bIns="0" rtlCol="0" anchor="ctr"/>
          <a:lstStyle/>
          <a:p>
            <a:pPr indent="0" marL="0">
              <a:buNone/>
            </a:pPr>
            <a:r>
              <a:rPr lang="en-US" sz="1250" b="1" dirty="0">
                <a:solidFill>
                  <a:srgbClr val="14202B"/>
                </a:solidFill>
                <a:latin typeface="Calibri" pitchFamily="34" charset="0"/>
                <a:ea typeface="Calibri" pitchFamily="34" charset="-122"/>
                <a:cs typeface="Calibri" pitchFamily="34" charset="-120"/>
              </a:rPr>
              <a:t>Macro F1 on test — same model, same weights</a:t>
            </a:r>
            <a:endParaRPr lang="en-US" sz="1250" dirty="0"/>
          </a:p>
        </p:txBody>
      </p:sp>
      <p:sp>
        <p:nvSpPr>
          <p:cNvPr id="9" name="Text 7"/>
          <p:cNvSpPr txBox="1"/>
          <p:nvPr/>
        </p:nvSpPr>
        <p:spPr>
          <a:xfrm>
            <a:off x="7223760" y="2514600"/>
            <a:ext cx="1737360" cy="1188720"/>
          </a:xfrm>
          <a:prstGeom prst="rect">
            <a:avLst/>
          </a:prstGeom>
          <a:noFill/>
          <a:ln/>
        </p:spPr>
        <p:txBody>
          <a:bodyPr wrap="square" lIns="0" tIns="0" rIns="0" bIns="0" rtlCol="0" anchor="ctr"/>
          <a:lstStyle/>
          <a:p>
            <a:pPr algn="ctr" indent="0" marL="0">
              <a:buNone/>
            </a:pPr>
            <a:r>
              <a:rPr lang="en-US" sz="4000" b="1" dirty="0">
                <a:solidFill>
                  <a:srgbClr val="5F6B76"/>
                </a:solidFill>
                <a:latin typeface="Cambria" pitchFamily="34" charset="0"/>
                <a:ea typeface="Cambria" pitchFamily="34" charset="-122"/>
                <a:cs typeface="Cambria" pitchFamily="34" charset="-120"/>
              </a:rPr>
              <a:t>0.538</a:t>
            </a:r>
            <a:endParaRPr lang="en-US" sz="4000" dirty="0"/>
          </a:p>
          <a:p>
            <a:pPr algn="ctr" indent="0" marL="0">
              <a:buNone/>
            </a:pPr>
            <a:r>
              <a:rPr lang="en-US" sz="1200" dirty="0">
                <a:solidFill>
                  <a:srgbClr val="5F6B76"/>
                </a:solidFill>
                <a:latin typeface="Calibri" pitchFamily="34" charset="0"/>
                <a:ea typeface="Calibri" pitchFamily="34" charset="-122"/>
                <a:cs typeface="Calibri" pitchFamily="34" charset="-120"/>
              </a:rPr>
              <a:t>argmax</a:t>
            </a:r>
            <a:endParaRPr lang="en-US" sz="4000" dirty="0"/>
          </a:p>
        </p:txBody>
      </p:sp>
      <p:sp>
        <p:nvSpPr>
          <p:cNvPr id="10" name="Shape 8"/>
          <p:cNvSpPr/>
          <p:nvPr/>
        </p:nvSpPr>
        <p:spPr>
          <a:xfrm>
            <a:off x="9006840" y="2971800"/>
            <a:ext cx="502920" cy="0"/>
          </a:xfrm>
          <a:prstGeom prst="line">
            <a:avLst/>
          </a:prstGeom>
          <a:noFill/>
          <a:ln w="31750">
            <a:solidFill>
              <a:srgbClr val="028090"/>
            </a:solidFill>
            <a:prstDash val="solid"/>
            <a:tailEnd type="triangle"/>
          </a:ln>
        </p:spPr>
      </p:sp>
      <p:sp>
        <p:nvSpPr>
          <p:cNvPr id="11" name="Text 9"/>
          <p:cNvSpPr txBox="1"/>
          <p:nvPr/>
        </p:nvSpPr>
        <p:spPr>
          <a:xfrm>
            <a:off x="9601200" y="2514600"/>
            <a:ext cx="1737360" cy="1188720"/>
          </a:xfrm>
          <a:prstGeom prst="rect">
            <a:avLst/>
          </a:prstGeom>
          <a:noFill/>
          <a:ln/>
        </p:spPr>
        <p:txBody>
          <a:bodyPr wrap="square" lIns="0" tIns="0" rIns="0" bIns="0" rtlCol="0" anchor="ctr"/>
          <a:lstStyle/>
          <a:p>
            <a:pPr algn="ctr" indent="0" marL="0">
              <a:buNone/>
            </a:pPr>
            <a:r>
              <a:rPr lang="en-US" sz="4000" b="1" dirty="0">
                <a:solidFill>
                  <a:srgbClr val="028090"/>
                </a:solidFill>
                <a:latin typeface="Cambria" pitchFamily="34" charset="0"/>
                <a:ea typeface="Cambria" pitchFamily="34" charset="-122"/>
                <a:cs typeface="Cambria" pitchFamily="34" charset="-120"/>
              </a:rPr>
              <a:t>0.625</a:t>
            </a:r>
            <a:endParaRPr lang="en-US" sz="4000" dirty="0"/>
          </a:p>
          <a:p>
            <a:pPr algn="ctr" indent="0" marL="0">
              <a:buNone/>
            </a:pPr>
            <a:r>
              <a:rPr lang="en-US" sz="1200" dirty="0">
                <a:solidFill>
                  <a:srgbClr val="5F6B76"/>
                </a:solidFill>
                <a:latin typeface="Calibri" pitchFamily="34" charset="0"/>
                <a:ea typeface="Calibri" pitchFamily="34" charset="-122"/>
                <a:cs typeface="Calibri" pitchFamily="34" charset="-120"/>
              </a:rPr>
              <a:t>tuned thresholds</a:t>
            </a:r>
            <a:endParaRPr lang="en-US" sz="4000" dirty="0"/>
          </a:p>
        </p:txBody>
      </p:sp>
      <p:sp>
        <p:nvSpPr>
          <p:cNvPr id="12" name="Text 10"/>
          <p:cNvSpPr txBox="1"/>
          <p:nvPr/>
        </p:nvSpPr>
        <p:spPr>
          <a:xfrm>
            <a:off x="7223760" y="3886200"/>
            <a:ext cx="4069080" cy="868680"/>
          </a:xfrm>
          <a:prstGeom prst="rect">
            <a:avLst/>
          </a:prstGeom>
          <a:noFill/>
          <a:ln/>
        </p:spPr>
        <p:txBody>
          <a:bodyPr wrap="square" lIns="0" tIns="0" rIns="0" bIns="0" rtlCol="0" anchor="ctr"/>
          <a:lstStyle/>
          <a:p>
            <a:pPr indent="0" marL="0">
              <a:lnSpc>
                <a:spcPts val="1600"/>
              </a:lnSpc>
              <a:buNone/>
            </a:pPr>
            <a:r>
              <a:rPr lang="en-US" sz="1200" dirty="0">
                <a:solidFill>
                  <a:srgbClr val="5F6B76"/>
                </a:solidFill>
                <a:latin typeface="Calibri" pitchFamily="34" charset="0"/>
                <a:ea typeface="Calibri" pitchFamily="34" charset="-122"/>
                <a:cs typeface="Calibri" pitchFamily="34" charset="-120"/>
              </a:rPr>
              <a:t>thresholds  down ≥ 0.75  ·  up ≥ 0.71</a:t>
            </a:r>
            <a:endParaRPr lang="en-US" sz="1200" dirty="0"/>
          </a:p>
          <a:p>
            <a:pPr indent="0" marL="0">
              <a:lnSpc>
                <a:spcPts val="1600"/>
              </a:lnSpc>
              <a:buNone/>
            </a:pPr>
            <a:r>
              <a:rPr lang="en-US" sz="1200" dirty="0">
                <a:solidFill>
                  <a:srgbClr val="5F6B76"/>
                </a:solidFill>
                <a:latin typeface="Calibri" pitchFamily="34" charset="0"/>
                <a:ea typeface="Calibri" pitchFamily="34" charset="-122"/>
                <a:cs typeface="Calibri" pitchFamily="34" charset="-120"/>
              </a:rPr>
              <a:t>validation F1 0.633 → test F1 0.625: the val→test drop is ~0.01, so it is not an artefact</a:t>
            </a:r>
            <a:endParaRPr lang="en-US" sz="1200" dirty="0"/>
          </a:p>
        </p:txBody>
      </p:sp>
      <p:sp>
        <p:nvSpPr>
          <p:cNvPr id="13" name="Text 11"/>
          <p:cNvSpPr txBox="1"/>
          <p:nvPr/>
        </p:nvSpPr>
        <p:spPr>
          <a:xfrm>
            <a:off x="6949440" y="5074920"/>
            <a:ext cx="4617720" cy="640080"/>
          </a:xfrm>
          <a:prstGeom prst="rect">
            <a:avLst/>
          </a:prstGeom>
          <a:noFill/>
          <a:ln/>
        </p:spPr>
        <p:txBody>
          <a:bodyPr wrap="square" lIns="0" tIns="0" rIns="0" bIns="0" rtlCol="0" anchor="ctr"/>
          <a:lstStyle/>
          <a:p>
            <a:pPr indent="0" marL="0">
              <a:lnSpc>
                <a:spcPts val="1800"/>
              </a:lnSpc>
              <a:buNone/>
            </a:pPr>
            <a:r>
              <a:rPr lang="en-US" sz="1300" b="1" dirty="0">
                <a:solidFill>
                  <a:srgbClr val="14202B"/>
                </a:solidFill>
                <a:latin typeface="Calibri" pitchFamily="34" charset="0"/>
                <a:ea typeface="Calibri" pitchFamily="34" charset="-122"/>
                <a:cs typeface="Calibri" pitchFamily="34" charset="-120"/>
              </a:rPr>
              <a:t>What we deliver is model + decision rule, not just the weights.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028090"/>
                </a:solidFill>
                <a:latin typeface="Calibri" pitchFamily="34" charset="0"/>
                <a:ea typeface="Calibri" pitchFamily="34" charset="-122"/>
                <a:cs typeface="Calibri" pitchFamily="34" charset="-120"/>
              </a:rPr>
              <a:t>ERROR ANALYSIS</a:t>
            </a:r>
            <a:endParaRPr lang="en-US" sz="12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200" b="1" dirty="0">
                <a:solidFill>
                  <a:srgbClr val="14202B"/>
                </a:solidFill>
                <a:latin typeface="Cambria" pitchFamily="34" charset="0"/>
                <a:ea typeface="Cambria" pitchFamily="34" charset="-122"/>
                <a:cs typeface="Cambria" pitchFamily="34" charset="-120"/>
              </a:rPr>
              <a:t>Where the model actually fails</a:t>
            </a:r>
            <a:endParaRPr lang="en-US" sz="3200" dirty="0"/>
          </a:p>
        </p:txBody>
      </p:sp>
      <p:sp>
        <p:nvSpPr>
          <p:cNvPr id="4" name="Text 2"/>
          <p:cNvSpPr txBox="1"/>
          <p:nvPr/>
        </p:nvSpPr>
        <p:spPr>
          <a:xfrm>
            <a:off x="1874520" y="1783080"/>
            <a:ext cx="4251960" cy="274320"/>
          </a:xfrm>
          <a:prstGeom prst="rect">
            <a:avLst/>
          </a:prstGeom>
          <a:noFill/>
          <a:ln/>
        </p:spPr>
        <p:txBody>
          <a:bodyPr wrap="square" lIns="0" tIns="0" rIns="0" bIns="0" rtlCol="0" anchor="ctr"/>
          <a:lstStyle/>
          <a:p>
            <a:pPr algn="ctr" indent="0" marL="0">
              <a:buNone/>
            </a:pPr>
            <a:r>
              <a:rPr lang="en-US" sz="1200" b="1" dirty="0">
                <a:solidFill>
                  <a:srgbClr val="5F6B76"/>
                </a:solidFill>
                <a:latin typeface="Calibri" pitchFamily="34" charset="0"/>
                <a:ea typeface="Calibri" pitchFamily="34" charset="-122"/>
                <a:cs typeface="Calibri" pitchFamily="34" charset="-120"/>
              </a:rPr>
              <a:t>predicted →</a:t>
            </a:r>
            <a:endParaRPr lang="en-US" sz="1200" dirty="0"/>
          </a:p>
        </p:txBody>
      </p:sp>
      <p:sp>
        <p:nvSpPr>
          <p:cNvPr id="5" name="Text 3"/>
          <p:cNvSpPr txBox="1"/>
          <p:nvPr/>
        </p:nvSpPr>
        <p:spPr>
          <a:xfrm>
            <a:off x="685800" y="1783080"/>
            <a:ext cx="1097280" cy="274320"/>
          </a:xfrm>
          <a:prstGeom prst="rect">
            <a:avLst/>
          </a:prstGeom>
          <a:noFill/>
          <a:ln/>
        </p:spPr>
        <p:txBody>
          <a:bodyPr wrap="square" lIns="0" tIns="0" rIns="0" bIns="0" rtlCol="0" anchor="ctr"/>
          <a:lstStyle/>
          <a:p>
            <a:pPr algn="ctr" indent="0" marL="0">
              <a:buNone/>
            </a:pPr>
            <a:r>
              <a:rPr lang="en-US" sz="1200" b="1" dirty="0">
                <a:solidFill>
                  <a:srgbClr val="5F6B76"/>
                </a:solidFill>
                <a:latin typeface="Calibri" pitchFamily="34" charset="0"/>
                <a:ea typeface="Calibri" pitchFamily="34" charset="-122"/>
                <a:cs typeface="Calibri" pitchFamily="34" charset="-120"/>
              </a:rPr>
              <a:t>true ↓</a:t>
            </a:r>
            <a:endParaRPr lang="en-US" sz="1200" dirty="0"/>
          </a:p>
        </p:txBody>
      </p:sp>
      <p:sp>
        <p:nvSpPr>
          <p:cNvPr id="6" name="Text 4"/>
          <p:cNvSpPr txBox="1"/>
          <p:nvPr/>
        </p:nvSpPr>
        <p:spPr>
          <a:xfrm>
            <a:off x="1874520" y="2157984"/>
            <a:ext cx="1417320" cy="292608"/>
          </a:xfrm>
          <a:prstGeom prst="rect">
            <a:avLst/>
          </a:prstGeom>
          <a:noFill/>
          <a:ln/>
        </p:spPr>
        <p:txBody>
          <a:bodyPr wrap="square" lIns="0" tIns="0" rIns="0" bIns="0" rtlCol="0" anchor="ctr"/>
          <a:lstStyle/>
          <a:p>
            <a:pPr algn="ctr" indent="0" marL="0">
              <a:buNone/>
            </a:pPr>
            <a:r>
              <a:rPr lang="en-US" sz="1300" b="1" dirty="0">
                <a:solidFill>
                  <a:srgbClr val="14202B"/>
                </a:solidFill>
                <a:latin typeface="Calibri" pitchFamily="34" charset="0"/>
                <a:ea typeface="Calibri" pitchFamily="34" charset="-122"/>
                <a:cs typeface="Calibri" pitchFamily="34" charset="-120"/>
              </a:rPr>
              <a:t>down</a:t>
            </a:r>
            <a:endParaRPr lang="en-US" sz="1300" dirty="0"/>
          </a:p>
        </p:txBody>
      </p:sp>
      <p:sp>
        <p:nvSpPr>
          <p:cNvPr id="7" name="Text 5"/>
          <p:cNvSpPr txBox="1"/>
          <p:nvPr/>
        </p:nvSpPr>
        <p:spPr>
          <a:xfrm>
            <a:off x="3291840" y="2157984"/>
            <a:ext cx="1417320" cy="292608"/>
          </a:xfrm>
          <a:prstGeom prst="rect">
            <a:avLst/>
          </a:prstGeom>
          <a:noFill/>
          <a:ln/>
        </p:spPr>
        <p:txBody>
          <a:bodyPr wrap="square" lIns="0" tIns="0" rIns="0" bIns="0" rtlCol="0" anchor="ctr"/>
          <a:lstStyle/>
          <a:p>
            <a:pPr algn="ctr" indent="0" marL="0">
              <a:buNone/>
            </a:pPr>
            <a:r>
              <a:rPr lang="en-US" sz="1300" b="1" dirty="0">
                <a:solidFill>
                  <a:srgbClr val="14202B"/>
                </a:solidFill>
                <a:latin typeface="Calibri" pitchFamily="34" charset="0"/>
                <a:ea typeface="Calibri" pitchFamily="34" charset="-122"/>
                <a:cs typeface="Calibri" pitchFamily="34" charset="-120"/>
              </a:rPr>
              <a:t>flat</a:t>
            </a:r>
            <a:endParaRPr lang="en-US" sz="1300" dirty="0"/>
          </a:p>
        </p:txBody>
      </p:sp>
      <p:sp>
        <p:nvSpPr>
          <p:cNvPr id="8" name="Text 6"/>
          <p:cNvSpPr txBox="1"/>
          <p:nvPr/>
        </p:nvSpPr>
        <p:spPr>
          <a:xfrm>
            <a:off x="4709160" y="2157984"/>
            <a:ext cx="1417320" cy="292608"/>
          </a:xfrm>
          <a:prstGeom prst="rect">
            <a:avLst/>
          </a:prstGeom>
          <a:noFill/>
          <a:ln/>
        </p:spPr>
        <p:txBody>
          <a:bodyPr wrap="square" lIns="0" tIns="0" rIns="0" bIns="0" rtlCol="0" anchor="ctr"/>
          <a:lstStyle/>
          <a:p>
            <a:pPr algn="ctr" indent="0" marL="0">
              <a:buNone/>
            </a:pPr>
            <a:r>
              <a:rPr lang="en-US" sz="1300" b="1" dirty="0">
                <a:solidFill>
                  <a:srgbClr val="14202B"/>
                </a:solidFill>
                <a:latin typeface="Calibri" pitchFamily="34" charset="0"/>
                <a:ea typeface="Calibri" pitchFamily="34" charset="-122"/>
                <a:cs typeface="Calibri" pitchFamily="34" charset="-120"/>
              </a:rPr>
              <a:t>up</a:t>
            </a:r>
            <a:endParaRPr lang="en-US" sz="1300" dirty="0"/>
          </a:p>
        </p:txBody>
      </p:sp>
      <p:sp>
        <p:nvSpPr>
          <p:cNvPr id="9" name="Text 7"/>
          <p:cNvSpPr txBox="1"/>
          <p:nvPr/>
        </p:nvSpPr>
        <p:spPr>
          <a:xfrm>
            <a:off x="685800" y="2514600"/>
            <a:ext cx="1097280" cy="777240"/>
          </a:xfrm>
          <a:prstGeom prst="rect">
            <a:avLst/>
          </a:prstGeom>
          <a:noFill/>
          <a:ln/>
        </p:spPr>
        <p:txBody>
          <a:bodyPr wrap="square" lIns="0" tIns="0" rIns="0" bIns="0" rtlCol="0" anchor="ctr"/>
          <a:lstStyle/>
          <a:p>
            <a:pPr algn="r" indent="0" marL="0">
              <a:buNone/>
            </a:pPr>
            <a:r>
              <a:rPr lang="en-US" sz="1300" b="1" dirty="0">
                <a:solidFill>
                  <a:srgbClr val="14202B"/>
                </a:solidFill>
                <a:latin typeface="Calibri" pitchFamily="34" charset="0"/>
                <a:ea typeface="Calibri" pitchFamily="34" charset="-122"/>
                <a:cs typeface="Calibri" pitchFamily="34" charset="-120"/>
              </a:rPr>
              <a:t>down</a:t>
            </a:r>
            <a:endParaRPr lang="en-US" sz="1300" dirty="0"/>
          </a:p>
        </p:txBody>
      </p:sp>
      <p:sp>
        <p:nvSpPr>
          <p:cNvPr id="10" name="Shape 8"/>
          <p:cNvSpPr/>
          <p:nvPr/>
        </p:nvSpPr>
        <p:spPr>
          <a:xfrm>
            <a:off x="1874520" y="2514600"/>
            <a:ext cx="1417320" cy="777240"/>
          </a:xfrm>
          <a:prstGeom prst="rect">
            <a:avLst/>
          </a:prstGeom>
          <a:solidFill>
            <a:srgbClr val="028090"/>
          </a:solidFill>
          <a:ln w="19050">
            <a:solidFill>
              <a:srgbClr val="FFFFFF"/>
            </a:solidFill>
            <a:prstDash val="solid"/>
          </a:ln>
        </p:spPr>
      </p:sp>
      <p:sp>
        <p:nvSpPr>
          <p:cNvPr id="11" name="Text 9"/>
          <p:cNvSpPr txBox="1"/>
          <p:nvPr/>
        </p:nvSpPr>
        <p:spPr>
          <a:xfrm>
            <a:off x="1874520" y="2514600"/>
            <a:ext cx="141732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1,482</a:t>
            </a:r>
            <a:endParaRPr lang="en-US" sz="1700" dirty="0"/>
          </a:p>
        </p:txBody>
      </p:sp>
      <p:sp>
        <p:nvSpPr>
          <p:cNvPr id="12" name="Shape 10"/>
          <p:cNvSpPr/>
          <p:nvPr/>
        </p:nvSpPr>
        <p:spPr>
          <a:xfrm>
            <a:off x="3291840" y="2514600"/>
            <a:ext cx="1417320" cy="777240"/>
          </a:xfrm>
          <a:prstGeom prst="rect">
            <a:avLst/>
          </a:prstGeom>
          <a:solidFill>
            <a:srgbClr val="E8EDF0"/>
          </a:solidFill>
          <a:ln w="19050">
            <a:solidFill>
              <a:srgbClr val="FFFFFF"/>
            </a:solidFill>
            <a:prstDash val="solid"/>
          </a:ln>
        </p:spPr>
      </p:sp>
      <p:sp>
        <p:nvSpPr>
          <p:cNvPr id="13" name="Text 11"/>
          <p:cNvSpPr txBox="1"/>
          <p:nvPr/>
        </p:nvSpPr>
        <p:spPr>
          <a:xfrm>
            <a:off x="3291840" y="2514600"/>
            <a:ext cx="1417320" cy="777240"/>
          </a:xfrm>
          <a:prstGeom prst="rect">
            <a:avLst/>
          </a:prstGeom>
          <a:noFill/>
          <a:ln/>
        </p:spPr>
        <p:txBody>
          <a:bodyPr wrap="square" lIns="0" tIns="0" rIns="0" bIns="0" rtlCol="0" anchor="ctr"/>
          <a:lstStyle/>
          <a:p>
            <a:pPr algn="ctr" indent="0" marL="0">
              <a:buNone/>
            </a:pPr>
            <a:r>
              <a:rPr lang="en-US" sz="1500" b="1" dirty="0">
                <a:solidFill>
                  <a:srgbClr val="5F6B76"/>
                </a:solidFill>
                <a:latin typeface="Cambria" pitchFamily="34" charset="0"/>
                <a:ea typeface="Cambria" pitchFamily="34" charset="-122"/>
                <a:cs typeface="Cambria" pitchFamily="34" charset="-120"/>
              </a:rPr>
              <a:t>1,729</a:t>
            </a:r>
            <a:endParaRPr lang="en-US" sz="1500" dirty="0"/>
          </a:p>
        </p:txBody>
      </p:sp>
      <p:sp>
        <p:nvSpPr>
          <p:cNvPr id="14" name="Shape 12"/>
          <p:cNvSpPr/>
          <p:nvPr/>
        </p:nvSpPr>
        <p:spPr>
          <a:xfrm>
            <a:off x="4709160" y="2514600"/>
            <a:ext cx="1417320" cy="777240"/>
          </a:xfrm>
          <a:prstGeom prst="rect">
            <a:avLst/>
          </a:prstGeom>
          <a:solidFill>
            <a:srgbClr val="E4F7F1"/>
          </a:solidFill>
          <a:ln w="25400">
            <a:solidFill>
              <a:srgbClr val="02C39A"/>
            </a:solidFill>
            <a:prstDash val="solid"/>
          </a:ln>
        </p:spPr>
      </p:sp>
      <p:sp>
        <p:nvSpPr>
          <p:cNvPr id="15" name="Text 13"/>
          <p:cNvSpPr txBox="1"/>
          <p:nvPr/>
        </p:nvSpPr>
        <p:spPr>
          <a:xfrm>
            <a:off x="4709160" y="2514600"/>
            <a:ext cx="1417320" cy="777240"/>
          </a:xfrm>
          <a:prstGeom prst="rect">
            <a:avLst/>
          </a:prstGeom>
          <a:noFill/>
          <a:ln/>
        </p:spPr>
        <p:txBody>
          <a:bodyPr wrap="square" lIns="0" tIns="0" rIns="0" bIns="0" rtlCol="0" anchor="ctr"/>
          <a:lstStyle/>
          <a:p>
            <a:pPr algn="ctr" indent="0" marL="0">
              <a:buNone/>
            </a:pPr>
            <a:r>
              <a:rPr lang="en-US" sz="1500" b="1" dirty="0">
                <a:solidFill>
                  <a:srgbClr val="01916F"/>
                </a:solidFill>
                <a:latin typeface="Cambria" pitchFamily="34" charset="0"/>
                <a:ea typeface="Cambria" pitchFamily="34" charset="-122"/>
                <a:cs typeface="Cambria" pitchFamily="34" charset="-120"/>
              </a:rPr>
              <a:t>8</a:t>
            </a:r>
            <a:endParaRPr lang="en-US" sz="1500" dirty="0"/>
          </a:p>
        </p:txBody>
      </p:sp>
      <p:sp>
        <p:nvSpPr>
          <p:cNvPr id="16" name="Text 14"/>
          <p:cNvSpPr txBox="1"/>
          <p:nvPr/>
        </p:nvSpPr>
        <p:spPr>
          <a:xfrm>
            <a:off x="685800" y="3291840"/>
            <a:ext cx="1097280" cy="777240"/>
          </a:xfrm>
          <a:prstGeom prst="rect">
            <a:avLst/>
          </a:prstGeom>
          <a:noFill/>
          <a:ln/>
        </p:spPr>
        <p:txBody>
          <a:bodyPr wrap="square" lIns="0" tIns="0" rIns="0" bIns="0" rtlCol="0" anchor="ctr"/>
          <a:lstStyle/>
          <a:p>
            <a:pPr algn="r" indent="0" marL="0">
              <a:buNone/>
            </a:pPr>
            <a:r>
              <a:rPr lang="en-US" sz="1300" b="1" dirty="0">
                <a:solidFill>
                  <a:srgbClr val="14202B"/>
                </a:solidFill>
                <a:latin typeface="Calibri" pitchFamily="34" charset="0"/>
                <a:ea typeface="Calibri" pitchFamily="34" charset="-122"/>
                <a:cs typeface="Calibri" pitchFamily="34" charset="-120"/>
              </a:rPr>
              <a:t>flat</a:t>
            </a:r>
            <a:endParaRPr lang="en-US" sz="1300" dirty="0"/>
          </a:p>
        </p:txBody>
      </p:sp>
      <p:sp>
        <p:nvSpPr>
          <p:cNvPr id="17" name="Shape 15"/>
          <p:cNvSpPr/>
          <p:nvPr/>
        </p:nvSpPr>
        <p:spPr>
          <a:xfrm>
            <a:off x="1874520" y="3291840"/>
            <a:ext cx="1417320" cy="777240"/>
          </a:xfrm>
          <a:prstGeom prst="rect">
            <a:avLst/>
          </a:prstGeom>
          <a:solidFill>
            <a:srgbClr val="E8EDF0"/>
          </a:solidFill>
          <a:ln w="19050">
            <a:solidFill>
              <a:srgbClr val="FFFFFF"/>
            </a:solidFill>
            <a:prstDash val="solid"/>
          </a:ln>
        </p:spPr>
      </p:sp>
      <p:sp>
        <p:nvSpPr>
          <p:cNvPr id="18" name="Text 16"/>
          <p:cNvSpPr txBox="1"/>
          <p:nvPr/>
        </p:nvSpPr>
        <p:spPr>
          <a:xfrm>
            <a:off x="1874520" y="3291840"/>
            <a:ext cx="1417320" cy="777240"/>
          </a:xfrm>
          <a:prstGeom prst="rect">
            <a:avLst/>
          </a:prstGeom>
          <a:noFill/>
          <a:ln/>
        </p:spPr>
        <p:txBody>
          <a:bodyPr wrap="square" lIns="0" tIns="0" rIns="0" bIns="0" rtlCol="0" anchor="ctr"/>
          <a:lstStyle/>
          <a:p>
            <a:pPr algn="ctr" indent="0" marL="0">
              <a:buNone/>
            </a:pPr>
            <a:r>
              <a:rPr lang="en-US" sz="1500" b="1" dirty="0">
                <a:solidFill>
                  <a:srgbClr val="5F6B76"/>
                </a:solidFill>
                <a:latin typeface="Cambria" pitchFamily="34" charset="0"/>
                <a:ea typeface="Cambria" pitchFamily="34" charset="-122"/>
                <a:cs typeface="Cambria" pitchFamily="34" charset="-120"/>
              </a:rPr>
              <a:t>1,445</a:t>
            </a:r>
            <a:endParaRPr lang="en-US" sz="1500" dirty="0"/>
          </a:p>
        </p:txBody>
      </p:sp>
      <p:sp>
        <p:nvSpPr>
          <p:cNvPr id="19" name="Shape 17"/>
          <p:cNvSpPr/>
          <p:nvPr/>
        </p:nvSpPr>
        <p:spPr>
          <a:xfrm>
            <a:off x="3291840" y="3291840"/>
            <a:ext cx="1417320" cy="777240"/>
          </a:xfrm>
          <a:prstGeom prst="rect">
            <a:avLst/>
          </a:prstGeom>
          <a:solidFill>
            <a:srgbClr val="028090"/>
          </a:solidFill>
          <a:ln w="19050">
            <a:solidFill>
              <a:srgbClr val="FFFFFF"/>
            </a:solidFill>
            <a:prstDash val="solid"/>
          </a:ln>
        </p:spPr>
      </p:sp>
      <p:sp>
        <p:nvSpPr>
          <p:cNvPr id="20" name="Text 18"/>
          <p:cNvSpPr txBox="1"/>
          <p:nvPr/>
        </p:nvSpPr>
        <p:spPr>
          <a:xfrm>
            <a:off x="3291840" y="3291840"/>
            <a:ext cx="141732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40,561</a:t>
            </a:r>
            <a:endParaRPr lang="en-US" sz="1700" dirty="0"/>
          </a:p>
        </p:txBody>
      </p:sp>
      <p:sp>
        <p:nvSpPr>
          <p:cNvPr id="21" name="Shape 19"/>
          <p:cNvSpPr/>
          <p:nvPr/>
        </p:nvSpPr>
        <p:spPr>
          <a:xfrm>
            <a:off x="4709160" y="3291840"/>
            <a:ext cx="1417320" cy="777240"/>
          </a:xfrm>
          <a:prstGeom prst="rect">
            <a:avLst/>
          </a:prstGeom>
          <a:solidFill>
            <a:srgbClr val="E8EDF0"/>
          </a:solidFill>
          <a:ln w="19050">
            <a:solidFill>
              <a:srgbClr val="FFFFFF"/>
            </a:solidFill>
            <a:prstDash val="solid"/>
          </a:ln>
        </p:spPr>
      </p:sp>
      <p:sp>
        <p:nvSpPr>
          <p:cNvPr id="22" name="Text 20"/>
          <p:cNvSpPr txBox="1"/>
          <p:nvPr/>
        </p:nvSpPr>
        <p:spPr>
          <a:xfrm>
            <a:off x="4709160" y="3291840"/>
            <a:ext cx="1417320" cy="777240"/>
          </a:xfrm>
          <a:prstGeom prst="rect">
            <a:avLst/>
          </a:prstGeom>
          <a:noFill/>
          <a:ln/>
        </p:spPr>
        <p:txBody>
          <a:bodyPr wrap="square" lIns="0" tIns="0" rIns="0" bIns="0" rtlCol="0" anchor="ctr"/>
          <a:lstStyle/>
          <a:p>
            <a:pPr algn="ctr" indent="0" marL="0">
              <a:buNone/>
            </a:pPr>
            <a:r>
              <a:rPr lang="en-US" sz="1500" b="1" dirty="0">
                <a:solidFill>
                  <a:srgbClr val="5F6B76"/>
                </a:solidFill>
                <a:latin typeface="Cambria" pitchFamily="34" charset="0"/>
                <a:ea typeface="Cambria" pitchFamily="34" charset="-122"/>
                <a:cs typeface="Cambria" pitchFamily="34" charset="-120"/>
              </a:rPr>
              <a:t>1,850</a:t>
            </a:r>
            <a:endParaRPr lang="en-US" sz="1500" dirty="0"/>
          </a:p>
        </p:txBody>
      </p:sp>
      <p:sp>
        <p:nvSpPr>
          <p:cNvPr id="23" name="Text 21"/>
          <p:cNvSpPr txBox="1"/>
          <p:nvPr/>
        </p:nvSpPr>
        <p:spPr>
          <a:xfrm>
            <a:off x="685800" y="4069080"/>
            <a:ext cx="1097280" cy="777240"/>
          </a:xfrm>
          <a:prstGeom prst="rect">
            <a:avLst/>
          </a:prstGeom>
          <a:noFill/>
          <a:ln/>
        </p:spPr>
        <p:txBody>
          <a:bodyPr wrap="square" lIns="0" tIns="0" rIns="0" bIns="0" rtlCol="0" anchor="ctr"/>
          <a:lstStyle/>
          <a:p>
            <a:pPr algn="r" indent="0" marL="0">
              <a:buNone/>
            </a:pPr>
            <a:r>
              <a:rPr lang="en-US" sz="1300" b="1" dirty="0">
                <a:solidFill>
                  <a:srgbClr val="14202B"/>
                </a:solidFill>
                <a:latin typeface="Calibri" pitchFamily="34" charset="0"/>
                <a:ea typeface="Calibri" pitchFamily="34" charset="-122"/>
                <a:cs typeface="Calibri" pitchFamily="34" charset="-120"/>
              </a:rPr>
              <a:t>up</a:t>
            </a:r>
            <a:endParaRPr lang="en-US" sz="1300" dirty="0"/>
          </a:p>
        </p:txBody>
      </p:sp>
      <p:sp>
        <p:nvSpPr>
          <p:cNvPr id="24" name="Shape 22"/>
          <p:cNvSpPr/>
          <p:nvPr/>
        </p:nvSpPr>
        <p:spPr>
          <a:xfrm>
            <a:off x="1874520" y="4069080"/>
            <a:ext cx="1417320" cy="777240"/>
          </a:xfrm>
          <a:prstGeom prst="rect">
            <a:avLst/>
          </a:prstGeom>
          <a:solidFill>
            <a:srgbClr val="E4F7F1"/>
          </a:solidFill>
          <a:ln w="25400">
            <a:solidFill>
              <a:srgbClr val="02C39A"/>
            </a:solidFill>
            <a:prstDash val="solid"/>
          </a:ln>
        </p:spPr>
      </p:sp>
      <p:sp>
        <p:nvSpPr>
          <p:cNvPr id="25" name="Text 23"/>
          <p:cNvSpPr txBox="1"/>
          <p:nvPr/>
        </p:nvSpPr>
        <p:spPr>
          <a:xfrm>
            <a:off x="1874520" y="4069080"/>
            <a:ext cx="1417320" cy="777240"/>
          </a:xfrm>
          <a:prstGeom prst="rect">
            <a:avLst/>
          </a:prstGeom>
          <a:noFill/>
          <a:ln/>
        </p:spPr>
        <p:txBody>
          <a:bodyPr wrap="square" lIns="0" tIns="0" rIns="0" bIns="0" rtlCol="0" anchor="ctr"/>
          <a:lstStyle/>
          <a:p>
            <a:pPr algn="ctr" indent="0" marL="0">
              <a:buNone/>
            </a:pPr>
            <a:r>
              <a:rPr lang="en-US" sz="1500" b="1" dirty="0">
                <a:solidFill>
                  <a:srgbClr val="01916F"/>
                </a:solidFill>
                <a:latin typeface="Cambria" pitchFamily="34" charset="0"/>
                <a:ea typeface="Cambria" pitchFamily="34" charset="-122"/>
                <a:cs typeface="Cambria" pitchFamily="34" charset="-120"/>
              </a:rPr>
              <a:t>4</a:t>
            </a:r>
            <a:endParaRPr lang="en-US" sz="1500" dirty="0"/>
          </a:p>
        </p:txBody>
      </p:sp>
      <p:sp>
        <p:nvSpPr>
          <p:cNvPr id="26" name="Shape 24"/>
          <p:cNvSpPr/>
          <p:nvPr/>
        </p:nvSpPr>
        <p:spPr>
          <a:xfrm>
            <a:off x="3291840" y="4069080"/>
            <a:ext cx="1417320" cy="777240"/>
          </a:xfrm>
          <a:prstGeom prst="rect">
            <a:avLst/>
          </a:prstGeom>
          <a:solidFill>
            <a:srgbClr val="E8EDF0"/>
          </a:solidFill>
          <a:ln w="19050">
            <a:solidFill>
              <a:srgbClr val="FFFFFF"/>
            </a:solidFill>
            <a:prstDash val="solid"/>
          </a:ln>
        </p:spPr>
      </p:sp>
      <p:sp>
        <p:nvSpPr>
          <p:cNvPr id="27" name="Text 25"/>
          <p:cNvSpPr txBox="1"/>
          <p:nvPr/>
        </p:nvSpPr>
        <p:spPr>
          <a:xfrm>
            <a:off x="3291840" y="4069080"/>
            <a:ext cx="1417320" cy="777240"/>
          </a:xfrm>
          <a:prstGeom prst="rect">
            <a:avLst/>
          </a:prstGeom>
          <a:noFill/>
          <a:ln/>
        </p:spPr>
        <p:txBody>
          <a:bodyPr wrap="square" lIns="0" tIns="0" rIns="0" bIns="0" rtlCol="0" anchor="ctr"/>
          <a:lstStyle/>
          <a:p>
            <a:pPr algn="ctr" indent="0" marL="0">
              <a:buNone/>
            </a:pPr>
            <a:r>
              <a:rPr lang="en-US" sz="1500" b="1" dirty="0">
                <a:solidFill>
                  <a:srgbClr val="5F6B76"/>
                </a:solidFill>
                <a:latin typeface="Cambria" pitchFamily="34" charset="0"/>
                <a:ea typeface="Cambria" pitchFamily="34" charset="-122"/>
                <a:cs typeface="Cambria" pitchFamily="34" charset="-120"/>
              </a:rPr>
              <a:t>1,468</a:t>
            </a:r>
            <a:endParaRPr lang="en-US" sz="1500" dirty="0"/>
          </a:p>
        </p:txBody>
      </p:sp>
      <p:sp>
        <p:nvSpPr>
          <p:cNvPr id="28" name="Shape 26"/>
          <p:cNvSpPr/>
          <p:nvPr/>
        </p:nvSpPr>
        <p:spPr>
          <a:xfrm>
            <a:off x="4709160" y="4069080"/>
            <a:ext cx="1417320" cy="777240"/>
          </a:xfrm>
          <a:prstGeom prst="rect">
            <a:avLst/>
          </a:prstGeom>
          <a:solidFill>
            <a:srgbClr val="028090"/>
          </a:solidFill>
          <a:ln w="19050">
            <a:solidFill>
              <a:srgbClr val="FFFFFF"/>
            </a:solidFill>
            <a:prstDash val="solid"/>
          </a:ln>
        </p:spPr>
      </p:sp>
      <p:sp>
        <p:nvSpPr>
          <p:cNvPr id="29" name="Text 27"/>
          <p:cNvSpPr txBox="1"/>
          <p:nvPr/>
        </p:nvSpPr>
        <p:spPr>
          <a:xfrm>
            <a:off x="4709160" y="4069080"/>
            <a:ext cx="141732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1,453</a:t>
            </a:r>
            <a:endParaRPr lang="en-US" sz="1700" dirty="0"/>
          </a:p>
        </p:txBody>
      </p:sp>
      <p:sp>
        <p:nvSpPr>
          <p:cNvPr id="30" name="Text 28"/>
          <p:cNvSpPr txBox="1"/>
          <p:nvPr/>
        </p:nvSpPr>
        <p:spPr>
          <a:xfrm>
            <a:off x="685800" y="5010912"/>
            <a:ext cx="5486400" cy="320040"/>
          </a:xfrm>
          <a:prstGeom prst="rect">
            <a:avLst/>
          </a:prstGeom>
          <a:noFill/>
          <a:ln/>
        </p:spPr>
        <p:txBody>
          <a:bodyPr wrap="square" lIns="0" tIns="0" rIns="0" bIns="0" rtlCol="0" anchor="ctr"/>
          <a:lstStyle/>
          <a:p>
            <a:pPr indent="0" marL="0">
              <a:buNone/>
            </a:pPr>
            <a:r>
              <a:rPr lang="en-US" sz="1150" i="1" dirty="0">
                <a:solidFill>
                  <a:srgbClr val="5F6B76"/>
                </a:solidFill>
                <a:latin typeface="Calibri" pitchFamily="34" charset="0"/>
                <a:ea typeface="Calibri" pitchFamily="34" charset="-122"/>
                <a:cs typeface="Calibri" pitchFamily="34" charset="-120"/>
              </a:rPr>
              <a:t>CGNN with tuned thresholds — 50,000 test samples from the held-out day</a:t>
            </a:r>
            <a:endParaRPr lang="en-US" sz="1150" dirty="0"/>
          </a:p>
        </p:txBody>
      </p:sp>
      <p:sp>
        <p:nvSpPr>
          <p:cNvPr id="31" name="Shape 29"/>
          <p:cNvSpPr/>
          <p:nvPr/>
        </p:nvSpPr>
        <p:spPr>
          <a:xfrm>
            <a:off x="6766560" y="1965960"/>
            <a:ext cx="4800600" cy="1463040"/>
          </a:xfrm>
          <a:prstGeom prst="roundRect">
            <a:avLst>
              <a:gd name="adj" fmla="val 3750"/>
            </a:avLst>
          </a:prstGeom>
          <a:solidFill>
            <a:srgbClr val="FFFFFF"/>
          </a:solidFill>
          <a:ln w="19050">
            <a:solidFill>
              <a:srgbClr val="02C39A"/>
            </a:solidFill>
            <a:prstDash val="solid"/>
          </a:ln>
          <a:effectLst>
            <a:outerShdw sx="100000" sy="100000" kx="0" ky="0" algn="bl" rotWithShape="0" blurRad="101600" dist="25400" dir="5400000">
              <a:srgbClr val="9AA8B2">
                <a:alpha val="25000"/>
              </a:srgbClr>
            </a:outerShdw>
          </a:effectLst>
        </p:spPr>
      </p:sp>
      <p:sp>
        <p:nvSpPr>
          <p:cNvPr id="32" name="Text 30"/>
          <p:cNvSpPr txBox="1"/>
          <p:nvPr/>
        </p:nvSpPr>
        <p:spPr>
          <a:xfrm>
            <a:off x="7086600" y="2194560"/>
            <a:ext cx="4206240" cy="1051560"/>
          </a:xfrm>
          <a:prstGeom prst="rect">
            <a:avLst/>
          </a:prstGeom>
          <a:noFill/>
          <a:ln/>
        </p:spPr>
        <p:txBody>
          <a:bodyPr wrap="square" lIns="0" tIns="0" rIns="0" bIns="0" rtlCol="0" anchor="ctr"/>
          <a:lstStyle/>
          <a:p>
            <a:pPr indent="0" marL="0">
              <a:lnSpc>
                <a:spcPts val="1700"/>
              </a:lnSpc>
              <a:buNone/>
            </a:pPr>
            <a:r>
              <a:rPr lang="en-US" sz="2800" b="1" dirty="0">
                <a:solidFill>
                  <a:srgbClr val="028090"/>
                </a:solidFill>
                <a:latin typeface="Cambria" pitchFamily="34" charset="0"/>
                <a:ea typeface="Cambria" pitchFamily="34" charset="-122"/>
                <a:cs typeface="Cambria" pitchFamily="34" charset="-120"/>
              </a:rPr>
              <a:t>12 out of 6,144</a:t>
            </a:r>
            <a:endParaRPr lang="en-US" sz="2800" dirty="0"/>
          </a:p>
          <a:p>
            <a:pPr indent="0" marL="0">
              <a:lnSpc>
                <a:spcPts val="1700"/>
              </a:lnSpc>
              <a:buNone/>
            </a:pPr>
            <a:r>
              <a:rPr lang="en-US" sz="1250" dirty="0">
                <a:solidFill>
                  <a:srgbClr val="5F6B76"/>
                </a:solidFill>
                <a:latin typeface="Calibri" pitchFamily="34" charset="0"/>
                <a:ea typeface="Calibri" pitchFamily="34" charset="-122"/>
                <a:cs typeface="Calibri" pitchFamily="34" charset="-120"/>
              </a:rPr>
              <a:t>directional samples predicted as the OPPOSITE direction (8 + 4)</a:t>
            </a:r>
            <a:endParaRPr lang="en-US" sz="2800" dirty="0"/>
          </a:p>
        </p:txBody>
      </p:sp>
      <p:sp>
        <p:nvSpPr>
          <p:cNvPr id="33" name="Text 31"/>
          <p:cNvSpPr txBox="1"/>
          <p:nvPr/>
        </p:nvSpPr>
        <p:spPr>
          <a:xfrm>
            <a:off x="6766560" y="3703320"/>
            <a:ext cx="4800600" cy="274320"/>
          </a:xfrm>
          <a:prstGeom prst="rect">
            <a:avLst/>
          </a:prstGeom>
          <a:noFill/>
          <a:ln/>
        </p:spPr>
        <p:txBody>
          <a:bodyPr wrap="square" lIns="0" tIns="0" rIns="0" bIns="0" rtlCol="0" anchor="ctr"/>
          <a:lstStyle/>
          <a:p>
            <a:pPr indent="0" marL="0">
              <a:buNone/>
            </a:pPr>
            <a:r>
              <a:rPr lang="en-US" sz="1300" b="1" dirty="0">
                <a:solidFill>
                  <a:srgbClr val="14202B"/>
                </a:solidFill>
                <a:latin typeface="Calibri" pitchFamily="34" charset="0"/>
                <a:ea typeface="Calibri" pitchFamily="34" charset="-122"/>
                <a:cs typeface="Calibri" pitchFamily="34" charset="-120"/>
              </a:rPr>
              <a:t>Per-class F1 (tuned)</a:t>
            </a:r>
            <a:endParaRPr lang="en-US" sz="1300" dirty="0"/>
          </a:p>
        </p:txBody>
      </p:sp>
      <p:sp>
        <p:nvSpPr>
          <p:cNvPr id="34" name="Text 32"/>
          <p:cNvSpPr txBox="1"/>
          <p:nvPr/>
        </p:nvSpPr>
        <p:spPr>
          <a:xfrm>
            <a:off x="6766560" y="4114800"/>
            <a:ext cx="731520" cy="274320"/>
          </a:xfrm>
          <a:prstGeom prst="rect">
            <a:avLst/>
          </a:prstGeom>
          <a:noFill/>
          <a:ln/>
        </p:spPr>
        <p:txBody>
          <a:bodyPr wrap="square" lIns="0" tIns="0" rIns="0" bIns="0" rtlCol="0" anchor="ctr"/>
          <a:lstStyle/>
          <a:p>
            <a:pPr indent="0" marL="0">
              <a:buNone/>
            </a:pPr>
            <a:r>
              <a:rPr lang="en-US" sz="1250" dirty="0">
                <a:solidFill>
                  <a:srgbClr val="5F6B76"/>
                </a:solidFill>
                <a:latin typeface="Calibri" pitchFamily="34" charset="0"/>
                <a:ea typeface="Calibri" pitchFamily="34" charset="-122"/>
                <a:cs typeface="Calibri" pitchFamily="34" charset="-120"/>
              </a:rPr>
              <a:t>down</a:t>
            </a:r>
            <a:endParaRPr lang="en-US" sz="1250" dirty="0"/>
          </a:p>
        </p:txBody>
      </p:sp>
      <p:sp>
        <p:nvSpPr>
          <p:cNvPr id="35" name="Shape 33"/>
          <p:cNvSpPr/>
          <p:nvPr/>
        </p:nvSpPr>
        <p:spPr>
          <a:xfrm>
            <a:off x="7543800" y="4160520"/>
            <a:ext cx="2651760" cy="182880"/>
          </a:xfrm>
          <a:prstGeom prst="rect">
            <a:avLst/>
          </a:prstGeom>
          <a:solidFill>
            <a:srgbClr val="EDF1F3"/>
          </a:solidFill>
          <a:ln w="12700">
            <a:solidFill>
              <a:srgbClr val="333333"/>
            </a:solidFill>
            <a:prstDash val="solid"/>
          </a:ln>
        </p:spPr>
      </p:sp>
      <p:sp>
        <p:nvSpPr>
          <p:cNvPr id="36" name="Shape 34"/>
          <p:cNvSpPr/>
          <p:nvPr/>
        </p:nvSpPr>
        <p:spPr>
          <a:xfrm>
            <a:off x="7543800" y="4160520"/>
            <a:ext cx="1272845" cy="182880"/>
          </a:xfrm>
          <a:prstGeom prst="rect">
            <a:avLst/>
          </a:prstGeom>
          <a:solidFill>
            <a:srgbClr val="E5484D"/>
          </a:solidFill>
          <a:ln w="12700">
            <a:solidFill>
              <a:srgbClr val="333333"/>
            </a:solidFill>
            <a:prstDash val="solid"/>
          </a:ln>
        </p:spPr>
      </p:sp>
      <p:sp>
        <p:nvSpPr>
          <p:cNvPr id="37" name="Text 35"/>
          <p:cNvSpPr txBox="1"/>
          <p:nvPr/>
        </p:nvSpPr>
        <p:spPr>
          <a:xfrm>
            <a:off x="10332720" y="4114800"/>
            <a:ext cx="822960" cy="274320"/>
          </a:xfrm>
          <a:prstGeom prst="rect">
            <a:avLst/>
          </a:prstGeom>
          <a:noFill/>
          <a:ln/>
        </p:spPr>
        <p:txBody>
          <a:bodyPr wrap="square" lIns="0" tIns="0" rIns="0" bIns="0" rtlCol="0" anchor="ctr"/>
          <a:lstStyle/>
          <a:p>
            <a:pPr indent="0" marL="0">
              <a:buNone/>
            </a:pPr>
            <a:r>
              <a:rPr lang="en-US" sz="1250" b="1" dirty="0">
                <a:solidFill>
                  <a:srgbClr val="14202B"/>
                </a:solidFill>
                <a:latin typeface="Calibri" pitchFamily="34" charset="0"/>
                <a:ea typeface="Calibri" pitchFamily="34" charset="-122"/>
                <a:cs typeface="Calibri" pitchFamily="34" charset="-120"/>
              </a:rPr>
              <a:t>0.48</a:t>
            </a:r>
            <a:endParaRPr lang="en-US" sz="1250" dirty="0"/>
          </a:p>
        </p:txBody>
      </p:sp>
      <p:sp>
        <p:nvSpPr>
          <p:cNvPr id="38" name="Text 36"/>
          <p:cNvSpPr txBox="1"/>
          <p:nvPr/>
        </p:nvSpPr>
        <p:spPr>
          <a:xfrm>
            <a:off x="6766560" y="4572000"/>
            <a:ext cx="731520" cy="274320"/>
          </a:xfrm>
          <a:prstGeom prst="rect">
            <a:avLst/>
          </a:prstGeom>
          <a:noFill/>
          <a:ln/>
        </p:spPr>
        <p:txBody>
          <a:bodyPr wrap="square" lIns="0" tIns="0" rIns="0" bIns="0" rtlCol="0" anchor="ctr"/>
          <a:lstStyle/>
          <a:p>
            <a:pPr indent="0" marL="0">
              <a:buNone/>
            </a:pPr>
            <a:r>
              <a:rPr lang="en-US" sz="1250" dirty="0">
                <a:solidFill>
                  <a:srgbClr val="5F6B76"/>
                </a:solidFill>
                <a:latin typeface="Calibri" pitchFamily="34" charset="0"/>
                <a:ea typeface="Calibri" pitchFamily="34" charset="-122"/>
                <a:cs typeface="Calibri" pitchFamily="34" charset="-120"/>
              </a:rPr>
              <a:t>flat</a:t>
            </a:r>
            <a:endParaRPr lang="en-US" sz="1250" dirty="0"/>
          </a:p>
        </p:txBody>
      </p:sp>
      <p:sp>
        <p:nvSpPr>
          <p:cNvPr id="39" name="Shape 37"/>
          <p:cNvSpPr/>
          <p:nvPr/>
        </p:nvSpPr>
        <p:spPr>
          <a:xfrm>
            <a:off x="7543800" y="4617720"/>
            <a:ext cx="2651760" cy="182880"/>
          </a:xfrm>
          <a:prstGeom prst="rect">
            <a:avLst/>
          </a:prstGeom>
          <a:solidFill>
            <a:srgbClr val="EDF1F3"/>
          </a:solidFill>
          <a:ln w="12700">
            <a:solidFill>
              <a:srgbClr val="333333"/>
            </a:solidFill>
            <a:prstDash val="solid"/>
          </a:ln>
        </p:spPr>
      </p:sp>
      <p:sp>
        <p:nvSpPr>
          <p:cNvPr id="40" name="Shape 38"/>
          <p:cNvSpPr/>
          <p:nvPr/>
        </p:nvSpPr>
        <p:spPr>
          <a:xfrm>
            <a:off x="7543800" y="4617720"/>
            <a:ext cx="2466137" cy="182880"/>
          </a:xfrm>
          <a:prstGeom prst="rect">
            <a:avLst/>
          </a:prstGeom>
          <a:solidFill>
            <a:srgbClr val="96A7B0"/>
          </a:solidFill>
          <a:ln w="12700">
            <a:solidFill>
              <a:srgbClr val="333333"/>
            </a:solidFill>
            <a:prstDash val="solid"/>
          </a:ln>
        </p:spPr>
      </p:sp>
      <p:sp>
        <p:nvSpPr>
          <p:cNvPr id="41" name="Text 39"/>
          <p:cNvSpPr txBox="1"/>
          <p:nvPr/>
        </p:nvSpPr>
        <p:spPr>
          <a:xfrm>
            <a:off x="10332720" y="4572000"/>
            <a:ext cx="822960" cy="274320"/>
          </a:xfrm>
          <a:prstGeom prst="rect">
            <a:avLst/>
          </a:prstGeom>
          <a:noFill/>
          <a:ln/>
        </p:spPr>
        <p:txBody>
          <a:bodyPr wrap="square" lIns="0" tIns="0" rIns="0" bIns="0" rtlCol="0" anchor="ctr"/>
          <a:lstStyle/>
          <a:p>
            <a:pPr indent="0" marL="0">
              <a:buNone/>
            </a:pPr>
            <a:r>
              <a:rPr lang="en-US" sz="1250" b="1" dirty="0">
                <a:solidFill>
                  <a:srgbClr val="14202B"/>
                </a:solidFill>
                <a:latin typeface="Calibri" pitchFamily="34" charset="0"/>
                <a:ea typeface="Calibri" pitchFamily="34" charset="-122"/>
                <a:cs typeface="Calibri" pitchFamily="34" charset="-120"/>
              </a:rPr>
              <a:t>0.93</a:t>
            </a:r>
            <a:endParaRPr lang="en-US" sz="1250" dirty="0"/>
          </a:p>
        </p:txBody>
      </p:sp>
      <p:sp>
        <p:nvSpPr>
          <p:cNvPr id="42" name="Text 40"/>
          <p:cNvSpPr txBox="1"/>
          <p:nvPr/>
        </p:nvSpPr>
        <p:spPr>
          <a:xfrm>
            <a:off x="6766560" y="5029200"/>
            <a:ext cx="731520" cy="274320"/>
          </a:xfrm>
          <a:prstGeom prst="rect">
            <a:avLst/>
          </a:prstGeom>
          <a:noFill/>
          <a:ln/>
        </p:spPr>
        <p:txBody>
          <a:bodyPr wrap="square" lIns="0" tIns="0" rIns="0" bIns="0" rtlCol="0" anchor="ctr"/>
          <a:lstStyle/>
          <a:p>
            <a:pPr indent="0" marL="0">
              <a:buNone/>
            </a:pPr>
            <a:r>
              <a:rPr lang="en-US" sz="1250" dirty="0">
                <a:solidFill>
                  <a:srgbClr val="5F6B76"/>
                </a:solidFill>
                <a:latin typeface="Calibri" pitchFamily="34" charset="0"/>
                <a:ea typeface="Calibri" pitchFamily="34" charset="-122"/>
                <a:cs typeface="Calibri" pitchFamily="34" charset="-120"/>
              </a:rPr>
              <a:t>up</a:t>
            </a:r>
            <a:endParaRPr lang="en-US" sz="1250" dirty="0"/>
          </a:p>
        </p:txBody>
      </p:sp>
      <p:sp>
        <p:nvSpPr>
          <p:cNvPr id="43" name="Shape 41"/>
          <p:cNvSpPr/>
          <p:nvPr/>
        </p:nvSpPr>
        <p:spPr>
          <a:xfrm>
            <a:off x="7543800" y="5074920"/>
            <a:ext cx="2651760" cy="182880"/>
          </a:xfrm>
          <a:prstGeom prst="rect">
            <a:avLst/>
          </a:prstGeom>
          <a:solidFill>
            <a:srgbClr val="EDF1F3"/>
          </a:solidFill>
          <a:ln w="12700">
            <a:solidFill>
              <a:srgbClr val="333333"/>
            </a:solidFill>
            <a:prstDash val="solid"/>
          </a:ln>
        </p:spPr>
      </p:sp>
      <p:sp>
        <p:nvSpPr>
          <p:cNvPr id="44" name="Shape 42"/>
          <p:cNvSpPr/>
          <p:nvPr/>
        </p:nvSpPr>
        <p:spPr>
          <a:xfrm>
            <a:off x="7543800" y="5074920"/>
            <a:ext cx="1246327" cy="182880"/>
          </a:xfrm>
          <a:prstGeom prst="rect">
            <a:avLst/>
          </a:prstGeom>
          <a:solidFill>
            <a:srgbClr val="02C39A"/>
          </a:solidFill>
          <a:ln w="12700">
            <a:solidFill>
              <a:srgbClr val="333333"/>
            </a:solidFill>
            <a:prstDash val="solid"/>
          </a:ln>
        </p:spPr>
      </p:sp>
      <p:sp>
        <p:nvSpPr>
          <p:cNvPr id="45" name="Text 43"/>
          <p:cNvSpPr txBox="1"/>
          <p:nvPr/>
        </p:nvSpPr>
        <p:spPr>
          <a:xfrm>
            <a:off x="10332720" y="5029200"/>
            <a:ext cx="822960" cy="274320"/>
          </a:xfrm>
          <a:prstGeom prst="rect">
            <a:avLst/>
          </a:prstGeom>
          <a:noFill/>
          <a:ln/>
        </p:spPr>
        <p:txBody>
          <a:bodyPr wrap="square" lIns="0" tIns="0" rIns="0" bIns="0" rtlCol="0" anchor="ctr"/>
          <a:lstStyle/>
          <a:p>
            <a:pPr indent="0" marL="0">
              <a:buNone/>
            </a:pPr>
            <a:r>
              <a:rPr lang="en-US" sz="1250" b="1" dirty="0">
                <a:solidFill>
                  <a:srgbClr val="14202B"/>
                </a:solidFill>
                <a:latin typeface="Calibri" pitchFamily="34" charset="0"/>
                <a:ea typeface="Calibri" pitchFamily="34" charset="-122"/>
                <a:cs typeface="Calibri" pitchFamily="34" charset="-120"/>
              </a:rPr>
              <a:t>0.47</a:t>
            </a:r>
            <a:endParaRPr lang="en-US" sz="1250" dirty="0"/>
          </a:p>
        </p:txBody>
      </p:sp>
      <p:sp>
        <p:nvSpPr>
          <p:cNvPr id="46" name="Text 44"/>
          <p:cNvSpPr txBox="1"/>
          <p:nvPr/>
        </p:nvSpPr>
        <p:spPr>
          <a:xfrm>
            <a:off x="6766560" y="5623560"/>
            <a:ext cx="4800600" cy="731520"/>
          </a:xfrm>
          <a:prstGeom prst="rect">
            <a:avLst/>
          </a:prstGeom>
          <a:noFill/>
          <a:ln/>
        </p:spPr>
        <p:txBody>
          <a:bodyPr wrap="square" lIns="0" tIns="0" rIns="0" bIns="0" rtlCol="0" anchor="ctr"/>
          <a:lstStyle/>
          <a:p>
            <a:pPr indent="0" marL="0">
              <a:lnSpc>
                <a:spcPts val="1700"/>
              </a:lnSpc>
              <a:buNone/>
            </a:pPr>
            <a:r>
              <a:rPr lang="en-US" sz="1250" dirty="0">
                <a:solidFill>
                  <a:srgbClr val="14202B"/>
                </a:solidFill>
                <a:latin typeface="Calibri" pitchFamily="34" charset="0"/>
                <a:ea typeface="Calibri" pitchFamily="34" charset="-122"/>
                <a:cs typeface="Calibri" pitchFamily="34" charset="-120"/>
              </a:rPr>
              <a:t>The residual errors are about intensity, not direction: the model almost never mistakes up for down — it struggles to tell a ≥1-tick move from noise.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02B"/>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74320"/>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SUMMARY</a:t>
            </a:r>
            <a:endParaRPr lang="en-US" sz="1200" dirty="0"/>
          </a:p>
        </p:txBody>
      </p:sp>
      <p:sp>
        <p:nvSpPr>
          <p:cNvPr id="3" name="Text 1"/>
          <p:cNvSpPr txBox="1"/>
          <p:nvPr/>
        </p:nvSpPr>
        <p:spPr>
          <a:xfrm>
            <a:off x="640080" y="694944"/>
            <a:ext cx="1088136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solution, in one table</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2651760"/>
                <a:gridCol w="8257032"/>
              </a:tblGrid>
              <a:tr h="475488">
                <a:tc>
                  <a:txBody>
                    <a:bodyPr/>
                    <a:lstStyle/>
                    <a:p>
                      <a:pPr indent="0" marL="0">
                        <a:buNone/>
                      </a:pPr>
                      <a:r>
                        <a:rPr lang="en-US" sz="1300" b="1" dirty="0">
                          <a:solidFill>
                            <a:srgbClr val="02C39A"/>
                          </a:solidFill>
                          <a:latin typeface="Calibri" pitchFamily="34" charset="0"/>
                          <a:ea typeface="Calibri" pitchFamily="34" charset="-122"/>
                          <a:cs typeface="Calibri" pitchFamily="34" charset="-120"/>
                        </a:rPr>
                        <a:t>Representation</a:t>
                      </a:r>
                      <a:endParaRPr lang="en-US" sz="1300" dirty="0">
                        <a:latin typeface="Calibri" charset="0"/>
                        <a:ea typeface="Calibri" charset="0"/>
                        <a:cs typeface="Calibri" charset="0"/>
                      </a:endParaRPr>
                    </a:p>
                  </a:txBody>
                  <a:tcPr marL="146304" marR="146304" marT="73152" marB="73152" anchor="ctr">
                    <a:lnL w="12700" cap="flat" cmpd="sng" algn="ctr">
                      <a:solidFill>
                        <a:srgbClr val="2C4152"/>
                      </a:solidFill>
                      <a:prstDash val="solid"/>
                      <a:round/>
                      <a:headEnd type="none" w="med" len="med"/>
                      <a:tailEnd type="none" w="med" len="med"/>
                    </a:lnL>
                    <a:lnR w="12700" cap="flat" cmpd="sng" algn="ctr">
                      <a:solidFill>
                        <a:srgbClr val="2C4152"/>
                      </a:solidFill>
                      <a:prstDash val="solid"/>
                      <a:round/>
                      <a:headEnd type="none" w="med" len="med"/>
                      <a:tailEnd type="none" w="med" len="med"/>
                    </a:lnR>
                    <a:lnT w="12700" cap="flat" cmpd="sng" algn="ctr">
                      <a:solidFill>
                        <a:srgbClr val="2C4152"/>
                      </a:solidFill>
                      <a:prstDash val="solid"/>
                      <a:round/>
                      <a:headEnd type="none" w="med" len="med"/>
                      <a:tailEnd type="none" w="med" len="med"/>
                    </a:lnT>
                    <a:lnB w="12700" cap="flat" cmpd="sng" algn="ctr">
                      <a:solidFill>
                        <a:srgbClr val="2C4152"/>
                      </a:solidFill>
                      <a:prstDash val="solid"/>
                      <a:round/>
                      <a:headEnd type="none" w="med" len="med"/>
                      <a:tailEnd type="none" w="med" len="med"/>
                    </a:lnB>
                    <a:solidFill>
                      <a:srgbClr val="1E2E3C"/>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A 3,020-node graph (side × level × lag), TMFG edges (9,054 undirected)</a:t>
                      </a:r>
                      <a:endParaRPr lang="en-US" sz="1300" dirty="0">
                        <a:latin typeface="Calibri" charset="0"/>
                        <a:ea typeface="Calibri" charset="0"/>
                        <a:cs typeface="Calibri" charset="0"/>
                      </a:endParaRPr>
                    </a:p>
                  </a:txBody>
                  <a:tcPr marL="146304" marR="146304" marT="73152" marB="73152" anchor="ctr">
                    <a:lnL w="12700" cap="flat" cmpd="sng" algn="ctr">
                      <a:solidFill>
                        <a:srgbClr val="2C4152"/>
                      </a:solidFill>
                      <a:prstDash val="solid"/>
                      <a:round/>
                      <a:headEnd type="none" w="med" len="med"/>
                      <a:tailEnd type="none" w="med" len="med"/>
                    </a:lnL>
                    <a:lnR w="12700" cap="flat" cmpd="sng" algn="ctr">
                      <a:solidFill>
                        <a:srgbClr val="2C4152"/>
                      </a:solidFill>
                      <a:prstDash val="solid"/>
                      <a:round/>
                      <a:headEnd type="none" w="med" len="med"/>
                      <a:tailEnd type="none" w="med" len="med"/>
                    </a:lnR>
                    <a:lnT w="12700" cap="flat" cmpd="sng" algn="ctr">
                      <a:solidFill>
                        <a:srgbClr val="2C4152"/>
                      </a:solidFill>
                      <a:prstDash val="solid"/>
                      <a:round/>
                      <a:headEnd type="none" w="med" len="med"/>
                      <a:tailEnd type="none" w="med" len="med"/>
                    </a:lnT>
                    <a:lnB w="12700" cap="flat" cmpd="sng" algn="ctr">
                      <a:solidFill>
                        <a:srgbClr val="2C4152"/>
                      </a:solidFill>
                      <a:prstDash val="solid"/>
                      <a:round/>
                      <a:headEnd type="none" w="med" len="med"/>
                      <a:tailEnd type="none" w="med" len="med"/>
                    </a:lnB>
                    <a:solidFill>
                      <a:srgbClr val="1E2E3C"/>
                    </a:solidFill>
                  </a:tcPr>
                </a:tc>
              </a:tr>
              <a:tr h="475488">
                <a:tc>
                  <a:txBody>
                    <a:bodyPr/>
                    <a:lstStyle/>
                    <a:p>
                      <a:pPr indent="0" marL="0">
                        <a:buNone/>
                      </a:pPr>
                      <a:r>
                        <a:rPr lang="en-US" sz="1300" b="1" dirty="0">
                          <a:solidFill>
                            <a:srgbClr val="02C39A"/>
                          </a:solidFill>
                          <a:latin typeface="Calibri" pitchFamily="34" charset="0"/>
                          <a:ea typeface="Calibri" pitchFamily="34" charset="-122"/>
                          <a:cs typeface="Calibri" pitchFamily="34" charset="-120"/>
                        </a:rPr>
                        <a:t>Node features</a:t>
                      </a:r>
                      <a:endParaRPr lang="en-US" sz="1300" dirty="0">
                        <a:latin typeface="Calibri" charset="0"/>
                        <a:ea typeface="Calibri" charset="0"/>
                        <a:cs typeface="Calibri" charset="0"/>
                      </a:endParaRPr>
                    </a:p>
                  </a:txBody>
                  <a:tcPr marL="146304" marR="146304" marT="73152" marB="73152" anchor="ctr">
                    <a:lnL w="12700" cap="flat" cmpd="sng" algn="ctr">
                      <a:solidFill>
                        <a:srgbClr val="2C4152"/>
                      </a:solidFill>
                      <a:prstDash val="solid"/>
                      <a:round/>
                      <a:headEnd type="none" w="med" len="med"/>
                      <a:tailEnd type="none" w="med" len="med"/>
                    </a:lnL>
                    <a:lnR w="12700" cap="flat" cmpd="sng" algn="ctr">
                      <a:solidFill>
                        <a:srgbClr val="2C4152"/>
                      </a:solidFill>
                      <a:prstDash val="solid"/>
                      <a:round/>
                      <a:headEnd type="none" w="med" len="med"/>
                      <a:tailEnd type="none" w="med" len="med"/>
                    </a:lnR>
                    <a:lnT w="12700" cap="flat" cmpd="sng" algn="ctr">
                      <a:solidFill>
                        <a:srgbClr val="2C4152"/>
                      </a:solidFill>
                      <a:prstDash val="solid"/>
                      <a:round/>
                      <a:headEnd type="none" w="med" len="med"/>
                      <a:tailEnd type="none" w="med" len="med"/>
                    </a:lnT>
                    <a:lnB w="12700" cap="flat" cmpd="sng" algn="ctr">
                      <a:solidFill>
                        <a:srgbClr val="2C4152"/>
                      </a:solidFill>
                      <a:prstDash val="solid"/>
                      <a:round/>
                      <a:headEnd type="none" w="med" len="med"/>
                      <a:tailEnd type="none" w="med" len="med"/>
                    </a:lnB>
                    <a:solidFill>
                      <a:srgbClr val="1E2E3C"/>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Price normalised against the mid · volume in quantile bins · normalised lag</a:t>
                      </a:r>
                      <a:endParaRPr lang="en-US" sz="1300" dirty="0">
                        <a:latin typeface="Calibri" charset="0"/>
                        <a:ea typeface="Calibri" charset="0"/>
                        <a:cs typeface="Calibri" charset="0"/>
                      </a:endParaRPr>
                    </a:p>
                  </a:txBody>
                  <a:tcPr marL="146304" marR="146304" marT="73152" marB="73152" anchor="ctr">
                    <a:lnL w="12700" cap="flat" cmpd="sng" algn="ctr">
                      <a:solidFill>
                        <a:srgbClr val="2C4152"/>
                      </a:solidFill>
                      <a:prstDash val="solid"/>
                      <a:round/>
                      <a:headEnd type="none" w="med" len="med"/>
                      <a:tailEnd type="none" w="med" len="med"/>
                    </a:lnL>
                    <a:lnR w="12700" cap="flat" cmpd="sng" algn="ctr">
                      <a:solidFill>
                        <a:srgbClr val="2C4152"/>
                      </a:solidFill>
                      <a:prstDash val="solid"/>
                      <a:round/>
                      <a:headEnd type="none" w="med" len="med"/>
                      <a:tailEnd type="none" w="med" len="med"/>
                    </a:lnR>
                    <a:lnT w="12700" cap="flat" cmpd="sng" algn="ctr">
                      <a:solidFill>
                        <a:srgbClr val="2C4152"/>
                      </a:solidFill>
                      <a:prstDash val="solid"/>
                      <a:round/>
                      <a:headEnd type="none" w="med" len="med"/>
                      <a:tailEnd type="none" w="med" len="med"/>
                    </a:lnT>
                    <a:lnB w="12700" cap="flat" cmpd="sng" algn="ctr">
                      <a:solidFill>
                        <a:srgbClr val="2C4152"/>
                      </a:solidFill>
                      <a:prstDash val="solid"/>
                      <a:round/>
                      <a:headEnd type="none" w="med" len="med"/>
                      <a:tailEnd type="none" w="med" len="med"/>
                    </a:lnB>
                    <a:solidFill>
                      <a:srgbClr val="1E2E3C"/>
                    </a:solidFill>
                  </a:tcPr>
                </a:tc>
              </a:tr>
              <a:tr h="475488">
                <a:tc>
                  <a:txBody>
                    <a:bodyPr/>
                    <a:lstStyle/>
                    <a:p>
                      <a:pPr indent="0" marL="0">
                        <a:buNone/>
                      </a:pPr>
                      <a:r>
                        <a:rPr lang="en-US" sz="1300" b="1" dirty="0">
                          <a:solidFill>
                            <a:srgbClr val="02C39A"/>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146304" marR="146304" marT="73152" marB="73152" anchor="ctr">
                    <a:lnL w="12700" cap="flat" cmpd="sng" algn="ctr">
                      <a:solidFill>
                        <a:srgbClr val="2C4152"/>
                      </a:solidFill>
                      <a:prstDash val="solid"/>
                      <a:round/>
                      <a:headEnd type="none" w="med" len="med"/>
                      <a:tailEnd type="none" w="med" len="med"/>
                    </a:lnL>
                    <a:lnR w="12700" cap="flat" cmpd="sng" algn="ctr">
                      <a:solidFill>
                        <a:srgbClr val="2C4152"/>
                      </a:solidFill>
                      <a:prstDash val="solid"/>
                      <a:round/>
                      <a:headEnd type="none" w="med" len="med"/>
                      <a:tailEnd type="none" w="med" len="med"/>
                    </a:lnR>
                    <a:lnT w="12700" cap="flat" cmpd="sng" algn="ctr">
                      <a:solidFill>
                        <a:srgbClr val="2C4152"/>
                      </a:solidFill>
                      <a:prstDash val="solid"/>
                      <a:round/>
                      <a:headEnd type="none" w="med" len="med"/>
                      <a:tailEnd type="none" w="med" len="med"/>
                    </a:lnT>
                    <a:lnB w="12700" cap="flat" cmpd="sng" algn="ctr">
                      <a:solidFill>
                        <a:srgbClr val="2C4152"/>
                      </a:solidFill>
                      <a:prstDash val="solid"/>
                      <a:round/>
                      <a:headEnd type="none" w="med" len="med"/>
                      <a:tailEnd type="none" w="med" len="med"/>
                    </a:lnB>
                    <a:solidFill>
                      <a:srgbClr val="1E2E3C"/>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CGNN — 1D CNN over lags → 3 × GCNConv over the TMFG → mean+max pool → MLP  (181k par.)</a:t>
                      </a:r>
                      <a:endParaRPr lang="en-US" sz="1300" dirty="0">
                        <a:latin typeface="Calibri" charset="0"/>
                        <a:ea typeface="Calibri" charset="0"/>
                        <a:cs typeface="Calibri" charset="0"/>
                      </a:endParaRPr>
                    </a:p>
                  </a:txBody>
                  <a:tcPr marL="146304" marR="146304" marT="73152" marB="73152" anchor="ctr">
                    <a:lnL w="12700" cap="flat" cmpd="sng" algn="ctr">
                      <a:solidFill>
                        <a:srgbClr val="2C4152"/>
                      </a:solidFill>
                      <a:prstDash val="solid"/>
                      <a:round/>
                      <a:headEnd type="none" w="med" len="med"/>
                      <a:tailEnd type="none" w="med" len="med"/>
                    </a:lnL>
                    <a:lnR w="12700" cap="flat" cmpd="sng" algn="ctr">
                      <a:solidFill>
                        <a:srgbClr val="2C4152"/>
                      </a:solidFill>
                      <a:prstDash val="solid"/>
                      <a:round/>
                      <a:headEnd type="none" w="med" len="med"/>
                      <a:tailEnd type="none" w="med" len="med"/>
                    </a:lnR>
                    <a:lnT w="12700" cap="flat" cmpd="sng" algn="ctr">
                      <a:solidFill>
                        <a:srgbClr val="2C4152"/>
                      </a:solidFill>
                      <a:prstDash val="solid"/>
                      <a:round/>
                      <a:headEnd type="none" w="med" len="med"/>
                      <a:tailEnd type="none" w="med" len="med"/>
                    </a:lnT>
                    <a:lnB w="12700" cap="flat" cmpd="sng" algn="ctr">
                      <a:solidFill>
                        <a:srgbClr val="2C4152"/>
                      </a:solidFill>
                      <a:prstDash val="solid"/>
                      <a:round/>
                      <a:headEnd type="none" w="med" len="med"/>
                      <a:tailEnd type="none" w="med" len="med"/>
                    </a:lnB>
                    <a:solidFill>
                      <a:srgbClr val="1E2E3C"/>
                    </a:solidFill>
                  </a:tcPr>
                </a:tc>
              </a:tr>
              <a:tr h="475488">
                <a:tc>
                  <a:txBody>
                    <a:bodyPr/>
                    <a:lstStyle/>
                    <a:p>
                      <a:pPr indent="0" marL="0">
                        <a:buNone/>
                      </a:pPr>
                      <a:r>
                        <a:rPr lang="en-US" sz="1300" b="1" dirty="0">
                          <a:solidFill>
                            <a:srgbClr val="02C39A"/>
                          </a:solidFill>
                          <a:latin typeface="Calibri" pitchFamily="34" charset="0"/>
                          <a:ea typeface="Calibri" pitchFamily="34" charset="-122"/>
                          <a:cs typeface="Calibri" pitchFamily="34" charset="-120"/>
                        </a:rPr>
                        <a:t>Variant</a:t>
                      </a:r>
                      <a:endParaRPr lang="en-US" sz="1300" dirty="0">
                        <a:latin typeface="Calibri" charset="0"/>
                        <a:ea typeface="Calibri" charset="0"/>
                        <a:cs typeface="Calibri" charset="0"/>
                      </a:endParaRPr>
                    </a:p>
                  </a:txBody>
                  <a:tcPr marL="146304" marR="146304" marT="73152" marB="73152" anchor="ctr">
                    <a:lnL w="12700" cap="flat" cmpd="sng" algn="ctr">
                      <a:solidFill>
                        <a:srgbClr val="2C4152"/>
                      </a:solidFill>
                      <a:prstDash val="solid"/>
                      <a:round/>
                      <a:headEnd type="none" w="med" len="med"/>
                      <a:tailEnd type="none" w="med" len="med"/>
                    </a:lnL>
                    <a:lnR w="12700" cap="flat" cmpd="sng" algn="ctr">
                      <a:solidFill>
                        <a:srgbClr val="2C4152"/>
                      </a:solidFill>
                      <a:prstDash val="solid"/>
                      <a:round/>
                      <a:headEnd type="none" w="med" len="med"/>
                      <a:tailEnd type="none" w="med" len="med"/>
                    </a:lnR>
                    <a:lnT w="12700" cap="flat" cmpd="sng" algn="ctr">
                      <a:solidFill>
                        <a:srgbClr val="2C4152"/>
                      </a:solidFill>
                      <a:prstDash val="solid"/>
                      <a:round/>
                      <a:headEnd type="none" w="med" len="med"/>
                      <a:tailEnd type="none" w="med" len="med"/>
                    </a:lnT>
                    <a:lnB w="12700" cap="flat" cmpd="sng" algn="ctr">
                      <a:solidFill>
                        <a:srgbClr val="2C4152"/>
                      </a:solidFill>
                      <a:prstDash val="solid"/>
                      <a:round/>
                      <a:headEnd type="none" w="med" len="med"/>
                      <a:tailEnd type="none" w="med" len="med"/>
                    </a:lnB>
                    <a:solidFill>
                      <a:srgbClr val="1E2E3C"/>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STGCN — interleaved spatio-temporal blocks (183k par.), equivalent result</a:t>
                      </a:r>
                      <a:endParaRPr lang="en-US" sz="1300" dirty="0">
                        <a:latin typeface="Calibri" charset="0"/>
                        <a:ea typeface="Calibri" charset="0"/>
                        <a:cs typeface="Calibri" charset="0"/>
                      </a:endParaRPr>
                    </a:p>
                  </a:txBody>
                  <a:tcPr marL="146304" marR="146304" marT="73152" marB="73152" anchor="ctr">
                    <a:lnL w="12700" cap="flat" cmpd="sng" algn="ctr">
                      <a:solidFill>
                        <a:srgbClr val="2C4152"/>
                      </a:solidFill>
                      <a:prstDash val="solid"/>
                      <a:round/>
                      <a:headEnd type="none" w="med" len="med"/>
                      <a:tailEnd type="none" w="med" len="med"/>
                    </a:lnL>
                    <a:lnR w="12700" cap="flat" cmpd="sng" algn="ctr">
                      <a:solidFill>
                        <a:srgbClr val="2C4152"/>
                      </a:solidFill>
                      <a:prstDash val="solid"/>
                      <a:round/>
                      <a:headEnd type="none" w="med" len="med"/>
                      <a:tailEnd type="none" w="med" len="med"/>
                    </a:lnR>
                    <a:lnT w="12700" cap="flat" cmpd="sng" algn="ctr">
                      <a:solidFill>
                        <a:srgbClr val="2C4152"/>
                      </a:solidFill>
                      <a:prstDash val="solid"/>
                      <a:round/>
                      <a:headEnd type="none" w="med" len="med"/>
                      <a:tailEnd type="none" w="med" len="med"/>
                    </a:lnT>
                    <a:lnB w="12700" cap="flat" cmpd="sng" algn="ctr">
                      <a:solidFill>
                        <a:srgbClr val="2C4152"/>
                      </a:solidFill>
                      <a:prstDash val="solid"/>
                      <a:round/>
                      <a:headEnd type="none" w="med" len="med"/>
                      <a:tailEnd type="none" w="med" len="med"/>
                    </a:lnB>
                    <a:solidFill>
                      <a:srgbClr val="1E2E3C"/>
                    </a:solidFill>
                  </a:tcPr>
                </a:tc>
              </a:tr>
              <a:tr h="475488">
                <a:tc>
                  <a:txBody>
                    <a:bodyPr/>
                    <a:lstStyle/>
                    <a:p>
                      <a:pPr indent="0" marL="0">
                        <a:buNone/>
                      </a:pPr>
                      <a:r>
                        <a:rPr lang="en-US" sz="1300" b="1" dirty="0">
                          <a:solidFill>
                            <a:srgbClr val="02C39A"/>
                          </a:solidFill>
                          <a:latin typeface="Calibri" pitchFamily="34" charset="0"/>
                          <a:ea typeface="Calibri" pitchFamily="34" charset="-122"/>
                          <a:cs typeface="Calibri" pitchFamily="34" charset="-120"/>
                        </a:rPr>
                        <a:t>Target</a:t>
                      </a:r>
                      <a:endParaRPr lang="en-US" sz="1300" dirty="0">
                        <a:latin typeface="Calibri" charset="0"/>
                        <a:ea typeface="Calibri" charset="0"/>
                        <a:cs typeface="Calibri" charset="0"/>
                      </a:endParaRPr>
                    </a:p>
                  </a:txBody>
                  <a:tcPr marL="146304" marR="146304" marT="73152" marB="73152" anchor="ctr">
                    <a:lnL w="12700" cap="flat" cmpd="sng" algn="ctr">
                      <a:solidFill>
                        <a:srgbClr val="2C4152"/>
                      </a:solidFill>
                      <a:prstDash val="solid"/>
                      <a:round/>
                      <a:headEnd type="none" w="med" len="med"/>
                      <a:tailEnd type="none" w="med" len="med"/>
                    </a:lnL>
                    <a:lnR w="12700" cap="flat" cmpd="sng" algn="ctr">
                      <a:solidFill>
                        <a:srgbClr val="2C4152"/>
                      </a:solidFill>
                      <a:prstDash val="solid"/>
                      <a:round/>
                      <a:headEnd type="none" w="med" len="med"/>
                      <a:tailEnd type="none" w="med" len="med"/>
                    </a:lnR>
                    <a:lnT w="12700" cap="flat" cmpd="sng" algn="ctr">
                      <a:solidFill>
                        <a:srgbClr val="2C4152"/>
                      </a:solidFill>
                      <a:prstDash val="solid"/>
                      <a:round/>
                      <a:headEnd type="none" w="med" len="med"/>
                      <a:tailEnd type="none" w="med" len="med"/>
                    </a:lnT>
                    <a:lnB w="12700" cap="flat" cmpd="sng" algn="ctr">
                      <a:solidFill>
                        <a:srgbClr val="2C4152"/>
                      </a:solidFill>
                      <a:prstDash val="solid"/>
                      <a:round/>
                      <a:headEnd type="none" w="med" len="med"/>
                      <a:tailEnd type="none" w="med" len="med"/>
                    </a:lnB>
                    <a:solidFill>
                      <a:srgbClr val="1E2E3C"/>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Mid-price direction over k = 50 events, one-tick threshold → ~88% flat</a:t>
                      </a:r>
                      <a:endParaRPr lang="en-US" sz="1300" dirty="0">
                        <a:latin typeface="Calibri" charset="0"/>
                        <a:ea typeface="Calibri" charset="0"/>
                        <a:cs typeface="Calibri" charset="0"/>
                      </a:endParaRPr>
                    </a:p>
                  </a:txBody>
                  <a:tcPr marL="146304" marR="146304" marT="73152" marB="73152" anchor="ctr">
                    <a:lnL w="12700" cap="flat" cmpd="sng" algn="ctr">
                      <a:solidFill>
                        <a:srgbClr val="2C4152"/>
                      </a:solidFill>
                      <a:prstDash val="solid"/>
                      <a:round/>
                      <a:headEnd type="none" w="med" len="med"/>
                      <a:tailEnd type="none" w="med" len="med"/>
                    </a:lnL>
                    <a:lnR w="12700" cap="flat" cmpd="sng" algn="ctr">
                      <a:solidFill>
                        <a:srgbClr val="2C4152"/>
                      </a:solidFill>
                      <a:prstDash val="solid"/>
                      <a:round/>
                      <a:headEnd type="none" w="med" len="med"/>
                      <a:tailEnd type="none" w="med" len="med"/>
                    </a:lnR>
                    <a:lnT w="12700" cap="flat" cmpd="sng" algn="ctr">
                      <a:solidFill>
                        <a:srgbClr val="2C4152"/>
                      </a:solidFill>
                      <a:prstDash val="solid"/>
                      <a:round/>
                      <a:headEnd type="none" w="med" len="med"/>
                      <a:tailEnd type="none" w="med" len="med"/>
                    </a:lnT>
                    <a:lnB w="12700" cap="flat" cmpd="sng" algn="ctr">
                      <a:solidFill>
                        <a:srgbClr val="2C4152"/>
                      </a:solidFill>
                      <a:prstDash val="solid"/>
                      <a:round/>
                      <a:headEnd type="none" w="med" len="med"/>
                      <a:tailEnd type="none" w="med" len="med"/>
                    </a:lnB>
                    <a:solidFill>
                      <a:srgbClr val="1E2E3C"/>
                    </a:solidFill>
                  </a:tcPr>
                </a:tc>
              </a:tr>
              <a:tr h="475488">
                <a:tc>
                  <a:txBody>
                    <a:bodyPr/>
                    <a:lstStyle/>
                    <a:p>
                      <a:pPr indent="0" marL="0">
                        <a:buNone/>
                      </a:pPr>
                      <a:r>
                        <a:rPr lang="en-US" sz="1300" b="1" dirty="0">
                          <a:solidFill>
                            <a:srgbClr val="02C39A"/>
                          </a:solidFill>
                          <a:latin typeface="Calibri" pitchFamily="34" charset="0"/>
                          <a:ea typeface="Calibri" pitchFamily="34" charset="-122"/>
                          <a:cs typeface="Calibri" pitchFamily="34" charset="-120"/>
                        </a:rPr>
                        <a:t>Evaluation</a:t>
                      </a:r>
                      <a:endParaRPr lang="en-US" sz="1300" dirty="0">
                        <a:latin typeface="Calibri" charset="0"/>
                        <a:ea typeface="Calibri" charset="0"/>
                        <a:cs typeface="Calibri" charset="0"/>
                      </a:endParaRPr>
                    </a:p>
                  </a:txBody>
                  <a:tcPr marL="146304" marR="146304" marT="73152" marB="73152" anchor="ctr">
                    <a:lnL w="12700" cap="flat" cmpd="sng" algn="ctr">
                      <a:solidFill>
                        <a:srgbClr val="2C4152"/>
                      </a:solidFill>
                      <a:prstDash val="solid"/>
                      <a:round/>
                      <a:headEnd type="none" w="med" len="med"/>
                      <a:tailEnd type="none" w="med" len="med"/>
                    </a:lnL>
                    <a:lnR w="12700" cap="flat" cmpd="sng" algn="ctr">
                      <a:solidFill>
                        <a:srgbClr val="2C4152"/>
                      </a:solidFill>
                      <a:prstDash val="solid"/>
                      <a:round/>
                      <a:headEnd type="none" w="med" len="med"/>
                      <a:tailEnd type="none" w="med" len="med"/>
                    </a:lnR>
                    <a:lnT w="12700" cap="flat" cmpd="sng" algn="ctr">
                      <a:solidFill>
                        <a:srgbClr val="2C4152"/>
                      </a:solidFill>
                      <a:prstDash val="solid"/>
                      <a:round/>
                      <a:headEnd type="none" w="med" len="med"/>
                      <a:tailEnd type="none" w="med" len="med"/>
                    </a:lnT>
                    <a:lnB w="12700" cap="flat" cmpd="sng" algn="ctr">
                      <a:solidFill>
                        <a:srgbClr val="2C4152"/>
                      </a:solidFill>
                      <a:prstDash val="solid"/>
                      <a:round/>
                      <a:headEnd type="none" w="med" len="med"/>
                      <a:tailEnd type="none" w="med" len="med"/>
                    </a:lnB>
                    <a:solidFill>
                      <a:srgbClr val="1E2E3C"/>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Split by trading day · balanced train / natural test · thresholds tuned on validation</a:t>
                      </a:r>
                      <a:endParaRPr lang="en-US" sz="1300" dirty="0">
                        <a:latin typeface="Calibri" charset="0"/>
                        <a:ea typeface="Calibri" charset="0"/>
                        <a:cs typeface="Calibri" charset="0"/>
                      </a:endParaRPr>
                    </a:p>
                  </a:txBody>
                  <a:tcPr marL="146304" marR="146304" marT="73152" marB="73152" anchor="ctr">
                    <a:lnL w="12700" cap="flat" cmpd="sng" algn="ctr">
                      <a:solidFill>
                        <a:srgbClr val="2C4152"/>
                      </a:solidFill>
                      <a:prstDash val="solid"/>
                      <a:round/>
                      <a:headEnd type="none" w="med" len="med"/>
                      <a:tailEnd type="none" w="med" len="med"/>
                    </a:lnL>
                    <a:lnR w="12700" cap="flat" cmpd="sng" algn="ctr">
                      <a:solidFill>
                        <a:srgbClr val="2C4152"/>
                      </a:solidFill>
                      <a:prstDash val="solid"/>
                      <a:round/>
                      <a:headEnd type="none" w="med" len="med"/>
                      <a:tailEnd type="none" w="med" len="med"/>
                    </a:lnR>
                    <a:lnT w="12700" cap="flat" cmpd="sng" algn="ctr">
                      <a:solidFill>
                        <a:srgbClr val="2C4152"/>
                      </a:solidFill>
                      <a:prstDash val="solid"/>
                      <a:round/>
                      <a:headEnd type="none" w="med" len="med"/>
                      <a:tailEnd type="none" w="med" len="med"/>
                    </a:lnT>
                    <a:lnB w="12700" cap="flat" cmpd="sng" algn="ctr">
                      <a:solidFill>
                        <a:srgbClr val="2C4152"/>
                      </a:solidFill>
                      <a:prstDash val="solid"/>
                      <a:round/>
                      <a:headEnd type="none" w="med" len="med"/>
                      <a:tailEnd type="none" w="med" len="med"/>
                    </a:lnB>
                    <a:solidFill>
                      <a:srgbClr val="1E2E3C"/>
                    </a:solidFill>
                  </a:tcPr>
                </a:tc>
              </a:tr>
              <a:tr h="475488">
                <a:tc>
                  <a:txBody>
                    <a:bodyPr/>
                    <a:lstStyle/>
                    <a:p>
                      <a:pPr indent="0" marL="0">
                        <a:buNone/>
                      </a:pPr>
                      <a:r>
                        <a:rPr lang="en-US" sz="1300" b="1" dirty="0">
                          <a:solidFill>
                            <a:srgbClr val="02C39A"/>
                          </a:solidFill>
                          <a:latin typeface="Calibri" pitchFamily="34" charset="0"/>
                          <a:ea typeface="Calibri" pitchFamily="34" charset="-122"/>
                          <a:cs typeface="Calibri" pitchFamily="34" charset="-120"/>
                        </a:rPr>
                        <a:t>Metrics</a:t>
                      </a:r>
                      <a:endParaRPr lang="en-US" sz="1300" dirty="0">
                        <a:latin typeface="Calibri" charset="0"/>
                        <a:ea typeface="Calibri" charset="0"/>
                        <a:cs typeface="Calibri" charset="0"/>
                      </a:endParaRPr>
                    </a:p>
                  </a:txBody>
                  <a:tcPr marL="146304" marR="146304" marT="73152" marB="73152" anchor="ctr">
                    <a:lnL w="12700" cap="flat" cmpd="sng" algn="ctr">
                      <a:solidFill>
                        <a:srgbClr val="2C4152"/>
                      </a:solidFill>
                      <a:prstDash val="solid"/>
                      <a:round/>
                      <a:headEnd type="none" w="med" len="med"/>
                      <a:tailEnd type="none" w="med" len="med"/>
                    </a:lnL>
                    <a:lnR w="12700" cap="flat" cmpd="sng" algn="ctr">
                      <a:solidFill>
                        <a:srgbClr val="2C4152"/>
                      </a:solidFill>
                      <a:prstDash val="solid"/>
                      <a:round/>
                      <a:headEnd type="none" w="med" len="med"/>
                      <a:tailEnd type="none" w="med" len="med"/>
                    </a:lnR>
                    <a:lnT w="12700" cap="flat" cmpd="sng" algn="ctr">
                      <a:solidFill>
                        <a:srgbClr val="2C4152"/>
                      </a:solidFill>
                      <a:prstDash val="solid"/>
                      <a:round/>
                      <a:headEnd type="none" w="med" len="med"/>
                      <a:tailEnd type="none" w="med" len="med"/>
                    </a:lnT>
                    <a:lnB w="12700" cap="flat" cmpd="sng" algn="ctr">
                      <a:solidFill>
                        <a:srgbClr val="2C4152"/>
                      </a:solidFill>
                      <a:prstDash val="solid"/>
                      <a:round/>
                      <a:headEnd type="none" w="med" len="med"/>
                      <a:tailEnd type="none" w="med" len="med"/>
                    </a:lnB>
                    <a:solidFill>
                      <a:srgbClr val="1E2E3C"/>
                    </a:solidFill>
                  </a:tcPr>
                </a:tc>
                <a:tc>
                  <a:txBody>
                    <a:bodyPr/>
                    <a:lstStyle/>
                    <a:p>
                      <a:pPr indent="0" marL="0">
                        <a:buNone/>
                      </a:pPr>
                      <a:r>
                        <a:rPr lang="en-US" sz="1300" dirty="0">
                          <a:solidFill>
                            <a:srgbClr val="FFFFFF"/>
                          </a:solidFill>
                          <a:latin typeface="Calibri" pitchFamily="34" charset="0"/>
                          <a:ea typeface="Calibri" pitchFamily="34" charset="-122"/>
                          <a:cs typeface="Calibri" pitchFamily="34" charset="-120"/>
                        </a:rPr>
                        <a:t>Macro F1 and MCC — the same as the HLOB benchmark</a:t>
                      </a:r>
                      <a:endParaRPr lang="en-US" sz="1300" dirty="0">
                        <a:latin typeface="Calibri" charset="0"/>
                        <a:ea typeface="Calibri" charset="0"/>
                        <a:cs typeface="Calibri" charset="0"/>
                      </a:endParaRPr>
                    </a:p>
                  </a:txBody>
                  <a:tcPr marL="146304" marR="146304" marT="73152" marB="73152" anchor="ctr">
                    <a:lnL w="12700" cap="flat" cmpd="sng" algn="ctr">
                      <a:solidFill>
                        <a:srgbClr val="2C4152"/>
                      </a:solidFill>
                      <a:prstDash val="solid"/>
                      <a:round/>
                      <a:headEnd type="none" w="med" len="med"/>
                      <a:tailEnd type="none" w="med" len="med"/>
                    </a:lnL>
                    <a:lnR w="12700" cap="flat" cmpd="sng" algn="ctr">
                      <a:solidFill>
                        <a:srgbClr val="2C4152"/>
                      </a:solidFill>
                      <a:prstDash val="solid"/>
                      <a:round/>
                      <a:headEnd type="none" w="med" len="med"/>
                      <a:tailEnd type="none" w="med" len="med"/>
                    </a:lnR>
                    <a:lnT w="12700" cap="flat" cmpd="sng" algn="ctr">
                      <a:solidFill>
                        <a:srgbClr val="2C4152"/>
                      </a:solidFill>
                      <a:prstDash val="solid"/>
                      <a:round/>
                      <a:headEnd type="none" w="med" len="med"/>
                      <a:tailEnd type="none" w="med" len="med"/>
                    </a:lnT>
                    <a:lnB w="12700" cap="flat" cmpd="sng" algn="ctr">
                      <a:solidFill>
                        <a:srgbClr val="2C4152"/>
                      </a:solidFill>
                      <a:prstDash val="solid"/>
                      <a:round/>
                      <a:headEnd type="none" w="med" len="med"/>
                      <a:tailEnd type="none" w="med" len="med"/>
                    </a:lnB>
                    <a:solidFill>
                      <a:srgbClr val="1E2E3C"/>
                    </a:solidFill>
                  </a:tcPr>
                </a:tc>
              </a:tr>
            </a:tbl>
          </a:graphicData>
        </a:graphic>
      </p:graphicFrame>
      <p:sp>
        <p:nvSpPr>
          <p:cNvPr id="5" name="Text 2"/>
          <p:cNvSpPr txBox="1"/>
          <p:nvPr/>
        </p:nvSpPr>
        <p:spPr>
          <a:xfrm>
            <a:off x="640080" y="5230368"/>
            <a:ext cx="10908792"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With this pipeline, on five days of data: macro F1 0.625 and MCC 0.421.</a:t>
            </a:r>
            <a:endParaRPr lang="en-US" sz="1800" dirty="0"/>
          </a:p>
        </p:txBody>
      </p:sp>
      <p:sp>
        <p:nvSpPr>
          <p:cNvPr id="6" name="Text 3"/>
          <p:cNvSpPr txBox="1"/>
          <p:nvPr/>
        </p:nvSpPr>
        <p:spPr>
          <a:xfrm>
            <a:off x="640080" y="5687568"/>
            <a:ext cx="10908792" cy="365760"/>
          </a:xfrm>
          <a:prstGeom prst="rect">
            <a:avLst/>
          </a:prstGeom>
          <a:noFill/>
          <a:ln/>
        </p:spPr>
        <p:txBody>
          <a:bodyPr wrap="square" lIns="0" tIns="0" rIns="0" bIns="0" rtlCol="0" anchor="ctr"/>
          <a:lstStyle/>
          <a:p>
            <a:pPr indent="0" marL="0">
              <a:buNone/>
            </a:pPr>
            <a:r>
              <a:rPr lang="en-US" sz="1300" dirty="0">
                <a:solidFill>
                  <a:srgbClr val="02C39A"/>
                </a:solidFill>
                <a:latin typeface="Calibri" pitchFamily="34" charset="0"/>
                <a:ea typeface="Calibri" pitchFamily="34" charset="-122"/>
                <a:cs typeface="Calibri" pitchFamily="34" charset="-120"/>
              </a:rPr>
              <a:t>→ results and the comparison with the state of the art in the next part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2026-09-05T14:47:22Z</dcterms:created>
  <dcterms:modified xsi:type="dcterms:W3CDTF">2026-09-05T14:47:22Z</dcterms:modified>
</cp:coreProperties>
</file>